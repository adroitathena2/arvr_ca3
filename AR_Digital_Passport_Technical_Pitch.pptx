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89A80A30-9D9D-1CF3-5C6C-71F9F1136845}">
          <p14:sldIdLst>
            <p14:sldId id="256"/>
          </p14:sldIdLst>
        </p14:section>
        <p14:section name="Problem &amp; Solution" id="{57D23C4D-800E-2913-4B9C-AF2E14F58893}">
          <p14:sldIdLst>
            <p14:sldId id="257"/>
            <p14:sldId id="258"/>
            <p14:sldId id="259"/>
          </p14:sldIdLst>
        </p14:section>
        <p14:section name="Architecture" id="{628A7675-F5B2-EE5C-105A-4EE23A5FA8D6}">
          <p14:sldIdLst>
            <p14:sldId id="260"/>
            <p14:sldId id="261"/>
            <p14:sldId id="262"/>
          </p14:sldIdLst>
        </p14:section>
        <p14:section name="Product" id="{EFCE1AD7-E72F-BB86-0247-CEB33A6E49ED}">
          <p14:sldIdLst>
            <p14:sldId id="263"/>
            <p14:sldId id="264"/>
          </p14:sldIdLst>
        </p14:section>
        <p14:section name="Engineering" id="{0D667E32-4039-5C46-41D0-599ACC51E7A9}">
          <p14:sldIdLst>
            <p14:sldId id="265"/>
            <p14:sldId id="266"/>
            <p14:sldId id="267"/>
            <p14:sldId id="268"/>
            <p14:sldId id="269"/>
          </p14:sldIdLst>
        </p14:section>
        <p14:section name="Close" id="{430C72B5-0061-5E89-068E-1FA4A7168B97}">
          <p14:sldIdLst>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0B1220"/>
                </a:solidFill>
                <a:latin typeface="+mn-lt"/>
              </a:defRPr>
            </a:pPr>
            <a:r>
              <a:rPr lang="en-US" sz="1300" b="0" i="0" u="none" strike="noStrike">
                <a:solidFill>
                  <a:srgbClr val="0B1220"/>
                </a:solidFill>
                <a:latin typeface="+mn-lt"/>
              </a:rPr>
              <a:t>Feature points found by the compiler</a:t>
            </a:r>
          </a:p>
        </c:rich>
      </c:tx>
      <c:overlay val="0"/>
    </c:title>
    <c:autoTitleDeleted val="0"/>
    <c:plotArea>
      <c:layout/>
      <c:barChart>
        <c:barDir val="bar"/>
        <c:grouping val="clustered"/>
        <c:varyColors val="0"/>
        <c:ser>
          <c:idx val="0"/>
          <c:order val="0"/>
          <c:tx>
            <c:strRef>
              <c:f>Sheet1!$B$1</c:f>
              <c:strCache>
                <c:ptCount val="1"/>
                <c:pt idx="0">
                  <c:v>Original design</c:v>
                </c:pt>
              </c:strCache>
            </c:strRef>
          </c:tx>
          <c:spPr>
            <a:solidFill>
              <a:srgbClr val="94A3B8"/>
            </a:solidFill>
            <a:effectLst/>
          </c:spPr>
          <c:invertIfNegative val="0"/>
          <c:dLbls>
            <c:numFmt formatCode="#,##0" sourceLinked="0"/>
            <c:spPr>
              <a:noFill/>
              <a:ln>
                <a:noFill/>
              </a:ln>
              <a:effectLst/>
            </c:spPr>
            <c:txPr>
              <a:bodyPr/>
              <a:lstStyle/>
              <a:p>
                <a:pPr>
                  <a:defRPr sz="1200" b="0" i="0" u="none" strike="noStrike">
                    <a:solidFill>
                      <a:srgbClr val="0B1220"/>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MARK-001</c:v>
                </c:pt>
                <c:pt idx="1">
                  <c:v>MARK-003</c:v>
                </c:pt>
              </c:strCache>
            </c:strRef>
          </c:cat>
          <c:val>
            <c:numRef>
              <c:f>Sheet1!$B$2:$B$3</c:f>
              <c:numCache>
                <c:formatCode>General</c:formatCode>
                <c:ptCount val="2"/>
                <c:pt idx="0">
                  <c:v>99</c:v>
                </c:pt>
                <c:pt idx="1">
                  <c:v>114</c:v>
                </c:pt>
              </c:numCache>
            </c:numRef>
          </c:val>
          <c:extLst>
            <c:ext xmlns:c16="http://schemas.microsoft.com/office/drawing/2014/chart" uri="{C3380CC4-5D6E-409C-BE32-E72D297353CC}">
              <c16:uniqueId val="{00000000-4B4A-4614-AE4E-3C4575E6F5FE}"/>
            </c:ext>
          </c:extLst>
        </c:ser>
        <c:ser>
          <c:idx val="1"/>
          <c:order val="1"/>
          <c:tx>
            <c:strRef>
              <c:f>Sheet1!$C$1</c:f>
              <c:strCache>
                <c:ptCount val="1"/>
                <c:pt idx="0">
                  <c:v>Redesigned</c:v>
                </c:pt>
              </c:strCache>
            </c:strRef>
          </c:tx>
          <c:spPr>
            <a:solidFill>
              <a:srgbClr val="0D9488"/>
            </a:solidFill>
            <a:effectLst/>
          </c:spPr>
          <c:invertIfNegative val="0"/>
          <c:dLbls>
            <c:numFmt formatCode="#,##0" sourceLinked="0"/>
            <c:spPr>
              <a:noFill/>
              <a:ln>
                <a:noFill/>
              </a:ln>
              <a:effectLst/>
            </c:spPr>
            <c:txPr>
              <a:bodyPr/>
              <a:lstStyle/>
              <a:p>
                <a:pPr>
                  <a:defRPr sz="1200" b="0" i="0" u="none" strike="noStrike">
                    <a:solidFill>
                      <a:srgbClr val="0B1220"/>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MARK-001</c:v>
                </c:pt>
                <c:pt idx="1">
                  <c:v>MARK-003</c:v>
                </c:pt>
              </c:strCache>
            </c:strRef>
          </c:cat>
          <c:val>
            <c:numRef>
              <c:f>Sheet1!$C$2:$C$3</c:f>
              <c:numCache>
                <c:formatCode>General</c:formatCode>
                <c:ptCount val="2"/>
                <c:pt idx="0">
                  <c:v>266</c:v>
                </c:pt>
                <c:pt idx="1">
                  <c:v>269</c:v>
                </c:pt>
              </c:numCache>
            </c:numRef>
          </c:val>
          <c:extLst>
            <c:ext xmlns:c16="http://schemas.microsoft.com/office/drawing/2014/chart" uri="{C3380CC4-5D6E-409C-BE32-E72D297353CC}">
              <c16:uniqueId val="{00000001-4B4A-4614-AE4E-3C4575E6F5FE}"/>
            </c:ext>
          </c:extLst>
        </c:ser>
        <c:dLbls>
          <c:showLegendKey val="0"/>
          <c:showVal val="1"/>
          <c:showCatName val="0"/>
          <c:showSerName val="0"/>
          <c:showPercent val="0"/>
          <c:showBubbleSize val="0"/>
        </c:dLbls>
        <c:gapWidth val="6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334155"/>
                </a:solidFill>
                <a:latin typeface="+mn-lt"/>
              </a:defRPr>
            </a:pPr>
            <a:endParaRPr lang="en-US"/>
          </a:p>
        </c:txPr>
        <c:crossAx val="2094734552"/>
        <c:crosses val="autoZero"/>
        <c:auto val="1"/>
        <c:lblAlgn val="ctr"/>
        <c:lblOffset val="100"/>
        <c:noMultiLvlLbl val="1"/>
      </c:catAx>
      <c:valAx>
        <c:axId val="2094734552"/>
        <c:scaling>
          <c:orientation val="minMax"/>
          <c:max val="320"/>
        </c:scaling>
        <c:delete val="1"/>
        <c:axPos val="t"/>
        <c:numFmt formatCode="General" sourceLinked="0"/>
        <c:majorTickMark val="out"/>
        <c:minorTickMark val="none"/>
        <c:tickLblPos val="low"/>
        <c:crossAx val="2094734554"/>
        <c:crosses val="autoZero"/>
        <c:crossBetween val="between"/>
      </c:valAx>
      <c:spPr>
        <a:solidFill>
          <a:srgbClr val="F1F5F9"/>
        </a:solidFill>
        <a:ln>
          <a:noFill/>
        </a:ln>
        <a:effectLst/>
      </c:spPr>
    </c:plotArea>
    <c:legend>
      <c:legendPos val="b"/>
      <c:overlay val="0"/>
      <c:txPr>
        <a:bodyPr/>
        <a:lstStyle/>
        <a:p>
          <a:pPr>
            <a:defRPr sz="1100">
              <a:solidFill>
                <a:srgbClr val="334155"/>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328489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hook: every machine has a story, but today that story lives in registers and chat groups. We gave each machine a digital passport. Introduce the four owners in one line each: AR scanner, backend, dashboard, integration and deployment. 60 seconds max.</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the lab story and pause after the quote. We spoke to staff and sat in the lab. The three pain points are records, reporting and process. Do not read the bullets, paraphrase them.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projector as the running character through the whole talk: 'Remember MARK-001.' The audience follows one story, not five machines. The seed data has 5 assets: projector, 3D printer, oscilloscope, VR headset and AC, across 3 rooms.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Examiners remember numbers. Hit four of them: under 3 seconds, zero installs, 63 of 63 checks, 7 integration bugs fixed. Everything runs on free tiers, which matters for a college lab.</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sentence per box. Phone and laptop are both thin clients; the Express API owns validation and talks to Postgres on Supabase. If no database URL is configured, it falls back to an in-memory copy of the seed data so the demo never dies. Stress privacy: only the marker ID is sent.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feature points simply: the compiler turns each marker into a list of corners and edges, saved in targets.mind. Image order matters: the first image is match #0, which the page maps to MARK-001. The redesign story shows real iteration: we measured, found the weak markers, and more than doubled their feature points.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exact sequence is the project's primary acceptance test, and it is what the end-to-end script automates. Step 8 is the proof point: the status survives a refresh, so it really reached the database, not just the screen.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'no install' twice; examiners care about adoption. Mention the fallback: if the camera misbehaves, the deep link opens the same passport. Every passport has Details, History, Report and Close actions.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tip: type 'AST-00' in search to show instant filtering. Then change a complaint status, refresh, and show it sticks. That is the money moment.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concrete example: assigning MARK-001 to a second asset used to silently steal the marker. Now it runs in a transaction and returns 409 MARKER_CONFLICT. Every client can rely on the same error shape.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Normalised design: nothing is stored twice. One room has many assets; each asset has exactly one marker, many service records and many issues. Constraints live in the database itself, so bad data cannot get in even if the server had a bug.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strongest material for the viva. Each bug only appears when the parts run together for real, which is exactly what integration testing is for. Two would have broken the live demo: markers not recognised, and an overlay blocking the buttons.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numbers, then the honesty. The camera test needs no phone: Chrome plays a video of each marker as a fake camera, and the real MindAR engine must recognise it and open the right passport. A real phone with printed markers is still the final check.</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block from the architecture lives on a free service and redeploys within a minute or two of a push. Render's free plan sleeps after 15 idle minutes, so wake /health five minutes before the demo. Security: HTTPS, CORS allow-list, secrets only in host settings, and database constraints as the last line of defence.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apologise; frame the limits as guidance for the next team. Pick one roadmap item and pitch it with energy, for example the QR fallback for dark labs. It shows product thinking.</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warm, not rushed. Invite the room to scan MARK-001 with you. Thank Dr. Chiwhane by name. Stop around 9 minutes to leave time for questions.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47472"/>
            <a:ext cx="8229600" cy="274320"/>
          </a:xfrm>
          <a:prstGeom prst="rect">
            <a:avLst/>
          </a:prstGeom>
          <a:noFill/>
          <a:ln/>
        </p:spPr>
        <p:txBody>
          <a:bodyPr wrap="square" rtlCol="0"/>
          <a:lstStyle>
            <a:lvl1pPr marL="0" indent="0">
              <a:buNone/>
              <a:defRPr lang="en-US" sz="1200" b="1" kern="0" spc="200" dirty="0">
                <a:solidFill>
                  <a:schemeClr val="accent1"/>
                </a:solidFill>
              </a:defRPr>
            </a:lvl1pPr>
          </a:lstStyle>
          <a:p>
            <a:pPr marL="0" indent="0">
              <a:buNone/>
            </a:pPr>
            <a:endParaRPr lang="en-US" sz="1200" dirty="0"/>
          </a:p>
        </p:txBody>
      </p:sp>
      <p:sp>
        <p:nvSpPr>
          <p:cNvPr id="3" name="Text 0"/>
          <p:cNvSpPr>
            <a:spLocks noGrp="1"/>
          </p:cNvSpPr>
          <p:nvPr>
            <p:ph type="title" idx="101" hasCustomPrompt="1"/>
          </p:nvPr>
        </p:nvSpPr>
        <p:spPr>
          <a:xfrm>
            <a:off x="548640" y="621792"/>
            <a:ext cx="11094415" cy="685800"/>
          </a:xfrm>
          <a:prstGeom prst="rect">
            <a:avLst/>
          </a:prstGeom>
          <a:noFill/>
          <a:ln/>
        </p:spPr>
        <p:txBody>
          <a:bodyPr wrap="square" rtlCol="0"/>
          <a:lstStyle>
            <a:lvl1pPr marL="0" indent="0" algn="l">
              <a:buNone/>
              <a:defRPr lang="en-US" sz="3000" b="1" dirty="0">
                <a:solidFill>
                  <a:schemeClr val="tx1"/>
                </a:solidFill>
                <a:latin typeface="Arial" pitchFamily="34" charset="0"/>
                <a:ea typeface="Arial" pitchFamily="34" charset="-122"/>
                <a:cs typeface="Arial" pitchFamily="34" charset="-120"/>
              </a:defRPr>
            </a:lvl1pPr>
          </a:lstStyle>
          <a:p>
            <a:pPr marL="0" indent="0" algn="l">
              <a:buNone/>
            </a:pPr>
            <a:endParaRPr lang="en-US" sz="3000" dirty="0"/>
          </a:p>
        </p:txBody>
      </p:sp>
      <p:sp>
        <p:nvSpPr>
          <p:cNvPr id="4" name="Text 0"/>
          <p:cNvSpPr/>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chemeClr val="tx2"/>
                </a:solidFill>
              </a:rPr>
              <a:t>AR Digital Passport  ·  SIT Pune  ·  CSE  ·  AR/VR CA-3</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0.png"/><Relationship Id="rId7" Type="http://schemas.openxmlformats.org/officeDocument/2006/relationships/image" Target="../media/image11.png"/><Relationship Id="rId12"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27.png"/><Relationship Id="rId11" Type="http://schemas.openxmlformats.org/officeDocument/2006/relationships/image" Target="../media/image30.png"/><Relationship Id="rId5" Type="http://schemas.openxmlformats.org/officeDocument/2006/relationships/image" Target="../media/image9.png"/><Relationship Id="rId10" Type="http://schemas.openxmlformats.org/officeDocument/2006/relationships/image" Target="../media/image29.png"/><Relationship Id="rId4" Type="http://schemas.openxmlformats.org/officeDocument/2006/relationships/image" Target="../media/image26.png"/><Relationship Id="rId9" Type="http://schemas.openxmlformats.org/officeDocument/2006/relationships/image" Target="../media/image28.png"/></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32.png"/></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33.png"/><Relationship Id="rId4"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1"/>
          <p:cNvSpPr txBox="1"/>
          <p:nvPr/>
        </p:nvSpPr>
        <p:spPr>
          <a:xfrm>
            <a:off x="548640" y="457200"/>
            <a:ext cx="8229600" cy="274320"/>
          </a:xfrm>
          <a:prstGeom prst="rect">
            <a:avLst/>
          </a:prstGeom>
          <a:noFill/>
          <a:ln/>
        </p:spPr>
        <p:txBody>
          <a:bodyPr wrap="square" lIns="0" tIns="0" rIns="0" bIns="0" rtlCol="0" anchor="ctr"/>
          <a:lstStyle/>
          <a:p>
            <a:pPr marL="0" indent="0">
              <a:buNone/>
            </a:pPr>
            <a:r>
              <a:rPr lang="en-US" sz="1100" b="1" kern="0" spc="200" dirty="0">
                <a:solidFill>
                  <a:schemeClr val="accent5"/>
                </a:solidFill>
                <a:latin typeface="Calibri" pitchFamily="34" charset="0"/>
                <a:ea typeface="Calibri" pitchFamily="34" charset="-122"/>
                <a:cs typeface="Calibri" pitchFamily="34" charset="-120"/>
              </a:rPr>
              <a:t>SYMBIOSIS INSTITUTE OF TECHNOLOGY, PUNE  ·  DEPT. OF CSE  ·  AR/VR CA-3</a:t>
            </a:r>
            <a:endParaRPr lang="en-US" sz="1100" dirty="0"/>
          </a:p>
        </p:txBody>
      </p:sp>
      <p:sp>
        <p:nvSpPr>
          <p:cNvPr id="3" name="text-2"/>
          <p:cNvSpPr txBox="1"/>
          <p:nvPr/>
        </p:nvSpPr>
        <p:spPr>
          <a:xfrm>
            <a:off x="548640" y="1143000"/>
            <a:ext cx="5669280" cy="1554480"/>
          </a:xfrm>
          <a:prstGeom prst="rect">
            <a:avLst/>
          </a:prstGeom>
          <a:noFill/>
          <a:ln/>
        </p:spPr>
        <p:txBody>
          <a:bodyPr wrap="square" lIns="0" tIns="0" rIns="0" bIns="0" rtlCol="0" anchor="t"/>
          <a:lstStyle/>
          <a:p>
            <a:pPr marL="0" indent="0">
              <a:buNone/>
            </a:pPr>
            <a:r>
              <a:rPr lang="en-US" sz="4000" b="1" dirty="0">
                <a:solidFill>
                  <a:schemeClr val="bg1"/>
                </a:solidFill>
                <a:latin typeface="Arial" pitchFamily="34" charset="0"/>
                <a:ea typeface="Arial" pitchFamily="34" charset="-122"/>
                <a:cs typeface="Arial" pitchFamily="34" charset="-120"/>
              </a:rPr>
              <a:t>AR Digital Passport</a:t>
            </a:r>
            <a:endParaRPr lang="en-US" sz="4000" dirty="0"/>
          </a:p>
          <a:p>
            <a:pPr marL="0" indent="0">
              <a:buNone/>
            </a:pPr>
            <a:r>
              <a:rPr lang="en-US" sz="4000" b="1" dirty="0">
                <a:solidFill>
                  <a:schemeClr val="accent1"/>
                </a:solidFill>
                <a:latin typeface="Arial" pitchFamily="34" charset="0"/>
                <a:ea typeface="Arial" pitchFamily="34" charset="-122"/>
                <a:cs typeface="Arial" pitchFamily="34" charset="-120"/>
              </a:rPr>
              <a:t>for Physical Assets</a:t>
            </a:r>
            <a:endParaRPr lang="en-US" sz="4000" dirty="0"/>
          </a:p>
        </p:txBody>
      </p:sp>
      <p:sp>
        <p:nvSpPr>
          <p:cNvPr id="4" name="text-3"/>
          <p:cNvSpPr txBox="1"/>
          <p:nvPr/>
        </p:nvSpPr>
        <p:spPr>
          <a:xfrm>
            <a:off x="548640" y="2788920"/>
            <a:ext cx="5394960" cy="1188720"/>
          </a:xfrm>
          <a:prstGeom prst="rect">
            <a:avLst/>
          </a:prstGeom>
          <a:noFill/>
          <a:ln/>
        </p:spPr>
        <p:txBody>
          <a:bodyPr wrap="square" lIns="0" tIns="0" rIns="0" bIns="0" rtlCol="0" anchor="t"/>
          <a:lstStyle/>
          <a:p>
            <a:pPr marL="0" indent="0">
              <a:buNone/>
            </a:pPr>
            <a:r>
              <a:rPr lang="en-US" sz="1600" dirty="0">
                <a:solidFill>
                  <a:schemeClr val="accent5"/>
                </a:solidFill>
                <a:latin typeface="Calibri" pitchFamily="34" charset="0"/>
                <a:ea typeface="Calibri" pitchFamily="34" charset="-122"/>
                <a:cs typeface="Calibri" pitchFamily="34" charset="-120"/>
              </a:rPr>
              <a:t>Point a phone at a printed marker on any lab machine and its live record opens in the browser: status, location, service history, and a one-tap fault report that lands on the staff dashboard.</a:t>
            </a:r>
            <a:endParaRPr lang="en-US" sz="1600" dirty="0"/>
          </a:p>
        </p:txBody>
      </p:sp>
      <p:sp>
        <p:nvSpPr>
          <p:cNvPr id="5" name="chip-4"/>
          <p:cNvSpPr txBox="1"/>
          <p:nvPr/>
        </p:nvSpPr>
        <p:spPr>
          <a:xfrm>
            <a:off x="548640" y="4069080"/>
            <a:ext cx="1828800" cy="310896"/>
          </a:xfrm>
          <a:prstGeom prst="roundRect">
            <a:avLst>
              <a:gd name="adj" fmla="val 17647"/>
            </a:avLst>
          </a:prstGeom>
          <a:solidFill>
            <a:schemeClr val="tx2"/>
          </a:solidFill>
          <a:ln>
            <a:solidFill>
              <a:schemeClr val="tx2"/>
            </a:solidFill>
          </a:ln>
        </p:spPr>
        <p:txBody>
          <a:bodyPr wrap="square" lIns="0" tIns="0" rIns="0" bIns="0" rtlCol="0" anchor="ctr"/>
          <a:lstStyle/>
          <a:p>
            <a:pPr marL="0" indent="0" algn="ctr">
              <a:buNone/>
            </a:pPr>
            <a:r>
              <a:rPr lang="en-US" sz="1100" b="1" dirty="0">
                <a:solidFill>
                  <a:schemeClr val="bg1"/>
                </a:solidFill>
                <a:latin typeface="Calibri" pitchFamily="34" charset="0"/>
                <a:ea typeface="Calibri" pitchFamily="34" charset="-122"/>
                <a:cs typeface="Calibri" pitchFamily="34" charset="-120"/>
              </a:rPr>
              <a:t>WebAR, no app install</a:t>
            </a:r>
            <a:endParaRPr lang="en-US" sz="1100" dirty="0"/>
          </a:p>
        </p:txBody>
      </p:sp>
      <p:sp>
        <p:nvSpPr>
          <p:cNvPr id="6" name="chip-5"/>
          <p:cNvSpPr txBox="1"/>
          <p:nvPr/>
        </p:nvSpPr>
        <p:spPr>
          <a:xfrm>
            <a:off x="2514600" y="4069080"/>
            <a:ext cx="1737360" cy="310896"/>
          </a:xfrm>
          <a:prstGeom prst="roundRect">
            <a:avLst>
              <a:gd name="adj" fmla="val 17647"/>
            </a:avLst>
          </a:prstGeom>
          <a:solidFill>
            <a:schemeClr val="tx2"/>
          </a:solidFill>
          <a:ln>
            <a:solidFill>
              <a:schemeClr val="tx2"/>
            </a:solidFill>
          </a:ln>
        </p:spPr>
        <p:txBody>
          <a:bodyPr wrap="square" lIns="0" tIns="0" rIns="0" bIns="0" rtlCol="0" anchor="ctr"/>
          <a:lstStyle/>
          <a:p>
            <a:pPr marL="0" indent="0" algn="ctr">
              <a:buNone/>
            </a:pPr>
            <a:r>
              <a:rPr lang="en-US" sz="1100" b="1" dirty="0">
                <a:solidFill>
                  <a:schemeClr val="bg1"/>
                </a:solidFill>
                <a:latin typeface="Calibri" pitchFamily="34" charset="0"/>
                <a:ea typeface="Calibri" pitchFamily="34" charset="-122"/>
                <a:cs typeface="Calibri" pitchFamily="34" charset="-120"/>
              </a:rPr>
              <a:t>Node + Express API</a:t>
            </a:r>
            <a:endParaRPr lang="en-US" sz="1100" dirty="0"/>
          </a:p>
        </p:txBody>
      </p:sp>
      <p:sp>
        <p:nvSpPr>
          <p:cNvPr id="7" name="chip-6"/>
          <p:cNvSpPr txBox="1"/>
          <p:nvPr/>
        </p:nvSpPr>
        <p:spPr>
          <a:xfrm>
            <a:off x="4389120" y="4069080"/>
            <a:ext cx="1097280" cy="310896"/>
          </a:xfrm>
          <a:prstGeom prst="roundRect">
            <a:avLst>
              <a:gd name="adj" fmla="val 17647"/>
            </a:avLst>
          </a:prstGeom>
          <a:solidFill>
            <a:schemeClr val="tx2"/>
          </a:solidFill>
          <a:ln>
            <a:solidFill>
              <a:schemeClr val="tx2"/>
            </a:solidFill>
          </a:ln>
        </p:spPr>
        <p:txBody>
          <a:bodyPr wrap="square" lIns="0" tIns="0" rIns="0" bIns="0" rtlCol="0" anchor="ctr"/>
          <a:lstStyle/>
          <a:p>
            <a:pPr marL="0" indent="0" algn="ctr">
              <a:buNone/>
            </a:pPr>
            <a:r>
              <a:rPr lang="en-US" sz="1100" b="1" dirty="0">
                <a:solidFill>
                  <a:schemeClr val="bg1"/>
                </a:solidFill>
                <a:latin typeface="Calibri" pitchFamily="34" charset="0"/>
                <a:ea typeface="Calibri" pitchFamily="34" charset="-122"/>
                <a:cs typeface="Calibri" pitchFamily="34" charset="-120"/>
              </a:rPr>
              <a:t>PostgreSQL</a:t>
            </a:r>
            <a:endParaRPr lang="en-US" sz="1100" dirty="0"/>
          </a:p>
        </p:txBody>
      </p:sp>
      <p:sp>
        <p:nvSpPr>
          <p:cNvPr id="8" name="chip-7"/>
          <p:cNvSpPr txBox="1"/>
          <p:nvPr/>
        </p:nvSpPr>
        <p:spPr>
          <a:xfrm>
            <a:off x="5623560" y="4069080"/>
            <a:ext cx="1600200" cy="310896"/>
          </a:xfrm>
          <a:prstGeom prst="roundRect">
            <a:avLst>
              <a:gd name="adj" fmla="val 17647"/>
            </a:avLst>
          </a:prstGeom>
          <a:solidFill>
            <a:schemeClr val="tx2"/>
          </a:solidFill>
          <a:ln>
            <a:solidFill>
              <a:schemeClr val="tx2"/>
            </a:solidFill>
          </a:ln>
        </p:spPr>
        <p:txBody>
          <a:bodyPr wrap="square" lIns="0" tIns="0" rIns="0" bIns="0" rtlCol="0" anchor="ctr"/>
          <a:lstStyle/>
          <a:p>
            <a:pPr marL="0" indent="0" algn="ctr">
              <a:buNone/>
            </a:pPr>
            <a:r>
              <a:rPr lang="en-US" sz="1100" b="1" dirty="0">
                <a:solidFill>
                  <a:schemeClr val="bg1"/>
                </a:solidFill>
                <a:latin typeface="Calibri" pitchFamily="34" charset="0"/>
                <a:ea typeface="Calibri" pitchFamily="34" charset="-122"/>
                <a:cs typeface="Calibri" pitchFamily="34" charset="-120"/>
              </a:rPr>
              <a:t>Deployed &amp; tested</a:t>
            </a:r>
            <a:endParaRPr lang="en-US" sz="1100" dirty="0"/>
          </a:p>
        </p:txBody>
      </p:sp>
      <p:pic>
        <p:nvPicPr>
          <p:cNvPr id="9" name="screenshot-8" descr="/tmp/claude-0/-home-claude/151be230-6197-52e0-9161-2825d6d15167/scratchpad/src/media/image6.png"/>
          <p:cNvPicPr>
            <a:picLocks noChangeAspect="1"/>
          </p:cNvPicPr>
          <p:nvPr/>
        </p:nvPicPr>
        <p:blipFill>
          <a:blip r:embed="rId3"/>
          <a:stretch>
            <a:fillRect/>
          </a:stretch>
        </p:blipFill>
        <p:spPr>
          <a:xfrm>
            <a:off x="6537960" y="1188720"/>
            <a:ext cx="5074920" cy="2560320"/>
          </a:xfrm>
          <a:prstGeom prst="rect">
            <a:avLst/>
          </a:prstGeom>
        </p:spPr>
      </p:pic>
      <p:sp>
        <p:nvSpPr>
          <p:cNvPr id="10" name="line-9"/>
          <p:cNvSpPr/>
          <p:nvPr/>
        </p:nvSpPr>
        <p:spPr>
          <a:xfrm>
            <a:off x="6400800" y="1051560"/>
            <a:ext cx="365760" cy="0"/>
          </a:xfrm>
          <a:prstGeom prst="line">
            <a:avLst/>
          </a:prstGeom>
          <a:noFill/>
          <a:ln w="38100">
            <a:solidFill>
              <a:schemeClr val="accent1"/>
            </a:solidFill>
            <a:prstDash val="solid"/>
          </a:ln>
        </p:spPr>
      </p:sp>
      <p:sp>
        <p:nvSpPr>
          <p:cNvPr id="11" name="line-10"/>
          <p:cNvSpPr/>
          <p:nvPr/>
        </p:nvSpPr>
        <p:spPr>
          <a:xfrm>
            <a:off x="6400800" y="1051560"/>
            <a:ext cx="0" cy="365760"/>
          </a:xfrm>
          <a:prstGeom prst="line">
            <a:avLst/>
          </a:prstGeom>
          <a:noFill/>
          <a:ln w="38100">
            <a:solidFill>
              <a:schemeClr val="accent1"/>
            </a:solidFill>
            <a:prstDash val="solid"/>
          </a:ln>
        </p:spPr>
      </p:sp>
      <p:sp>
        <p:nvSpPr>
          <p:cNvPr id="12" name="line-11"/>
          <p:cNvSpPr/>
          <p:nvPr/>
        </p:nvSpPr>
        <p:spPr>
          <a:xfrm>
            <a:off x="11384280" y="1051560"/>
            <a:ext cx="365760" cy="0"/>
          </a:xfrm>
          <a:prstGeom prst="line">
            <a:avLst/>
          </a:prstGeom>
          <a:noFill/>
          <a:ln w="38100">
            <a:solidFill>
              <a:schemeClr val="accent1"/>
            </a:solidFill>
            <a:prstDash val="solid"/>
          </a:ln>
        </p:spPr>
      </p:sp>
      <p:sp>
        <p:nvSpPr>
          <p:cNvPr id="13" name="line-12"/>
          <p:cNvSpPr/>
          <p:nvPr/>
        </p:nvSpPr>
        <p:spPr>
          <a:xfrm>
            <a:off x="11750040" y="1051560"/>
            <a:ext cx="0" cy="365760"/>
          </a:xfrm>
          <a:prstGeom prst="line">
            <a:avLst/>
          </a:prstGeom>
          <a:noFill/>
          <a:ln w="38100">
            <a:solidFill>
              <a:schemeClr val="accent1"/>
            </a:solidFill>
            <a:prstDash val="solid"/>
          </a:ln>
        </p:spPr>
      </p:sp>
      <p:sp>
        <p:nvSpPr>
          <p:cNvPr id="14" name="line-13"/>
          <p:cNvSpPr/>
          <p:nvPr/>
        </p:nvSpPr>
        <p:spPr>
          <a:xfrm>
            <a:off x="6400800" y="3886200"/>
            <a:ext cx="365760" cy="0"/>
          </a:xfrm>
          <a:prstGeom prst="line">
            <a:avLst/>
          </a:prstGeom>
          <a:noFill/>
          <a:ln w="38100">
            <a:solidFill>
              <a:schemeClr val="accent1"/>
            </a:solidFill>
            <a:prstDash val="solid"/>
          </a:ln>
        </p:spPr>
      </p:sp>
      <p:sp>
        <p:nvSpPr>
          <p:cNvPr id="15" name="line-14"/>
          <p:cNvSpPr/>
          <p:nvPr/>
        </p:nvSpPr>
        <p:spPr>
          <a:xfrm>
            <a:off x="6400800" y="3520440"/>
            <a:ext cx="0" cy="365760"/>
          </a:xfrm>
          <a:prstGeom prst="line">
            <a:avLst/>
          </a:prstGeom>
          <a:noFill/>
          <a:ln w="38100">
            <a:solidFill>
              <a:schemeClr val="accent1"/>
            </a:solidFill>
            <a:prstDash val="solid"/>
          </a:ln>
        </p:spPr>
      </p:sp>
      <p:sp>
        <p:nvSpPr>
          <p:cNvPr id="16" name="line-15"/>
          <p:cNvSpPr/>
          <p:nvPr/>
        </p:nvSpPr>
        <p:spPr>
          <a:xfrm>
            <a:off x="11384280" y="3886200"/>
            <a:ext cx="365760" cy="0"/>
          </a:xfrm>
          <a:prstGeom prst="line">
            <a:avLst/>
          </a:prstGeom>
          <a:noFill/>
          <a:ln w="38100">
            <a:solidFill>
              <a:schemeClr val="accent1"/>
            </a:solidFill>
            <a:prstDash val="solid"/>
          </a:ln>
        </p:spPr>
      </p:sp>
      <p:sp>
        <p:nvSpPr>
          <p:cNvPr id="17" name="line-16"/>
          <p:cNvSpPr/>
          <p:nvPr/>
        </p:nvSpPr>
        <p:spPr>
          <a:xfrm>
            <a:off x="11750040" y="3520440"/>
            <a:ext cx="0" cy="365760"/>
          </a:xfrm>
          <a:prstGeom prst="line">
            <a:avLst/>
          </a:prstGeom>
          <a:noFill/>
          <a:ln w="38100">
            <a:solidFill>
              <a:schemeClr val="accent1"/>
            </a:solidFill>
            <a:prstDash val="solid"/>
          </a:ln>
        </p:spPr>
      </p:sp>
      <p:sp>
        <p:nvSpPr>
          <p:cNvPr id="18" name="text-17"/>
          <p:cNvSpPr txBox="1"/>
          <p:nvPr/>
        </p:nvSpPr>
        <p:spPr>
          <a:xfrm>
            <a:off x="6537960" y="3886200"/>
            <a:ext cx="5074920" cy="274320"/>
          </a:xfrm>
          <a:prstGeom prst="rect">
            <a:avLst/>
          </a:prstGeom>
          <a:noFill/>
          <a:ln/>
        </p:spPr>
        <p:txBody>
          <a:bodyPr wrap="square" lIns="0" tIns="0" rIns="0" bIns="0" rtlCol="0" anchor="ctr"/>
          <a:lstStyle/>
          <a:p>
            <a:pPr marL="0" indent="0" algn="r">
              <a:buNone/>
            </a:pPr>
            <a:r>
              <a:rPr lang="en-US" sz="1100" i="1" dirty="0">
                <a:solidFill>
                  <a:schemeClr val="accent5"/>
                </a:solidFill>
                <a:latin typeface="Calibri" pitchFamily="34" charset="0"/>
                <a:ea typeface="Calibri" pitchFamily="34" charset="-122"/>
                <a:cs typeface="Calibri" pitchFamily="34" charset="-120"/>
              </a:rPr>
              <a:t>Live scan: MARK-001 resolves to the Epson projector's passport</a:t>
            </a:r>
            <a:endParaRPr lang="en-US" sz="1100" dirty="0"/>
          </a:p>
        </p:txBody>
      </p:sp>
      <p:sp>
        <p:nvSpPr>
          <p:cNvPr id="19" name="card-18"/>
          <p:cNvSpPr/>
          <p:nvPr/>
        </p:nvSpPr>
        <p:spPr>
          <a:xfrm>
            <a:off x="548640" y="4754880"/>
            <a:ext cx="2567864" cy="1051560"/>
          </a:xfrm>
          <a:prstGeom prst="roundRect">
            <a:avLst>
              <a:gd name="adj" fmla="val 6957"/>
            </a:avLst>
          </a:prstGeom>
          <a:solidFill>
            <a:srgbClr val="162033"/>
          </a:solidFill>
          <a:ln w="12700">
            <a:solidFill>
              <a:srgbClr val="162033"/>
            </a:solidFill>
            <a:prstDash val="solid"/>
          </a:ln>
        </p:spPr>
      </p:sp>
      <p:sp>
        <p:nvSpPr>
          <p:cNvPr id="20" name="text-19"/>
          <p:cNvSpPr txBox="1"/>
          <p:nvPr/>
        </p:nvSpPr>
        <p:spPr>
          <a:xfrm>
            <a:off x="731520" y="4864608"/>
            <a:ext cx="2202104" cy="228600"/>
          </a:xfrm>
          <a:prstGeom prst="rect">
            <a:avLst/>
          </a:prstGeom>
          <a:noFill/>
          <a:ln/>
        </p:spPr>
        <p:txBody>
          <a:bodyPr wrap="square" lIns="0" tIns="0" rIns="0" bIns="0" rtlCol="0" anchor="ctr"/>
          <a:lstStyle/>
          <a:p>
            <a:pPr marL="0" indent="0">
              <a:buNone/>
            </a:pPr>
            <a:r>
              <a:rPr lang="en-US" sz="1000" b="1" kern="0" spc="100" dirty="0">
                <a:solidFill>
                  <a:schemeClr val="accent1"/>
                </a:solidFill>
                <a:latin typeface="Calibri" pitchFamily="34" charset="0"/>
                <a:ea typeface="Calibri" pitchFamily="34" charset="-122"/>
                <a:cs typeface="Calibri" pitchFamily="34" charset="-120"/>
              </a:rPr>
              <a:t>AR SCANNER</a:t>
            </a:r>
            <a:endParaRPr lang="en-US" sz="1000" dirty="0"/>
          </a:p>
        </p:txBody>
      </p:sp>
      <p:sp>
        <p:nvSpPr>
          <p:cNvPr id="21" name="text-20"/>
          <p:cNvSpPr txBox="1"/>
          <p:nvPr/>
        </p:nvSpPr>
        <p:spPr>
          <a:xfrm>
            <a:off x="731520" y="5120640"/>
            <a:ext cx="2202104" cy="292608"/>
          </a:xfrm>
          <a:prstGeom prst="rect">
            <a:avLst/>
          </a:prstGeom>
          <a:noFill/>
          <a:ln/>
        </p:spPr>
        <p:txBody>
          <a:bodyPr wrap="square" lIns="0" tIns="0" rIns="0" bIns="0" rtlCol="0" anchor="ctr"/>
          <a:lstStyle/>
          <a:p>
            <a:pPr marL="0" indent="0">
              <a:buNone/>
            </a:pPr>
            <a:r>
              <a:rPr lang="en-US" sz="1500" b="1" dirty="0">
                <a:solidFill>
                  <a:schemeClr val="bg1"/>
                </a:solidFill>
                <a:latin typeface="Calibri" pitchFamily="34" charset="0"/>
                <a:ea typeface="Calibri" pitchFamily="34" charset="-122"/>
                <a:cs typeface="Calibri" pitchFamily="34" charset="-120"/>
              </a:rPr>
              <a:t>Aarohi Kondpalle</a:t>
            </a:r>
            <a:endParaRPr lang="en-US" sz="1500" dirty="0"/>
          </a:p>
        </p:txBody>
      </p:sp>
      <p:sp>
        <p:nvSpPr>
          <p:cNvPr id="22" name="text-21"/>
          <p:cNvSpPr txBox="1"/>
          <p:nvPr/>
        </p:nvSpPr>
        <p:spPr>
          <a:xfrm>
            <a:off x="731520" y="5422392"/>
            <a:ext cx="2202104" cy="228600"/>
          </a:xfrm>
          <a:prstGeom prst="rect">
            <a:avLst/>
          </a:prstGeom>
          <a:noFill/>
          <a:ln/>
        </p:spPr>
        <p:txBody>
          <a:bodyPr wrap="square" lIns="0" tIns="0" rIns="0" bIns="0" rtlCol="0" anchor="ctr"/>
          <a:lstStyle/>
          <a:p>
            <a:pPr marL="0" indent="0">
              <a:buNone/>
            </a:pPr>
            <a:r>
              <a:rPr lang="en-US" sz="1100" dirty="0">
                <a:solidFill>
                  <a:schemeClr val="accent5"/>
                </a:solidFill>
                <a:latin typeface="Courier New" pitchFamily="34" charset="0"/>
                <a:ea typeface="Courier New" pitchFamily="34" charset="-122"/>
                <a:cs typeface="Courier New" pitchFamily="34" charset="-120"/>
              </a:rPr>
              <a:t>23070122004</a:t>
            </a:r>
            <a:endParaRPr lang="en-US" sz="1100" dirty="0"/>
          </a:p>
        </p:txBody>
      </p:sp>
      <p:sp>
        <p:nvSpPr>
          <p:cNvPr id="23" name="card-22"/>
          <p:cNvSpPr/>
          <p:nvPr/>
        </p:nvSpPr>
        <p:spPr>
          <a:xfrm>
            <a:off x="3390824" y="4754880"/>
            <a:ext cx="2567864" cy="1051560"/>
          </a:xfrm>
          <a:prstGeom prst="roundRect">
            <a:avLst>
              <a:gd name="adj" fmla="val 6957"/>
            </a:avLst>
          </a:prstGeom>
          <a:solidFill>
            <a:srgbClr val="162033"/>
          </a:solidFill>
          <a:ln w="12700">
            <a:solidFill>
              <a:srgbClr val="162033"/>
            </a:solidFill>
            <a:prstDash val="solid"/>
          </a:ln>
        </p:spPr>
      </p:sp>
      <p:sp>
        <p:nvSpPr>
          <p:cNvPr id="24" name="text-23"/>
          <p:cNvSpPr txBox="1"/>
          <p:nvPr/>
        </p:nvSpPr>
        <p:spPr>
          <a:xfrm>
            <a:off x="3573704" y="4864608"/>
            <a:ext cx="2202104" cy="228600"/>
          </a:xfrm>
          <a:prstGeom prst="rect">
            <a:avLst/>
          </a:prstGeom>
          <a:noFill/>
          <a:ln/>
        </p:spPr>
        <p:txBody>
          <a:bodyPr wrap="square" lIns="0" tIns="0" rIns="0" bIns="0" rtlCol="0" anchor="ctr"/>
          <a:lstStyle/>
          <a:p>
            <a:pPr marL="0" indent="0">
              <a:buNone/>
            </a:pPr>
            <a:r>
              <a:rPr lang="en-US" sz="1000" b="1" kern="0" spc="100" dirty="0">
                <a:solidFill>
                  <a:schemeClr val="accent1"/>
                </a:solidFill>
                <a:latin typeface="Calibri" pitchFamily="34" charset="0"/>
                <a:ea typeface="Calibri" pitchFamily="34" charset="-122"/>
                <a:cs typeface="Calibri" pitchFamily="34" charset="-120"/>
              </a:rPr>
              <a:t>BACKEND + DATABASE</a:t>
            </a:r>
            <a:endParaRPr lang="en-US" sz="1000" dirty="0"/>
          </a:p>
        </p:txBody>
      </p:sp>
      <p:sp>
        <p:nvSpPr>
          <p:cNvPr id="25" name="text-24"/>
          <p:cNvSpPr txBox="1"/>
          <p:nvPr/>
        </p:nvSpPr>
        <p:spPr>
          <a:xfrm>
            <a:off x="3573704" y="5120640"/>
            <a:ext cx="2202104" cy="292608"/>
          </a:xfrm>
          <a:prstGeom prst="rect">
            <a:avLst/>
          </a:prstGeom>
          <a:noFill/>
          <a:ln/>
        </p:spPr>
        <p:txBody>
          <a:bodyPr wrap="square" lIns="0" tIns="0" rIns="0" bIns="0" rtlCol="0" anchor="ctr"/>
          <a:lstStyle/>
          <a:p>
            <a:pPr marL="0" indent="0">
              <a:buNone/>
            </a:pPr>
            <a:r>
              <a:rPr lang="en-US" sz="1500" b="1" dirty="0">
                <a:solidFill>
                  <a:schemeClr val="bg1"/>
                </a:solidFill>
                <a:latin typeface="Calibri" pitchFamily="34" charset="0"/>
                <a:ea typeface="Calibri" pitchFamily="34" charset="-122"/>
                <a:cs typeface="Calibri" pitchFamily="34" charset="-120"/>
              </a:rPr>
              <a:t>Nimita Jestin</a:t>
            </a:r>
            <a:endParaRPr lang="en-US" sz="1500" dirty="0"/>
          </a:p>
        </p:txBody>
      </p:sp>
      <p:sp>
        <p:nvSpPr>
          <p:cNvPr id="26" name="text-25"/>
          <p:cNvSpPr txBox="1"/>
          <p:nvPr/>
        </p:nvSpPr>
        <p:spPr>
          <a:xfrm>
            <a:off x="3573704" y="5422392"/>
            <a:ext cx="2202104" cy="228600"/>
          </a:xfrm>
          <a:prstGeom prst="rect">
            <a:avLst/>
          </a:prstGeom>
          <a:noFill/>
          <a:ln/>
        </p:spPr>
        <p:txBody>
          <a:bodyPr wrap="square" lIns="0" tIns="0" rIns="0" bIns="0" rtlCol="0" anchor="ctr"/>
          <a:lstStyle/>
          <a:p>
            <a:pPr marL="0" indent="0">
              <a:buNone/>
            </a:pPr>
            <a:r>
              <a:rPr lang="en-US" sz="1100" dirty="0">
                <a:solidFill>
                  <a:schemeClr val="accent5"/>
                </a:solidFill>
                <a:latin typeface="Courier New" pitchFamily="34" charset="0"/>
                <a:ea typeface="Courier New" pitchFamily="34" charset="-122"/>
                <a:cs typeface="Courier New" pitchFamily="34" charset="-120"/>
              </a:rPr>
              <a:t>23070122259</a:t>
            </a:r>
            <a:endParaRPr lang="en-US" sz="1100" dirty="0"/>
          </a:p>
        </p:txBody>
      </p:sp>
      <p:sp>
        <p:nvSpPr>
          <p:cNvPr id="27" name="card-26"/>
          <p:cNvSpPr/>
          <p:nvPr/>
        </p:nvSpPr>
        <p:spPr>
          <a:xfrm>
            <a:off x="6233008" y="4754880"/>
            <a:ext cx="2567864" cy="1051560"/>
          </a:xfrm>
          <a:prstGeom prst="roundRect">
            <a:avLst>
              <a:gd name="adj" fmla="val 6957"/>
            </a:avLst>
          </a:prstGeom>
          <a:solidFill>
            <a:srgbClr val="162033"/>
          </a:solidFill>
          <a:ln w="12700">
            <a:solidFill>
              <a:srgbClr val="162033"/>
            </a:solidFill>
            <a:prstDash val="solid"/>
          </a:ln>
        </p:spPr>
      </p:sp>
      <p:sp>
        <p:nvSpPr>
          <p:cNvPr id="28" name="text-27"/>
          <p:cNvSpPr txBox="1"/>
          <p:nvPr/>
        </p:nvSpPr>
        <p:spPr>
          <a:xfrm>
            <a:off x="6415888" y="4864608"/>
            <a:ext cx="2202104" cy="228600"/>
          </a:xfrm>
          <a:prstGeom prst="rect">
            <a:avLst/>
          </a:prstGeom>
          <a:noFill/>
          <a:ln/>
        </p:spPr>
        <p:txBody>
          <a:bodyPr wrap="square" lIns="0" tIns="0" rIns="0" bIns="0" rtlCol="0" anchor="ctr"/>
          <a:lstStyle/>
          <a:p>
            <a:pPr marL="0" indent="0">
              <a:buNone/>
            </a:pPr>
            <a:r>
              <a:rPr lang="en-US" sz="1000" b="1" kern="0" spc="100" dirty="0">
                <a:solidFill>
                  <a:schemeClr val="accent1"/>
                </a:solidFill>
                <a:latin typeface="Calibri" pitchFamily="34" charset="0"/>
                <a:ea typeface="Calibri" pitchFamily="34" charset="-122"/>
                <a:cs typeface="Calibri" pitchFamily="34" charset="-120"/>
              </a:rPr>
              <a:t>ADMIN DASHBOARD</a:t>
            </a:r>
            <a:endParaRPr lang="en-US" sz="1000" dirty="0"/>
          </a:p>
        </p:txBody>
      </p:sp>
      <p:sp>
        <p:nvSpPr>
          <p:cNvPr id="29" name="text-28"/>
          <p:cNvSpPr txBox="1"/>
          <p:nvPr/>
        </p:nvSpPr>
        <p:spPr>
          <a:xfrm>
            <a:off x="6415888" y="5120640"/>
            <a:ext cx="2202104" cy="292608"/>
          </a:xfrm>
          <a:prstGeom prst="rect">
            <a:avLst/>
          </a:prstGeom>
          <a:noFill/>
          <a:ln/>
        </p:spPr>
        <p:txBody>
          <a:bodyPr wrap="square" lIns="0" tIns="0" rIns="0" bIns="0" rtlCol="0" anchor="ctr"/>
          <a:lstStyle/>
          <a:p>
            <a:pPr marL="0" indent="0">
              <a:buNone/>
            </a:pPr>
            <a:r>
              <a:rPr lang="en-US" sz="1500" b="1" dirty="0">
                <a:solidFill>
                  <a:schemeClr val="bg1"/>
                </a:solidFill>
                <a:latin typeface="Calibri" pitchFamily="34" charset="0"/>
                <a:ea typeface="Calibri" pitchFamily="34" charset="-122"/>
                <a:cs typeface="Calibri" pitchFamily="34" charset="-120"/>
              </a:rPr>
              <a:t>Archisha Yadav</a:t>
            </a:r>
            <a:endParaRPr lang="en-US" sz="1500" dirty="0"/>
          </a:p>
        </p:txBody>
      </p:sp>
      <p:sp>
        <p:nvSpPr>
          <p:cNvPr id="30" name="text-29"/>
          <p:cNvSpPr txBox="1"/>
          <p:nvPr/>
        </p:nvSpPr>
        <p:spPr>
          <a:xfrm>
            <a:off x="6415888" y="5422392"/>
            <a:ext cx="2202104" cy="228600"/>
          </a:xfrm>
          <a:prstGeom prst="rect">
            <a:avLst/>
          </a:prstGeom>
          <a:noFill/>
          <a:ln/>
        </p:spPr>
        <p:txBody>
          <a:bodyPr wrap="square" lIns="0" tIns="0" rIns="0" bIns="0" rtlCol="0" anchor="ctr"/>
          <a:lstStyle/>
          <a:p>
            <a:pPr marL="0" indent="0">
              <a:buNone/>
            </a:pPr>
            <a:r>
              <a:rPr lang="en-US" sz="1100" dirty="0">
                <a:solidFill>
                  <a:schemeClr val="accent5"/>
                </a:solidFill>
                <a:latin typeface="Courier New" pitchFamily="34" charset="0"/>
                <a:ea typeface="Courier New" pitchFamily="34" charset="-122"/>
                <a:cs typeface="Courier New" pitchFamily="34" charset="-120"/>
              </a:rPr>
              <a:t>23070122041</a:t>
            </a:r>
            <a:endParaRPr lang="en-US" sz="1100" dirty="0"/>
          </a:p>
        </p:txBody>
      </p:sp>
      <p:sp>
        <p:nvSpPr>
          <p:cNvPr id="31" name="card-30"/>
          <p:cNvSpPr/>
          <p:nvPr/>
        </p:nvSpPr>
        <p:spPr>
          <a:xfrm>
            <a:off x="9075191" y="4754880"/>
            <a:ext cx="2567864" cy="1051560"/>
          </a:xfrm>
          <a:prstGeom prst="roundRect">
            <a:avLst>
              <a:gd name="adj" fmla="val 6957"/>
            </a:avLst>
          </a:prstGeom>
          <a:solidFill>
            <a:srgbClr val="162033"/>
          </a:solidFill>
          <a:ln w="12700">
            <a:solidFill>
              <a:srgbClr val="162033"/>
            </a:solidFill>
            <a:prstDash val="solid"/>
          </a:ln>
        </p:spPr>
      </p:sp>
      <p:sp>
        <p:nvSpPr>
          <p:cNvPr id="32" name="text-31"/>
          <p:cNvSpPr txBox="1"/>
          <p:nvPr/>
        </p:nvSpPr>
        <p:spPr>
          <a:xfrm>
            <a:off x="9258071" y="4864608"/>
            <a:ext cx="2202104" cy="228600"/>
          </a:xfrm>
          <a:prstGeom prst="rect">
            <a:avLst/>
          </a:prstGeom>
          <a:noFill/>
          <a:ln/>
        </p:spPr>
        <p:txBody>
          <a:bodyPr wrap="square" lIns="0" tIns="0" rIns="0" bIns="0" rtlCol="0" anchor="ctr"/>
          <a:lstStyle/>
          <a:p>
            <a:pPr marL="0" indent="0">
              <a:buNone/>
            </a:pPr>
            <a:r>
              <a:rPr lang="en-US" sz="1000" b="1" kern="0" spc="100" dirty="0">
                <a:solidFill>
                  <a:schemeClr val="accent1"/>
                </a:solidFill>
                <a:latin typeface="Calibri" pitchFamily="34" charset="0"/>
                <a:ea typeface="Calibri" pitchFamily="34" charset="-122"/>
                <a:cs typeface="Calibri" pitchFamily="34" charset="-120"/>
              </a:rPr>
              <a:t>INTEGRATION, QA, DEPLOY</a:t>
            </a:r>
            <a:endParaRPr lang="en-US" sz="1000" dirty="0"/>
          </a:p>
        </p:txBody>
      </p:sp>
      <p:sp>
        <p:nvSpPr>
          <p:cNvPr id="33" name="text-32"/>
          <p:cNvSpPr txBox="1"/>
          <p:nvPr/>
        </p:nvSpPr>
        <p:spPr>
          <a:xfrm>
            <a:off x="9258071" y="5120640"/>
            <a:ext cx="2202104" cy="292608"/>
          </a:xfrm>
          <a:prstGeom prst="rect">
            <a:avLst/>
          </a:prstGeom>
          <a:noFill/>
          <a:ln/>
        </p:spPr>
        <p:txBody>
          <a:bodyPr wrap="square" lIns="0" tIns="0" rIns="0" bIns="0" rtlCol="0" anchor="ctr"/>
          <a:lstStyle/>
          <a:p>
            <a:pPr marL="0" indent="0">
              <a:buNone/>
            </a:pPr>
            <a:r>
              <a:rPr lang="en-US" sz="1500" b="1" dirty="0">
                <a:solidFill>
                  <a:schemeClr val="bg1"/>
                </a:solidFill>
                <a:latin typeface="Calibri" pitchFamily="34" charset="0"/>
                <a:ea typeface="Calibri" pitchFamily="34" charset="-122"/>
                <a:cs typeface="Calibri" pitchFamily="34" charset="-120"/>
              </a:rPr>
              <a:t>Rudra Khandelwal</a:t>
            </a:r>
            <a:endParaRPr lang="en-US" sz="1500" dirty="0"/>
          </a:p>
        </p:txBody>
      </p:sp>
      <p:sp>
        <p:nvSpPr>
          <p:cNvPr id="34" name="text-33"/>
          <p:cNvSpPr txBox="1"/>
          <p:nvPr/>
        </p:nvSpPr>
        <p:spPr>
          <a:xfrm>
            <a:off x="9258071" y="5422392"/>
            <a:ext cx="2202104" cy="228600"/>
          </a:xfrm>
          <a:prstGeom prst="rect">
            <a:avLst/>
          </a:prstGeom>
          <a:noFill/>
          <a:ln/>
        </p:spPr>
        <p:txBody>
          <a:bodyPr wrap="square" lIns="0" tIns="0" rIns="0" bIns="0" rtlCol="0" anchor="ctr"/>
          <a:lstStyle/>
          <a:p>
            <a:pPr marL="0" indent="0">
              <a:buNone/>
            </a:pPr>
            <a:r>
              <a:rPr lang="en-US" sz="1100" dirty="0">
                <a:solidFill>
                  <a:schemeClr val="accent5"/>
                </a:solidFill>
                <a:latin typeface="Courier New" pitchFamily="34" charset="0"/>
                <a:ea typeface="Courier New" pitchFamily="34" charset="-122"/>
                <a:cs typeface="Courier New" pitchFamily="34" charset="-120"/>
              </a:rPr>
              <a:t>24070122513</a:t>
            </a:r>
            <a:endParaRPr lang="en-US" sz="1100" dirty="0"/>
          </a:p>
        </p:txBody>
      </p:sp>
      <p:sp>
        <p:nvSpPr>
          <p:cNvPr id="35" name="text-34"/>
          <p:cNvSpPr txBox="1"/>
          <p:nvPr/>
        </p:nvSpPr>
        <p:spPr>
          <a:xfrm>
            <a:off x="548640" y="6080760"/>
            <a:ext cx="7315200" cy="274320"/>
          </a:xfrm>
          <a:prstGeom prst="rect">
            <a:avLst/>
          </a:prstGeom>
          <a:noFill/>
          <a:ln/>
        </p:spPr>
        <p:txBody>
          <a:bodyPr wrap="square" lIns="0" tIns="0" rIns="0" bIns="0" rtlCol="0" anchor="ctr"/>
          <a:lstStyle/>
          <a:p>
            <a:pPr marL="0" indent="0">
              <a:buNone/>
            </a:pPr>
            <a:r>
              <a:rPr lang="en-US" sz="1300" dirty="0">
                <a:solidFill>
                  <a:schemeClr val="accent5"/>
                </a:solidFill>
                <a:latin typeface="Calibri" pitchFamily="34" charset="0"/>
                <a:ea typeface="Calibri" pitchFamily="34" charset="-122"/>
                <a:cs typeface="Calibri" pitchFamily="34" charset="-120"/>
              </a:rPr>
              <a:t>Guide: </a:t>
            </a:r>
            <a:r>
              <a:rPr lang="en-US" sz="1300" b="1" dirty="0">
                <a:solidFill>
                  <a:schemeClr val="bg1"/>
                </a:solidFill>
                <a:latin typeface="Calibri" pitchFamily="34" charset="0"/>
                <a:ea typeface="Calibri" pitchFamily="34" charset="-122"/>
                <a:cs typeface="Calibri" pitchFamily="34" charset="-120"/>
              </a:rPr>
              <a:t>Dr. Shwetambari Chiwhane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47472"/>
            <a:ext cx="8229600" cy="274320"/>
          </a:xfrm>
          <a:prstGeom prst="rect">
            <a:avLst/>
          </a:prstGeom>
          <a:noFill/>
          <a:ln/>
        </p:spPr>
        <p:txBody>
          <a:bodyPr wrap="square" lIns="0" tIns="0" rIns="0" bIns="0" rtlCol="0" anchor="ctr"/>
          <a:lstStyle/>
          <a:p>
            <a:pPr marL="0" indent="0">
              <a:buNone/>
            </a:pPr>
            <a:r>
              <a:rPr lang="en-US" sz="1200" b="1" kern="0" spc="200" dirty="0">
                <a:solidFill>
                  <a:schemeClr val="accent1"/>
                </a:solidFill>
              </a:rPr>
              <a:t>THE PROBLEM</a:t>
            </a:r>
            <a:endParaRPr lang="en-US" sz="1200" dirty="0"/>
          </a:p>
        </p:txBody>
      </p:sp>
      <p:sp>
        <p:nvSpPr>
          <p:cNvPr id="3" name="Text 0"/>
          <p:cNvSpPr>
            <a:spLocks noGrp="1"/>
          </p:cNvSpPr>
          <p:nvPr>
            <p:ph type="title" idx="101" hasCustomPrompt="1"/>
          </p:nvPr>
        </p:nvSpPr>
        <p:spPr>
          <a:xfrm>
            <a:off x="548640" y="621792"/>
            <a:ext cx="11094415"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Lab equipment has no single, scannable record</a:t>
            </a:r>
            <a:endParaRPr lang="en-US" sz="3000" dirty="0"/>
          </a:p>
        </p:txBody>
      </p:sp>
      <p:sp>
        <p:nvSpPr>
          <p:cNvPr id="4" name="card-35"/>
          <p:cNvSpPr/>
          <p:nvPr/>
        </p:nvSpPr>
        <p:spPr>
          <a:xfrm>
            <a:off x="548640" y="1600200"/>
            <a:ext cx="4937760" cy="4206240"/>
          </a:xfrm>
          <a:prstGeom prst="roundRect">
            <a:avLst>
              <a:gd name="adj" fmla="val 1739"/>
            </a:avLst>
          </a:prstGeom>
          <a:solidFill>
            <a:schemeClr val="tx1"/>
          </a:solidFill>
          <a:ln w="12700">
            <a:solidFill>
              <a:schemeClr val="tx1"/>
            </a:solidFill>
            <a:prstDash val="solid"/>
          </a:ln>
        </p:spPr>
      </p:sp>
      <p:pic>
        <p:nvPicPr>
          <p:cNvPr id="5" name="icon-36" descr="preencoded.png"/>
          <p:cNvPicPr>
            <a:picLocks noChangeAspect="1"/>
          </p:cNvPicPr>
          <p:nvPr/>
        </p:nvPicPr>
        <p:blipFill>
          <a:blip r:embed="rId3"/>
          <a:stretch>
            <a:fillRect/>
          </a:stretch>
        </p:blipFill>
        <p:spPr>
          <a:xfrm>
            <a:off x="960120" y="1965960"/>
            <a:ext cx="502920" cy="502920"/>
          </a:xfrm>
          <a:prstGeom prst="rect">
            <a:avLst/>
          </a:prstGeom>
        </p:spPr>
      </p:pic>
      <p:sp>
        <p:nvSpPr>
          <p:cNvPr id="6" name="text-37"/>
          <p:cNvSpPr txBox="1"/>
          <p:nvPr/>
        </p:nvSpPr>
        <p:spPr>
          <a:xfrm>
            <a:off x="960120" y="2651760"/>
            <a:ext cx="4114800" cy="2103120"/>
          </a:xfrm>
          <a:prstGeom prst="rect">
            <a:avLst/>
          </a:prstGeom>
          <a:noFill/>
          <a:ln/>
        </p:spPr>
        <p:txBody>
          <a:bodyPr wrap="square" lIns="0" tIns="0" rIns="0" bIns="0" rtlCol="0" anchor="t"/>
          <a:lstStyle/>
          <a:p>
            <a:pPr marL="0" indent="0">
              <a:buNone/>
            </a:pPr>
            <a:r>
              <a:rPr lang="en-US" sz="2000" i="1" dirty="0">
                <a:solidFill>
                  <a:schemeClr val="bg1"/>
                </a:solidFill>
                <a:latin typeface="Calibri" pitchFamily="34" charset="0"/>
                <a:ea typeface="Calibri" pitchFamily="34" charset="-122"/>
                <a:cs typeface="Calibri" pitchFamily="34" charset="-120"/>
              </a:rPr>
              <a:t>“Which exact printer is jammed? Where is it kept? When was it last serviced? By the time we find out, a lab session is already lost.”</a:t>
            </a:r>
            <a:endParaRPr lang="en-US" sz="2000" dirty="0"/>
          </a:p>
        </p:txBody>
      </p:sp>
      <p:sp>
        <p:nvSpPr>
          <p:cNvPr id="7" name="text-38"/>
          <p:cNvSpPr txBox="1"/>
          <p:nvPr/>
        </p:nvSpPr>
        <p:spPr>
          <a:xfrm>
            <a:off x="960120" y="5166360"/>
            <a:ext cx="4114800" cy="274320"/>
          </a:xfrm>
          <a:prstGeom prst="rect">
            <a:avLst/>
          </a:prstGeom>
          <a:noFill/>
          <a:ln/>
        </p:spPr>
        <p:txBody>
          <a:bodyPr wrap="square" lIns="0" tIns="0" rIns="0" bIns="0" rtlCol="0" anchor="ctr"/>
          <a:lstStyle/>
          <a:p>
            <a:pPr marL="0" indent="0">
              <a:buNone/>
            </a:pPr>
            <a:r>
              <a:rPr lang="en-US" sz="1300" b="1" dirty="0">
                <a:solidFill>
                  <a:schemeClr val="accent1"/>
                </a:solidFill>
                <a:latin typeface="Calibri" pitchFamily="34" charset="0"/>
                <a:ea typeface="Calibri" pitchFamily="34" charset="-122"/>
                <a:cs typeface="Calibri" pitchFamily="34" charset="-120"/>
              </a:rPr>
              <a:t>What lab staff told us</a:t>
            </a:r>
            <a:endParaRPr lang="en-US" sz="1300" dirty="0"/>
          </a:p>
        </p:txBody>
      </p:sp>
      <p:sp>
        <p:nvSpPr>
          <p:cNvPr id="8" name="icon-bg-39"/>
          <p:cNvSpPr/>
          <p:nvPr/>
        </p:nvSpPr>
        <p:spPr>
          <a:xfrm>
            <a:off x="5943600" y="1645920"/>
            <a:ext cx="640080" cy="640080"/>
          </a:xfrm>
          <a:prstGeom prst="ellipse">
            <a:avLst/>
          </a:prstGeom>
          <a:solidFill>
            <a:schemeClr val="bg2"/>
          </a:solidFill>
          <a:ln w="12700">
            <a:solidFill>
              <a:schemeClr val="bg2"/>
            </a:solidFill>
            <a:prstDash val="solid"/>
          </a:ln>
        </p:spPr>
      </p:sp>
      <p:pic>
        <p:nvPicPr>
          <p:cNvPr id="9" name="icon-40" descr="preencoded.png"/>
          <p:cNvPicPr>
            <a:picLocks noChangeAspect="1"/>
          </p:cNvPicPr>
          <p:nvPr/>
        </p:nvPicPr>
        <p:blipFill>
          <a:blip r:embed="rId4"/>
          <a:stretch>
            <a:fillRect/>
          </a:stretch>
        </p:blipFill>
        <p:spPr>
          <a:xfrm>
            <a:off x="6097219" y="1799539"/>
            <a:ext cx="332842" cy="332842"/>
          </a:xfrm>
          <a:prstGeom prst="rect">
            <a:avLst/>
          </a:prstGeom>
        </p:spPr>
      </p:pic>
      <p:sp>
        <p:nvSpPr>
          <p:cNvPr id="10" name="text-41"/>
          <p:cNvSpPr txBox="1"/>
          <p:nvPr/>
        </p:nvSpPr>
        <p:spPr>
          <a:xfrm>
            <a:off x="6812280" y="1645920"/>
            <a:ext cx="4800600" cy="347472"/>
          </a:xfrm>
          <a:prstGeom prst="rect">
            <a:avLst/>
          </a:prstGeom>
          <a:noFill/>
          <a:ln/>
        </p:spPr>
        <p:txBody>
          <a:bodyPr wrap="square" lIns="0" tIns="0" rIns="0" bIns="0" rtlCol="0" anchor="ctr"/>
          <a:lstStyle/>
          <a:p>
            <a:pPr marL="0" indent="0">
              <a:buNone/>
            </a:pPr>
            <a:r>
              <a:rPr lang="en-US" sz="1800" b="1" dirty="0">
                <a:solidFill>
                  <a:schemeClr val="tx1"/>
                </a:solidFill>
                <a:latin typeface="Calibri" pitchFamily="34" charset="0"/>
                <a:ea typeface="Calibri" pitchFamily="34" charset="-122"/>
                <a:cs typeface="Calibri" pitchFamily="34" charset="-120"/>
              </a:rPr>
              <a:t>Service history sits in paper registers</a:t>
            </a:r>
            <a:endParaRPr lang="en-US" sz="1800" dirty="0"/>
          </a:p>
        </p:txBody>
      </p:sp>
      <p:sp>
        <p:nvSpPr>
          <p:cNvPr id="11" name="text-42"/>
          <p:cNvSpPr txBox="1"/>
          <p:nvPr/>
        </p:nvSpPr>
        <p:spPr>
          <a:xfrm>
            <a:off x="6812280" y="2011680"/>
            <a:ext cx="4800600" cy="594360"/>
          </a:xfrm>
          <a:prstGeom prst="rect">
            <a:avLst/>
          </a:prstGeom>
          <a:noFill/>
          <a:ln/>
        </p:spPr>
        <p:txBody>
          <a:bodyPr wrap="square" lIns="0" tIns="0" rIns="0" bIns="0" rtlCol="0" anchor="t"/>
          <a:lstStyle/>
          <a:p>
            <a:pPr marL="0" indent="0">
              <a:buNone/>
            </a:pPr>
            <a:r>
              <a:rPr lang="en-US" sz="1400" dirty="0">
                <a:solidFill>
                  <a:schemeClr val="tx2"/>
                </a:solidFill>
                <a:latin typeface="Calibri" pitchFamily="34" charset="0"/>
                <a:ea typeface="Calibri" pitchFamily="34" charset="-122"/>
                <a:cs typeface="Calibri" pitchFamily="34" charset="-120"/>
              </a:rPr>
              <a:t>Nobody can check when the projector was last serviced without finding the right notebook.</a:t>
            </a:r>
            <a:endParaRPr lang="en-US" sz="1400" dirty="0"/>
          </a:p>
        </p:txBody>
      </p:sp>
      <p:sp>
        <p:nvSpPr>
          <p:cNvPr id="12" name="icon-bg-43"/>
          <p:cNvSpPr/>
          <p:nvPr/>
        </p:nvSpPr>
        <p:spPr>
          <a:xfrm>
            <a:off x="5943600" y="2834640"/>
            <a:ext cx="640080" cy="640080"/>
          </a:xfrm>
          <a:prstGeom prst="ellipse">
            <a:avLst/>
          </a:prstGeom>
          <a:solidFill>
            <a:schemeClr val="bg2"/>
          </a:solidFill>
          <a:ln w="12700">
            <a:solidFill>
              <a:schemeClr val="bg2"/>
            </a:solidFill>
            <a:prstDash val="solid"/>
          </a:ln>
        </p:spPr>
      </p:sp>
      <p:pic>
        <p:nvPicPr>
          <p:cNvPr id="13" name="icon-44" descr="preencoded.png"/>
          <p:cNvPicPr>
            <a:picLocks noChangeAspect="1"/>
          </p:cNvPicPr>
          <p:nvPr/>
        </p:nvPicPr>
        <p:blipFill>
          <a:blip r:embed="rId3"/>
          <a:stretch>
            <a:fillRect/>
          </a:stretch>
        </p:blipFill>
        <p:spPr>
          <a:xfrm>
            <a:off x="6097219" y="2988259"/>
            <a:ext cx="332842" cy="332842"/>
          </a:xfrm>
          <a:prstGeom prst="rect">
            <a:avLst/>
          </a:prstGeom>
        </p:spPr>
      </p:pic>
      <p:sp>
        <p:nvSpPr>
          <p:cNvPr id="14" name="text-45"/>
          <p:cNvSpPr txBox="1"/>
          <p:nvPr/>
        </p:nvSpPr>
        <p:spPr>
          <a:xfrm>
            <a:off x="6812280" y="2834640"/>
            <a:ext cx="4800600" cy="347472"/>
          </a:xfrm>
          <a:prstGeom prst="rect">
            <a:avLst/>
          </a:prstGeom>
          <a:noFill/>
          <a:ln/>
        </p:spPr>
        <p:txBody>
          <a:bodyPr wrap="square" lIns="0" tIns="0" rIns="0" bIns="0" rtlCol="0" anchor="ctr"/>
          <a:lstStyle/>
          <a:p>
            <a:pPr marL="0" indent="0">
              <a:buNone/>
            </a:pPr>
            <a:r>
              <a:rPr lang="en-US" sz="1800" b="1" dirty="0">
                <a:solidFill>
                  <a:schemeClr val="tx1"/>
                </a:solidFill>
                <a:latin typeface="Calibri" pitchFamily="34" charset="0"/>
                <a:ea typeface="Calibri" pitchFamily="34" charset="-122"/>
                <a:cs typeface="Calibri" pitchFamily="34" charset="-120"/>
              </a:rPr>
              <a:t>Faults get lost in WhatsApp groups</a:t>
            </a:r>
            <a:endParaRPr lang="en-US" sz="1800" dirty="0"/>
          </a:p>
        </p:txBody>
      </p:sp>
      <p:sp>
        <p:nvSpPr>
          <p:cNvPr id="15" name="text-46"/>
          <p:cNvSpPr txBox="1"/>
          <p:nvPr/>
        </p:nvSpPr>
        <p:spPr>
          <a:xfrm>
            <a:off x="6812280" y="3200400"/>
            <a:ext cx="4800600" cy="594360"/>
          </a:xfrm>
          <a:prstGeom prst="rect">
            <a:avLst/>
          </a:prstGeom>
          <a:noFill/>
          <a:ln/>
        </p:spPr>
        <p:txBody>
          <a:bodyPr wrap="square" lIns="0" tIns="0" rIns="0" bIns="0" rtlCol="0" anchor="t"/>
          <a:lstStyle/>
          <a:p>
            <a:pPr marL="0" indent="0">
              <a:buNone/>
            </a:pPr>
            <a:r>
              <a:rPr lang="en-US" sz="1400" dirty="0">
                <a:solidFill>
                  <a:schemeClr val="tx2"/>
                </a:solidFill>
                <a:latin typeface="Calibri" pitchFamily="34" charset="0"/>
                <a:ea typeface="Calibri" pitchFamily="34" charset="-122"/>
                <a:cs typeface="Calibri" pitchFamily="34" charset="-120"/>
              </a:rPr>
              <a:t>Complaints get buried, duplicated or never closed, with no status anyone can track.</a:t>
            </a:r>
            <a:endParaRPr lang="en-US" sz="1400" dirty="0"/>
          </a:p>
        </p:txBody>
      </p:sp>
      <p:sp>
        <p:nvSpPr>
          <p:cNvPr id="16" name="icon-bg-47"/>
          <p:cNvSpPr/>
          <p:nvPr/>
        </p:nvSpPr>
        <p:spPr>
          <a:xfrm>
            <a:off x="5943600" y="4023360"/>
            <a:ext cx="640080" cy="640080"/>
          </a:xfrm>
          <a:prstGeom prst="ellipse">
            <a:avLst/>
          </a:prstGeom>
          <a:solidFill>
            <a:schemeClr val="bg2"/>
          </a:solidFill>
          <a:ln w="12700">
            <a:solidFill>
              <a:schemeClr val="bg2"/>
            </a:solidFill>
            <a:prstDash val="solid"/>
          </a:ln>
        </p:spPr>
      </p:sp>
      <p:pic>
        <p:nvPicPr>
          <p:cNvPr id="17" name="icon-48" descr="preencoded.png"/>
          <p:cNvPicPr>
            <a:picLocks noChangeAspect="1"/>
          </p:cNvPicPr>
          <p:nvPr/>
        </p:nvPicPr>
        <p:blipFill>
          <a:blip r:embed="rId5"/>
          <a:stretch>
            <a:fillRect/>
          </a:stretch>
        </p:blipFill>
        <p:spPr>
          <a:xfrm>
            <a:off x="6097219" y="4176979"/>
            <a:ext cx="332842" cy="332842"/>
          </a:xfrm>
          <a:prstGeom prst="rect">
            <a:avLst/>
          </a:prstGeom>
        </p:spPr>
      </p:pic>
      <p:sp>
        <p:nvSpPr>
          <p:cNvPr id="18" name="text-49"/>
          <p:cNvSpPr txBox="1"/>
          <p:nvPr/>
        </p:nvSpPr>
        <p:spPr>
          <a:xfrm>
            <a:off x="6812280" y="4023360"/>
            <a:ext cx="4800600" cy="347472"/>
          </a:xfrm>
          <a:prstGeom prst="rect">
            <a:avLst/>
          </a:prstGeom>
          <a:noFill/>
          <a:ln/>
        </p:spPr>
        <p:txBody>
          <a:bodyPr wrap="square" lIns="0" tIns="0" rIns="0" bIns="0" rtlCol="0" anchor="ctr"/>
          <a:lstStyle/>
          <a:p>
            <a:pPr marL="0" indent="0">
              <a:buNone/>
            </a:pPr>
            <a:r>
              <a:rPr lang="en-US" sz="1800" b="1" dirty="0">
                <a:solidFill>
                  <a:schemeClr val="tx1"/>
                </a:solidFill>
                <a:latin typeface="Calibri" pitchFamily="34" charset="0"/>
                <a:ea typeface="Calibri" pitchFamily="34" charset="-122"/>
                <a:cs typeface="Calibri" pitchFamily="34" charset="-120"/>
              </a:rPr>
              <a:t>Students do not know how to report</a:t>
            </a:r>
            <a:endParaRPr lang="en-US" sz="1800" dirty="0"/>
          </a:p>
        </p:txBody>
      </p:sp>
      <p:sp>
        <p:nvSpPr>
          <p:cNvPr id="19" name="text-50"/>
          <p:cNvSpPr txBox="1"/>
          <p:nvPr/>
        </p:nvSpPr>
        <p:spPr>
          <a:xfrm>
            <a:off x="6812280" y="4389120"/>
            <a:ext cx="4800600" cy="594360"/>
          </a:xfrm>
          <a:prstGeom prst="rect">
            <a:avLst/>
          </a:prstGeom>
          <a:noFill/>
          <a:ln/>
        </p:spPr>
        <p:txBody>
          <a:bodyPr wrap="square" lIns="0" tIns="0" rIns="0" bIns="0" rtlCol="0" anchor="t"/>
          <a:lstStyle/>
          <a:p>
            <a:pPr marL="0" indent="0">
              <a:buNone/>
            </a:pPr>
            <a:r>
              <a:rPr lang="en-US" sz="1400" dirty="0">
                <a:solidFill>
                  <a:schemeClr val="tx2"/>
                </a:solidFill>
                <a:latin typeface="Calibri" pitchFamily="34" charset="0"/>
                <a:ea typeface="Calibri" pitchFamily="34" charset="-122"/>
                <a:cs typeface="Calibri" pitchFamily="34" charset="-120"/>
              </a:rPr>
              <a:t>No clear process, so small faults stay unreported until they break a lab session.</a:t>
            </a:r>
            <a:endParaRPr lang="en-US" sz="1400" dirty="0"/>
          </a:p>
        </p:txBody>
      </p:sp>
      <p:sp>
        <p:nvSpPr>
          <p:cNvPr id="20" name="card-51"/>
          <p:cNvSpPr/>
          <p:nvPr/>
        </p:nvSpPr>
        <p:spPr>
          <a:xfrm>
            <a:off x="5943600" y="5257800"/>
            <a:ext cx="5696712" cy="548640"/>
          </a:xfrm>
          <a:prstGeom prst="roundRect">
            <a:avLst>
              <a:gd name="adj" fmla="val 13333"/>
            </a:avLst>
          </a:prstGeom>
          <a:solidFill>
            <a:schemeClr val="bg2"/>
          </a:solidFill>
          <a:ln w="12700">
            <a:solidFill>
              <a:schemeClr val="bg2"/>
            </a:solidFill>
            <a:prstDash val="solid"/>
          </a:ln>
        </p:spPr>
      </p:sp>
      <p:sp>
        <p:nvSpPr>
          <p:cNvPr id="21" name="text-52"/>
          <p:cNvSpPr txBox="1"/>
          <p:nvPr/>
        </p:nvSpPr>
        <p:spPr>
          <a:xfrm>
            <a:off x="6172200" y="5257800"/>
            <a:ext cx="5303520" cy="548640"/>
          </a:xfrm>
          <a:prstGeom prst="rect">
            <a:avLst/>
          </a:prstGeom>
          <a:noFill/>
          <a:ln/>
        </p:spPr>
        <p:txBody>
          <a:bodyPr wrap="square" lIns="0" tIns="0" rIns="0" bIns="0" rtlCol="0" anchor="ctr"/>
          <a:lstStyle/>
          <a:p>
            <a:pPr marL="0" indent="0">
              <a:buNone/>
            </a:pPr>
            <a:r>
              <a:rPr lang="en-US" sz="1500" b="1" dirty="0">
                <a:solidFill>
                  <a:schemeClr val="accent1"/>
                </a:solidFill>
                <a:latin typeface="Calibri" pitchFamily="34" charset="0"/>
                <a:ea typeface="Calibri" pitchFamily="34" charset="-122"/>
                <a:cs typeface="Calibri" pitchFamily="34" charset="-120"/>
              </a:rPr>
              <a:t>Goal: </a:t>
            </a:r>
            <a:r>
              <a:rPr lang="en-US" sz="1500" dirty="0">
                <a:solidFill>
                  <a:schemeClr val="tx1"/>
                </a:solidFill>
                <a:latin typeface="Calibri" pitchFamily="34" charset="0"/>
                <a:ea typeface="Calibri" pitchFamily="34" charset="-122"/>
                <a:cs typeface="Calibri" pitchFamily="34" charset="-120"/>
              </a:rPr>
              <a:t>any phone, any machine, the full record in seconds.</a:t>
            </a:r>
            <a:endParaRPr lang="en-US" sz="15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47472"/>
            <a:ext cx="8229600" cy="274320"/>
          </a:xfrm>
          <a:prstGeom prst="rect">
            <a:avLst/>
          </a:prstGeom>
          <a:noFill/>
          <a:ln/>
        </p:spPr>
        <p:txBody>
          <a:bodyPr wrap="square" lIns="0" tIns="0" rIns="0" bIns="0" rtlCol="0" anchor="ctr"/>
          <a:lstStyle/>
          <a:p>
            <a:pPr marL="0" indent="0">
              <a:buNone/>
            </a:pPr>
            <a:r>
              <a:rPr lang="en-US" sz="1200" b="1" kern="0" spc="200" dirty="0">
                <a:solidFill>
                  <a:schemeClr val="accent1"/>
                </a:solidFill>
              </a:rPr>
              <a:t>THE SOLUTION</a:t>
            </a:r>
            <a:endParaRPr lang="en-US" sz="1200" dirty="0"/>
          </a:p>
        </p:txBody>
      </p:sp>
      <p:sp>
        <p:nvSpPr>
          <p:cNvPr id="3" name="Text 0"/>
          <p:cNvSpPr>
            <a:spLocks noGrp="1"/>
          </p:cNvSpPr>
          <p:nvPr>
            <p:ph type="title" idx="101" hasCustomPrompt="1"/>
          </p:nvPr>
        </p:nvSpPr>
        <p:spPr>
          <a:xfrm>
            <a:off x="548640" y="621792"/>
            <a:ext cx="11094415"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Every machine gets a passport you can scan</a:t>
            </a:r>
            <a:endParaRPr lang="en-US" sz="3000" dirty="0"/>
          </a:p>
        </p:txBody>
      </p:sp>
      <p:sp>
        <p:nvSpPr>
          <p:cNvPr id="4" name="card-53"/>
          <p:cNvSpPr/>
          <p:nvPr/>
        </p:nvSpPr>
        <p:spPr>
          <a:xfrm>
            <a:off x="548640" y="1600200"/>
            <a:ext cx="3429000" cy="2743200"/>
          </a:xfrm>
          <a:prstGeom prst="roundRect">
            <a:avLst>
              <a:gd name="adj" fmla="val 2667"/>
            </a:avLst>
          </a:prstGeom>
          <a:solidFill>
            <a:schemeClr val="bg2"/>
          </a:solidFill>
          <a:ln w="12700">
            <a:solidFill>
              <a:schemeClr val="bg2"/>
            </a:solidFill>
            <a:prstDash val="solid"/>
          </a:ln>
        </p:spPr>
      </p:sp>
      <p:sp>
        <p:nvSpPr>
          <p:cNvPr id="5" name="icon-bg-54"/>
          <p:cNvSpPr/>
          <p:nvPr/>
        </p:nvSpPr>
        <p:spPr>
          <a:xfrm>
            <a:off x="822960" y="1874520"/>
            <a:ext cx="640080" cy="640080"/>
          </a:xfrm>
          <a:prstGeom prst="ellipse">
            <a:avLst/>
          </a:prstGeom>
          <a:solidFill>
            <a:schemeClr val="accent1"/>
          </a:solidFill>
          <a:ln w="12700">
            <a:solidFill>
              <a:schemeClr val="accent1"/>
            </a:solidFill>
            <a:prstDash val="solid"/>
          </a:ln>
        </p:spPr>
      </p:sp>
      <p:pic>
        <p:nvPicPr>
          <p:cNvPr id="6" name="icon-55" descr="preencoded.png"/>
          <p:cNvPicPr>
            <a:picLocks noChangeAspect="1"/>
          </p:cNvPicPr>
          <p:nvPr/>
        </p:nvPicPr>
        <p:blipFill>
          <a:blip r:embed="rId3"/>
          <a:stretch>
            <a:fillRect/>
          </a:stretch>
        </p:blipFill>
        <p:spPr>
          <a:xfrm>
            <a:off x="976579" y="2028139"/>
            <a:ext cx="332842" cy="332842"/>
          </a:xfrm>
          <a:prstGeom prst="rect">
            <a:avLst/>
          </a:prstGeom>
        </p:spPr>
      </p:pic>
      <p:sp>
        <p:nvSpPr>
          <p:cNvPr id="7" name="text-56"/>
          <p:cNvSpPr txBox="1"/>
          <p:nvPr/>
        </p:nvSpPr>
        <p:spPr>
          <a:xfrm>
            <a:off x="3063240" y="1874520"/>
            <a:ext cx="640080" cy="457200"/>
          </a:xfrm>
          <a:prstGeom prst="rect">
            <a:avLst/>
          </a:prstGeom>
          <a:noFill/>
          <a:ln/>
        </p:spPr>
        <p:txBody>
          <a:bodyPr wrap="square" lIns="0" tIns="0" rIns="0" bIns="0" rtlCol="0" anchor="ctr"/>
          <a:lstStyle/>
          <a:p>
            <a:pPr marL="0" indent="0" algn="r">
              <a:buNone/>
            </a:pPr>
            <a:r>
              <a:rPr lang="en-US" sz="2400" b="1" dirty="0">
                <a:solidFill>
                  <a:schemeClr val="accent5"/>
                </a:solidFill>
                <a:latin typeface="Arial" pitchFamily="34" charset="0"/>
                <a:ea typeface="Arial" pitchFamily="34" charset="-122"/>
                <a:cs typeface="Arial" pitchFamily="34" charset="-120"/>
              </a:rPr>
              <a:t>01</a:t>
            </a:r>
            <a:endParaRPr lang="en-US" sz="2400" dirty="0"/>
          </a:p>
        </p:txBody>
      </p:sp>
      <p:sp>
        <p:nvSpPr>
          <p:cNvPr id="8" name="text-57"/>
          <p:cNvSpPr txBox="1"/>
          <p:nvPr/>
        </p:nvSpPr>
        <p:spPr>
          <a:xfrm>
            <a:off x="822960" y="2651760"/>
            <a:ext cx="2880360" cy="292608"/>
          </a:xfrm>
          <a:prstGeom prst="rect">
            <a:avLst/>
          </a:prstGeom>
          <a:noFill/>
          <a:ln/>
        </p:spPr>
        <p:txBody>
          <a:bodyPr wrap="square" lIns="0" tIns="0" rIns="0" bIns="0" rtlCol="0" anchor="ctr"/>
          <a:lstStyle/>
          <a:p>
            <a:pPr marL="0" indent="0">
              <a:buNone/>
            </a:pPr>
            <a:r>
              <a:rPr lang="en-US" sz="1300" b="1" kern="0" spc="200" dirty="0">
                <a:solidFill>
                  <a:schemeClr val="accent1"/>
                </a:solidFill>
                <a:latin typeface="Calibri" pitchFamily="34" charset="0"/>
                <a:ea typeface="Calibri" pitchFamily="34" charset="-122"/>
                <a:cs typeface="Calibri" pitchFamily="34" charset="-120"/>
              </a:rPr>
              <a:t>STICK</a:t>
            </a:r>
            <a:endParaRPr lang="en-US" sz="1300" dirty="0"/>
          </a:p>
        </p:txBody>
      </p:sp>
      <p:sp>
        <p:nvSpPr>
          <p:cNvPr id="9" name="text-58"/>
          <p:cNvSpPr txBox="1"/>
          <p:nvPr/>
        </p:nvSpPr>
        <p:spPr>
          <a:xfrm>
            <a:off x="822960" y="2953512"/>
            <a:ext cx="2880360" cy="548640"/>
          </a:xfrm>
          <a:prstGeom prst="rect">
            <a:avLst/>
          </a:prstGeom>
          <a:noFill/>
          <a:ln/>
        </p:spPr>
        <p:txBody>
          <a:bodyPr wrap="square" lIns="0" tIns="0" rIns="0" bIns="0" rtlCol="0" anchor="t"/>
          <a:lstStyle/>
          <a:p>
            <a:pPr marL="0" indent="0">
              <a:buNone/>
            </a:pPr>
            <a:r>
              <a:rPr lang="en-US" sz="1600" b="1" dirty="0">
                <a:solidFill>
                  <a:schemeClr val="tx1"/>
                </a:solidFill>
                <a:latin typeface="Calibri" pitchFamily="34" charset="0"/>
                <a:ea typeface="Calibri" pitchFamily="34" charset="-122"/>
                <a:cs typeface="Calibri" pitchFamily="34" charset="-120"/>
              </a:rPr>
              <a:t>Print a marker and stick it on the machine.</a:t>
            </a:r>
            <a:endParaRPr lang="en-US" sz="1600" dirty="0"/>
          </a:p>
        </p:txBody>
      </p:sp>
      <p:sp>
        <p:nvSpPr>
          <p:cNvPr id="10" name="text-59"/>
          <p:cNvSpPr txBox="1"/>
          <p:nvPr/>
        </p:nvSpPr>
        <p:spPr>
          <a:xfrm>
            <a:off x="822960" y="3520440"/>
            <a:ext cx="2880360" cy="731520"/>
          </a:xfrm>
          <a:prstGeom prst="rect">
            <a:avLst/>
          </a:prstGeom>
          <a:noFill/>
          <a:ln/>
        </p:spPr>
        <p:txBody>
          <a:bodyPr wrap="square" lIns="0" tIns="0" rIns="0" bIns="0" rtlCol="0" anchor="t"/>
          <a:lstStyle/>
          <a:p>
            <a:pPr marL="0" indent="0">
              <a:buNone/>
            </a:pPr>
            <a:r>
              <a:rPr lang="en-US" sz="1300" dirty="0">
                <a:solidFill>
                  <a:schemeClr val="tx2"/>
                </a:solidFill>
                <a:latin typeface="Calibri" pitchFamily="34" charset="0"/>
                <a:ea typeface="Calibri" pitchFamily="34" charset="-122"/>
                <a:cs typeface="Calibri" pitchFamily="34" charset="-120"/>
              </a:rPr>
              <a:t>One marker per asset, enforced by the database: MARK-001 belongs only to AST-001.</a:t>
            </a:r>
            <a:endParaRPr lang="en-US" sz="1300" dirty="0"/>
          </a:p>
        </p:txBody>
      </p:sp>
      <p:pic>
        <p:nvPicPr>
          <p:cNvPr id="11" name="arrow-60" descr="preencoded.png"/>
          <p:cNvPicPr>
            <a:picLocks noChangeAspect="1"/>
          </p:cNvPicPr>
          <p:nvPr/>
        </p:nvPicPr>
        <p:blipFill>
          <a:blip r:embed="rId4"/>
          <a:stretch>
            <a:fillRect/>
          </a:stretch>
        </p:blipFill>
        <p:spPr>
          <a:xfrm>
            <a:off x="4023360" y="2816352"/>
            <a:ext cx="310896" cy="310896"/>
          </a:xfrm>
          <a:prstGeom prst="rect">
            <a:avLst/>
          </a:prstGeom>
        </p:spPr>
      </p:pic>
      <p:sp>
        <p:nvSpPr>
          <p:cNvPr id="12" name="card-61"/>
          <p:cNvSpPr/>
          <p:nvPr/>
        </p:nvSpPr>
        <p:spPr>
          <a:xfrm>
            <a:off x="4379976" y="1600200"/>
            <a:ext cx="3429000" cy="2743200"/>
          </a:xfrm>
          <a:prstGeom prst="roundRect">
            <a:avLst>
              <a:gd name="adj" fmla="val 2667"/>
            </a:avLst>
          </a:prstGeom>
          <a:solidFill>
            <a:schemeClr val="bg2"/>
          </a:solidFill>
          <a:ln w="12700">
            <a:solidFill>
              <a:schemeClr val="bg2"/>
            </a:solidFill>
            <a:prstDash val="solid"/>
          </a:ln>
        </p:spPr>
      </p:sp>
      <p:sp>
        <p:nvSpPr>
          <p:cNvPr id="13" name="icon-bg-62"/>
          <p:cNvSpPr/>
          <p:nvPr/>
        </p:nvSpPr>
        <p:spPr>
          <a:xfrm>
            <a:off x="4654296" y="1874520"/>
            <a:ext cx="640080" cy="640080"/>
          </a:xfrm>
          <a:prstGeom prst="ellipse">
            <a:avLst/>
          </a:prstGeom>
          <a:solidFill>
            <a:schemeClr val="accent1"/>
          </a:solidFill>
          <a:ln w="12700">
            <a:solidFill>
              <a:schemeClr val="accent1"/>
            </a:solidFill>
            <a:prstDash val="solid"/>
          </a:ln>
        </p:spPr>
      </p:sp>
      <p:pic>
        <p:nvPicPr>
          <p:cNvPr id="14" name="icon-63" descr="preencoded.png"/>
          <p:cNvPicPr>
            <a:picLocks noChangeAspect="1"/>
          </p:cNvPicPr>
          <p:nvPr/>
        </p:nvPicPr>
        <p:blipFill>
          <a:blip r:embed="rId5"/>
          <a:stretch>
            <a:fillRect/>
          </a:stretch>
        </p:blipFill>
        <p:spPr>
          <a:xfrm>
            <a:off x="4807915" y="2028139"/>
            <a:ext cx="332842" cy="332842"/>
          </a:xfrm>
          <a:prstGeom prst="rect">
            <a:avLst/>
          </a:prstGeom>
        </p:spPr>
      </p:pic>
      <p:sp>
        <p:nvSpPr>
          <p:cNvPr id="15" name="text-64"/>
          <p:cNvSpPr txBox="1"/>
          <p:nvPr/>
        </p:nvSpPr>
        <p:spPr>
          <a:xfrm>
            <a:off x="6894576" y="1874520"/>
            <a:ext cx="640080" cy="457200"/>
          </a:xfrm>
          <a:prstGeom prst="rect">
            <a:avLst/>
          </a:prstGeom>
          <a:noFill/>
          <a:ln/>
        </p:spPr>
        <p:txBody>
          <a:bodyPr wrap="square" lIns="0" tIns="0" rIns="0" bIns="0" rtlCol="0" anchor="ctr"/>
          <a:lstStyle/>
          <a:p>
            <a:pPr marL="0" indent="0" algn="r">
              <a:buNone/>
            </a:pPr>
            <a:r>
              <a:rPr lang="en-US" sz="2400" b="1" dirty="0">
                <a:solidFill>
                  <a:schemeClr val="accent5"/>
                </a:solidFill>
                <a:latin typeface="Arial" pitchFamily="34" charset="0"/>
                <a:ea typeface="Arial" pitchFamily="34" charset="-122"/>
                <a:cs typeface="Arial" pitchFamily="34" charset="-120"/>
              </a:rPr>
              <a:t>02</a:t>
            </a:r>
            <a:endParaRPr lang="en-US" sz="2400" dirty="0"/>
          </a:p>
        </p:txBody>
      </p:sp>
      <p:sp>
        <p:nvSpPr>
          <p:cNvPr id="16" name="text-65"/>
          <p:cNvSpPr txBox="1"/>
          <p:nvPr/>
        </p:nvSpPr>
        <p:spPr>
          <a:xfrm>
            <a:off x="4654296" y="2651760"/>
            <a:ext cx="2880360" cy="292608"/>
          </a:xfrm>
          <a:prstGeom prst="rect">
            <a:avLst/>
          </a:prstGeom>
          <a:noFill/>
          <a:ln/>
        </p:spPr>
        <p:txBody>
          <a:bodyPr wrap="square" lIns="0" tIns="0" rIns="0" bIns="0" rtlCol="0" anchor="ctr"/>
          <a:lstStyle/>
          <a:p>
            <a:pPr marL="0" indent="0">
              <a:buNone/>
            </a:pPr>
            <a:r>
              <a:rPr lang="en-US" sz="1300" b="1" kern="0" spc="200" dirty="0">
                <a:solidFill>
                  <a:schemeClr val="accent1"/>
                </a:solidFill>
                <a:latin typeface="Calibri" pitchFamily="34" charset="0"/>
                <a:ea typeface="Calibri" pitchFamily="34" charset="-122"/>
                <a:cs typeface="Calibri" pitchFamily="34" charset="-120"/>
              </a:rPr>
              <a:t>SCAN</a:t>
            </a:r>
            <a:endParaRPr lang="en-US" sz="1300" dirty="0"/>
          </a:p>
        </p:txBody>
      </p:sp>
      <p:sp>
        <p:nvSpPr>
          <p:cNvPr id="17" name="text-66"/>
          <p:cNvSpPr txBox="1"/>
          <p:nvPr/>
        </p:nvSpPr>
        <p:spPr>
          <a:xfrm>
            <a:off x="4654296" y="2953512"/>
            <a:ext cx="2880360" cy="548640"/>
          </a:xfrm>
          <a:prstGeom prst="rect">
            <a:avLst/>
          </a:prstGeom>
          <a:noFill/>
          <a:ln/>
        </p:spPr>
        <p:txBody>
          <a:bodyPr wrap="square" lIns="0" tIns="0" rIns="0" bIns="0" rtlCol="0" anchor="t"/>
          <a:lstStyle/>
          <a:p>
            <a:pPr marL="0" indent="0">
              <a:buNone/>
            </a:pPr>
            <a:r>
              <a:rPr lang="en-US" sz="1600" b="1" dirty="0">
                <a:solidFill>
                  <a:schemeClr val="tx1"/>
                </a:solidFill>
                <a:latin typeface="Calibri" pitchFamily="34" charset="0"/>
                <a:ea typeface="Calibri" pitchFamily="34" charset="-122"/>
                <a:cs typeface="Calibri" pitchFamily="34" charset="-120"/>
              </a:rPr>
              <a:t>Open the scanner URL and point the camera.</a:t>
            </a:r>
            <a:endParaRPr lang="en-US" sz="1600" dirty="0"/>
          </a:p>
        </p:txBody>
      </p:sp>
      <p:sp>
        <p:nvSpPr>
          <p:cNvPr id="18" name="text-67"/>
          <p:cNvSpPr txBox="1"/>
          <p:nvPr/>
        </p:nvSpPr>
        <p:spPr>
          <a:xfrm>
            <a:off x="4654296" y="3520440"/>
            <a:ext cx="2880360" cy="731520"/>
          </a:xfrm>
          <a:prstGeom prst="rect">
            <a:avLst/>
          </a:prstGeom>
          <a:noFill/>
          <a:ln/>
        </p:spPr>
        <p:txBody>
          <a:bodyPr wrap="square" lIns="0" tIns="0" rIns="0" bIns="0" rtlCol="0" anchor="t"/>
          <a:lstStyle/>
          <a:p>
            <a:pPr marL="0" indent="0">
              <a:buNone/>
            </a:pPr>
            <a:r>
              <a:rPr lang="en-US" sz="1300" dirty="0">
                <a:solidFill>
                  <a:schemeClr val="tx2"/>
                </a:solidFill>
                <a:latin typeface="Calibri" pitchFamily="34" charset="0"/>
                <a:ea typeface="Calibri" pitchFamily="34" charset="-122"/>
                <a:cs typeface="Calibri" pitchFamily="34" charset="-120"/>
              </a:rPr>
              <a:t>MindAR recognises the image inside the phone browser. Only the marker ID is sent to the server.</a:t>
            </a:r>
            <a:endParaRPr lang="en-US" sz="1300" dirty="0"/>
          </a:p>
        </p:txBody>
      </p:sp>
      <p:pic>
        <p:nvPicPr>
          <p:cNvPr id="19" name="arrow-68" descr="preencoded.png"/>
          <p:cNvPicPr>
            <a:picLocks noChangeAspect="1"/>
          </p:cNvPicPr>
          <p:nvPr/>
        </p:nvPicPr>
        <p:blipFill>
          <a:blip r:embed="rId4"/>
          <a:stretch>
            <a:fillRect/>
          </a:stretch>
        </p:blipFill>
        <p:spPr>
          <a:xfrm>
            <a:off x="7854696" y="2816352"/>
            <a:ext cx="310896" cy="310896"/>
          </a:xfrm>
          <a:prstGeom prst="rect">
            <a:avLst/>
          </a:prstGeom>
        </p:spPr>
      </p:pic>
      <p:sp>
        <p:nvSpPr>
          <p:cNvPr id="20" name="card-69"/>
          <p:cNvSpPr/>
          <p:nvPr/>
        </p:nvSpPr>
        <p:spPr>
          <a:xfrm>
            <a:off x="8211312" y="1600200"/>
            <a:ext cx="3429000" cy="2743200"/>
          </a:xfrm>
          <a:prstGeom prst="roundRect">
            <a:avLst>
              <a:gd name="adj" fmla="val 2667"/>
            </a:avLst>
          </a:prstGeom>
          <a:solidFill>
            <a:schemeClr val="bg2"/>
          </a:solidFill>
          <a:ln w="12700">
            <a:solidFill>
              <a:schemeClr val="bg2"/>
            </a:solidFill>
            <a:prstDash val="solid"/>
          </a:ln>
        </p:spPr>
      </p:sp>
      <p:sp>
        <p:nvSpPr>
          <p:cNvPr id="21" name="icon-bg-70"/>
          <p:cNvSpPr/>
          <p:nvPr/>
        </p:nvSpPr>
        <p:spPr>
          <a:xfrm>
            <a:off x="8485632" y="1874520"/>
            <a:ext cx="640080" cy="640080"/>
          </a:xfrm>
          <a:prstGeom prst="ellipse">
            <a:avLst/>
          </a:prstGeom>
          <a:solidFill>
            <a:schemeClr val="accent1"/>
          </a:solidFill>
          <a:ln w="12700">
            <a:solidFill>
              <a:schemeClr val="accent1"/>
            </a:solidFill>
            <a:prstDash val="solid"/>
          </a:ln>
        </p:spPr>
      </p:sp>
      <p:pic>
        <p:nvPicPr>
          <p:cNvPr id="22" name="icon-71" descr="preencoded.png"/>
          <p:cNvPicPr>
            <a:picLocks noChangeAspect="1"/>
          </p:cNvPicPr>
          <p:nvPr/>
        </p:nvPicPr>
        <p:blipFill>
          <a:blip r:embed="rId6"/>
          <a:stretch>
            <a:fillRect/>
          </a:stretch>
        </p:blipFill>
        <p:spPr>
          <a:xfrm>
            <a:off x="8639251" y="2028139"/>
            <a:ext cx="332842" cy="332842"/>
          </a:xfrm>
          <a:prstGeom prst="rect">
            <a:avLst/>
          </a:prstGeom>
        </p:spPr>
      </p:pic>
      <p:sp>
        <p:nvSpPr>
          <p:cNvPr id="23" name="text-72"/>
          <p:cNvSpPr txBox="1"/>
          <p:nvPr/>
        </p:nvSpPr>
        <p:spPr>
          <a:xfrm>
            <a:off x="10725912" y="1874520"/>
            <a:ext cx="640080" cy="457200"/>
          </a:xfrm>
          <a:prstGeom prst="rect">
            <a:avLst/>
          </a:prstGeom>
          <a:noFill/>
          <a:ln/>
        </p:spPr>
        <p:txBody>
          <a:bodyPr wrap="square" lIns="0" tIns="0" rIns="0" bIns="0" rtlCol="0" anchor="ctr"/>
          <a:lstStyle/>
          <a:p>
            <a:pPr marL="0" indent="0" algn="r">
              <a:buNone/>
            </a:pPr>
            <a:r>
              <a:rPr lang="en-US" sz="2400" b="1" dirty="0">
                <a:solidFill>
                  <a:schemeClr val="accent5"/>
                </a:solidFill>
                <a:latin typeface="Arial" pitchFamily="34" charset="0"/>
                <a:ea typeface="Arial" pitchFamily="34" charset="-122"/>
                <a:cs typeface="Arial" pitchFamily="34" charset="-120"/>
              </a:rPr>
              <a:t>03</a:t>
            </a:r>
            <a:endParaRPr lang="en-US" sz="2400" dirty="0"/>
          </a:p>
        </p:txBody>
      </p:sp>
      <p:sp>
        <p:nvSpPr>
          <p:cNvPr id="24" name="text-73"/>
          <p:cNvSpPr txBox="1"/>
          <p:nvPr/>
        </p:nvSpPr>
        <p:spPr>
          <a:xfrm>
            <a:off x="8485632" y="2651760"/>
            <a:ext cx="2880360" cy="292608"/>
          </a:xfrm>
          <a:prstGeom prst="rect">
            <a:avLst/>
          </a:prstGeom>
          <a:noFill/>
          <a:ln/>
        </p:spPr>
        <p:txBody>
          <a:bodyPr wrap="square" lIns="0" tIns="0" rIns="0" bIns="0" rtlCol="0" anchor="ctr"/>
          <a:lstStyle/>
          <a:p>
            <a:pPr marL="0" indent="0">
              <a:buNone/>
            </a:pPr>
            <a:r>
              <a:rPr lang="en-US" sz="1300" b="1" kern="0" spc="200" dirty="0">
                <a:solidFill>
                  <a:schemeClr val="accent1"/>
                </a:solidFill>
                <a:latin typeface="Calibri" pitchFamily="34" charset="0"/>
                <a:ea typeface="Calibri" pitchFamily="34" charset="-122"/>
                <a:cs typeface="Calibri" pitchFamily="34" charset="-120"/>
              </a:rPr>
              <a:t>KNOW &amp; ACT</a:t>
            </a:r>
            <a:endParaRPr lang="en-US" sz="1300" dirty="0"/>
          </a:p>
        </p:txBody>
      </p:sp>
      <p:sp>
        <p:nvSpPr>
          <p:cNvPr id="25" name="text-74"/>
          <p:cNvSpPr txBox="1"/>
          <p:nvPr/>
        </p:nvSpPr>
        <p:spPr>
          <a:xfrm>
            <a:off x="8485632" y="2953512"/>
            <a:ext cx="2880360" cy="548640"/>
          </a:xfrm>
          <a:prstGeom prst="rect">
            <a:avLst/>
          </a:prstGeom>
          <a:noFill/>
          <a:ln/>
        </p:spPr>
        <p:txBody>
          <a:bodyPr wrap="square" lIns="0" tIns="0" rIns="0" bIns="0" rtlCol="0" anchor="t"/>
          <a:lstStyle/>
          <a:p>
            <a:pPr marL="0" indent="0">
              <a:buNone/>
            </a:pPr>
            <a:r>
              <a:rPr lang="en-US" sz="1600" b="1" dirty="0">
                <a:solidFill>
                  <a:schemeClr val="tx1"/>
                </a:solidFill>
                <a:latin typeface="Calibri" pitchFamily="34" charset="0"/>
                <a:ea typeface="Calibri" pitchFamily="34" charset="-122"/>
                <a:cs typeface="Calibri" pitchFamily="34" charset="-120"/>
              </a:rPr>
              <a:t>The passport opens over the camera view.</a:t>
            </a:r>
            <a:endParaRPr lang="en-US" sz="1600" dirty="0"/>
          </a:p>
        </p:txBody>
      </p:sp>
      <p:sp>
        <p:nvSpPr>
          <p:cNvPr id="26" name="text-75"/>
          <p:cNvSpPr txBox="1"/>
          <p:nvPr/>
        </p:nvSpPr>
        <p:spPr>
          <a:xfrm>
            <a:off x="8485632" y="3520440"/>
            <a:ext cx="2880360" cy="731520"/>
          </a:xfrm>
          <a:prstGeom prst="rect">
            <a:avLst/>
          </a:prstGeom>
          <a:noFill/>
          <a:ln/>
        </p:spPr>
        <p:txBody>
          <a:bodyPr wrap="square" lIns="0" tIns="0" rIns="0" bIns="0" rtlCol="0" anchor="t"/>
          <a:lstStyle/>
          <a:p>
            <a:pPr marL="0" indent="0">
              <a:buNone/>
            </a:pPr>
            <a:r>
              <a:rPr lang="en-US" sz="1300" dirty="0">
                <a:solidFill>
                  <a:schemeClr val="tx2"/>
                </a:solidFill>
                <a:latin typeface="Calibri" pitchFamily="34" charset="0"/>
                <a:ea typeface="Calibri" pitchFamily="34" charset="-122"/>
                <a:cs typeface="Calibri" pitchFamily="34" charset="-120"/>
              </a:rPr>
              <a:t>Status, room, last and next service. View history or report a fault in one tap.</a:t>
            </a:r>
            <a:endParaRPr lang="en-US" sz="1300" dirty="0"/>
          </a:p>
        </p:txBody>
      </p:sp>
      <p:sp>
        <p:nvSpPr>
          <p:cNvPr id="27" name="card-76"/>
          <p:cNvSpPr/>
          <p:nvPr/>
        </p:nvSpPr>
        <p:spPr>
          <a:xfrm>
            <a:off x="548640" y="4617720"/>
            <a:ext cx="11094415" cy="1234440"/>
          </a:xfrm>
          <a:prstGeom prst="roundRect">
            <a:avLst>
              <a:gd name="adj" fmla="val 5926"/>
            </a:avLst>
          </a:prstGeom>
          <a:solidFill>
            <a:schemeClr val="tx1"/>
          </a:solidFill>
          <a:ln w="12700">
            <a:solidFill>
              <a:schemeClr val="tx1"/>
            </a:solidFill>
            <a:prstDash val="solid"/>
          </a:ln>
        </p:spPr>
      </p:sp>
      <p:sp>
        <p:nvSpPr>
          <p:cNvPr id="28" name="text-77"/>
          <p:cNvSpPr txBox="1"/>
          <p:nvPr/>
        </p:nvSpPr>
        <p:spPr>
          <a:xfrm>
            <a:off x="868680" y="4754880"/>
            <a:ext cx="2743200" cy="256032"/>
          </a:xfrm>
          <a:prstGeom prst="rect">
            <a:avLst/>
          </a:prstGeom>
          <a:noFill/>
          <a:ln/>
        </p:spPr>
        <p:txBody>
          <a:bodyPr wrap="square" lIns="0" tIns="0" rIns="0" bIns="0" rtlCol="0" anchor="ctr"/>
          <a:lstStyle/>
          <a:p>
            <a:pPr marL="0" indent="0">
              <a:buNone/>
            </a:pPr>
            <a:r>
              <a:rPr lang="en-US" sz="1100" b="1" kern="0" spc="200" dirty="0">
                <a:solidFill>
                  <a:schemeClr val="accent2"/>
                </a:solidFill>
                <a:latin typeface="Calibri" pitchFamily="34" charset="0"/>
                <a:ea typeface="Calibri" pitchFamily="34" charset="-122"/>
                <a:cs typeface="Calibri" pitchFamily="34" charset="-120"/>
              </a:rPr>
              <a:t>RUNNING EXAMPLE</a:t>
            </a:r>
            <a:endParaRPr lang="en-US" sz="1100" dirty="0"/>
          </a:p>
        </p:txBody>
      </p:sp>
      <p:sp>
        <p:nvSpPr>
          <p:cNvPr id="29" name="chip-78"/>
          <p:cNvSpPr txBox="1"/>
          <p:nvPr/>
        </p:nvSpPr>
        <p:spPr>
          <a:xfrm>
            <a:off x="868680" y="5138928"/>
            <a:ext cx="1234440" cy="365760"/>
          </a:xfrm>
          <a:prstGeom prst="roundRect">
            <a:avLst>
              <a:gd name="adj" fmla="val 15000"/>
            </a:avLst>
          </a:prstGeom>
          <a:solidFill>
            <a:schemeClr val="accent2"/>
          </a:solidFill>
          <a:ln>
            <a:solidFill>
              <a:schemeClr val="accent2"/>
            </a:solidFill>
          </a:ln>
        </p:spPr>
        <p:txBody>
          <a:bodyPr wrap="square" lIns="0" tIns="0" rIns="0" bIns="0" rtlCol="0" anchor="ctr"/>
          <a:lstStyle/>
          <a:p>
            <a:pPr marL="0" indent="0" algn="ctr">
              <a:buNone/>
            </a:pPr>
            <a:r>
              <a:rPr lang="en-US" sz="1300" b="1" dirty="0">
                <a:solidFill>
                  <a:schemeClr val="tx1"/>
                </a:solidFill>
                <a:latin typeface="Courier New" pitchFamily="34" charset="0"/>
                <a:ea typeface="Courier New" pitchFamily="34" charset="-122"/>
                <a:cs typeface="Courier New" pitchFamily="34" charset="-120"/>
              </a:rPr>
              <a:t>MARK-001</a:t>
            </a:r>
            <a:endParaRPr lang="en-US" sz="1300" dirty="0"/>
          </a:p>
        </p:txBody>
      </p:sp>
      <p:pic>
        <p:nvPicPr>
          <p:cNvPr id="30" name="arrow-79" descr="preencoded.png"/>
          <p:cNvPicPr>
            <a:picLocks noChangeAspect="1"/>
          </p:cNvPicPr>
          <p:nvPr/>
        </p:nvPicPr>
        <p:blipFill>
          <a:blip r:embed="rId4"/>
          <a:stretch>
            <a:fillRect/>
          </a:stretch>
        </p:blipFill>
        <p:spPr>
          <a:xfrm>
            <a:off x="2194560" y="5184648"/>
            <a:ext cx="274320" cy="274320"/>
          </a:xfrm>
          <a:prstGeom prst="rect">
            <a:avLst/>
          </a:prstGeom>
        </p:spPr>
      </p:pic>
      <p:sp>
        <p:nvSpPr>
          <p:cNvPr id="31" name="chip-80"/>
          <p:cNvSpPr txBox="1"/>
          <p:nvPr/>
        </p:nvSpPr>
        <p:spPr>
          <a:xfrm>
            <a:off x="2560320" y="5138928"/>
            <a:ext cx="1143000" cy="365760"/>
          </a:xfrm>
          <a:prstGeom prst="roundRect">
            <a:avLst>
              <a:gd name="adj" fmla="val 15000"/>
            </a:avLst>
          </a:prstGeom>
          <a:solidFill>
            <a:schemeClr val="accent1"/>
          </a:solidFill>
          <a:ln>
            <a:solidFill>
              <a:schemeClr val="accent1"/>
            </a:solidFill>
          </a:ln>
        </p:spPr>
        <p:txBody>
          <a:bodyPr wrap="square" lIns="0" tIns="0" rIns="0" bIns="0" rtlCol="0" anchor="ctr"/>
          <a:lstStyle/>
          <a:p>
            <a:pPr marL="0" indent="0" algn="ctr">
              <a:buNone/>
            </a:pPr>
            <a:r>
              <a:rPr lang="en-US" sz="1300" b="1" dirty="0">
                <a:solidFill>
                  <a:schemeClr val="bg1"/>
                </a:solidFill>
                <a:latin typeface="Courier New" pitchFamily="34" charset="0"/>
                <a:ea typeface="Courier New" pitchFamily="34" charset="-122"/>
                <a:cs typeface="Courier New" pitchFamily="34" charset="-120"/>
              </a:rPr>
              <a:t>AST-001</a:t>
            </a:r>
            <a:endParaRPr lang="en-US" sz="1300" dirty="0"/>
          </a:p>
        </p:txBody>
      </p:sp>
      <p:sp>
        <p:nvSpPr>
          <p:cNvPr id="32" name="text-81"/>
          <p:cNvSpPr txBox="1"/>
          <p:nvPr/>
        </p:nvSpPr>
        <p:spPr>
          <a:xfrm>
            <a:off x="3931920" y="5074920"/>
            <a:ext cx="7498080" cy="502920"/>
          </a:xfrm>
          <a:prstGeom prst="rect">
            <a:avLst/>
          </a:prstGeom>
          <a:noFill/>
          <a:ln/>
        </p:spPr>
        <p:txBody>
          <a:bodyPr wrap="square" lIns="0" tIns="0" rIns="0" bIns="0" rtlCol="0" anchor="ctr"/>
          <a:lstStyle/>
          <a:p>
            <a:pPr marL="0" indent="0">
              <a:buNone/>
            </a:pPr>
            <a:r>
              <a:rPr lang="en-US" sz="1500" b="1" dirty="0">
                <a:solidFill>
                  <a:schemeClr val="bg1"/>
                </a:solidFill>
                <a:latin typeface="Calibri" pitchFamily="34" charset="0"/>
                <a:ea typeface="Calibri" pitchFamily="34" charset="-122"/>
                <a:cs typeface="Calibri" pitchFamily="34" charset="-120"/>
              </a:rPr>
              <a:t>Epson EB-X49 Projector</a:t>
            </a:r>
            <a:r>
              <a:rPr lang="en-US" sz="1500" dirty="0">
                <a:solidFill>
                  <a:schemeClr val="accent5"/>
                </a:solidFill>
                <a:latin typeface="Calibri" pitchFamily="34" charset="0"/>
                <a:ea typeface="Calibri" pitchFamily="34" charset="-122"/>
                <a:cs typeface="Calibri" pitchFamily="34" charset="-120"/>
              </a:rPr>
              <a:t>  ·  Computer Lab 6  ·  operational  ·  2 service records</a:t>
            </a:r>
            <a:endParaRPr lang="en-US" sz="1500" dirty="0"/>
          </a:p>
        </p:txBody>
      </p:sp>
      <p:sp>
        <p:nvSpPr>
          <p:cNvPr id="33"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47472"/>
            <a:ext cx="8229600" cy="274320"/>
          </a:xfrm>
          <a:prstGeom prst="rect">
            <a:avLst/>
          </a:prstGeom>
          <a:noFill/>
          <a:ln/>
        </p:spPr>
        <p:txBody>
          <a:bodyPr wrap="square" lIns="0" tIns="0" rIns="0" bIns="0" rtlCol="0" anchor="ctr"/>
          <a:lstStyle/>
          <a:p>
            <a:pPr marL="0" indent="0">
              <a:buNone/>
            </a:pPr>
            <a:r>
              <a:rPr lang="en-US" sz="1200" b="1" kern="0" spc="200" dirty="0">
                <a:solidFill>
                  <a:schemeClr val="accent1"/>
                </a:solidFill>
              </a:rPr>
              <a:t>AT A GLANCE</a:t>
            </a:r>
            <a:endParaRPr lang="en-US" sz="1200" dirty="0"/>
          </a:p>
        </p:txBody>
      </p:sp>
      <p:sp>
        <p:nvSpPr>
          <p:cNvPr id="3" name="Text 0"/>
          <p:cNvSpPr>
            <a:spLocks noGrp="1"/>
          </p:cNvSpPr>
          <p:nvPr>
            <p:ph type="title" idx="101" hasCustomPrompt="1"/>
          </p:nvPr>
        </p:nvSpPr>
        <p:spPr>
          <a:xfrm>
            <a:off x="548640" y="621792"/>
            <a:ext cx="11094415"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Built, deployed and tested end to end</a:t>
            </a:r>
            <a:endParaRPr lang="en-US" sz="3000" dirty="0"/>
          </a:p>
        </p:txBody>
      </p:sp>
      <p:sp>
        <p:nvSpPr>
          <p:cNvPr id="4" name="card-82"/>
          <p:cNvSpPr/>
          <p:nvPr/>
        </p:nvSpPr>
        <p:spPr>
          <a:xfrm>
            <a:off x="548640" y="1645920"/>
            <a:ext cx="3484778" cy="2057400"/>
          </a:xfrm>
          <a:prstGeom prst="roundRect">
            <a:avLst>
              <a:gd name="adj" fmla="val 3556"/>
            </a:avLst>
          </a:prstGeom>
          <a:solidFill>
            <a:schemeClr val="bg2"/>
          </a:solidFill>
          <a:ln w="12700">
            <a:solidFill>
              <a:schemeClr val="bg2"/>
            </a:solidFill>
            <a:prstDash val="solid"/>
          </a:ln>
        </p:spPr>
      </p:sp>
      <p:sp>
        <p:nvSpPr>
          <p:cNvPr id="5" name="text-83"/>
          <p:cNvSpPr txBox="1"/>
          <p:nvPr/>
        </p:nvSpPr>
        <p:spPr>
          <a:xfrm>
            <a:off x="868680" y="1920240"/>
            <a:ext cx="2844698" cy="868680"/>
          </a:xfrm>
          <a:prstGeom prst="rect">
            <a:avLst/>
          </a:prstGeom>
          <a:noFill/>
          <a:ln/>
        </p:spPr>
        <p:txBody>
          <a:bodyPr wrap="square" lIns="0" tIns="0" rIns="0" bIns="0" rtlCol="0" anchor="ctr"/>
          <a:lstStyle/>
          <a:p>
            <a:pPr marL="0" indent="0">
              <a:buNone/>
            </a:pPr>
            <a:r>
              <a:rPr lang="en-US" sz="5400" b="1" dirty="0">
                <a:solidFill>
                  <a:schemeClr val="accent1"/>
                </a:solidFill>
                <a:latin typeface="Arial" pitchFamily="34" charset="0"/>
                <a:ea typeface="Arial" pitchFamily="34" charset="-122"/>
                <a:cs typeface="Arial" pitchFamily="34" charset="-120"/>
              </a:rPr>
              <a:t>&lt; 3 s</a:t>
            </a:r>
            <a:endParaRPr lang="en-US" sz="5400" dirty="0"/>
          </a:p>
        </p:txBody>
      </p:sp>
      <p:sp>
        <p:nvSpPr>
          <p:cNvPr id="6" name="text-84"/>
          <p:cNvSpPr txBox="1"/>
          <p:nvPr/>
        </p:nvSpPr>
        <p:spPr>
          <a:xfrm>
            <a:off x="868680" y="2880360"/>
            <a:ext cx="2844698" cy="640080"/>
          </a:xfrm>
          <a:prstGeom prst="rect">
            <a:avLst/>
          </a:prstGeom>
          <a:noFill/>
          <a:ln/>
        </p:spPr>
        <p:txBody>
          <a:bodyPr wrap="square" lIns="0" tIns="0" rIns="0" bIns="0" rtlCol="0" anchor="t"/>
          <a:lstStyle/>
          <a:p>
            <a:pPr marL="0" indent="0">
              <a:buNone/>
            </a:pPr>
            <a:r>
              <a:rPr lang="en-US" sz="1500" dirty="0">
                <a:solidFill>
                  <a:schemeClr val="tx2"/>
                </a:solidFill>
                <a:latin typeface="Calibri" pitchFamily="34" charset="0"/>
                <a:ea typeface="Calibri" pitchFamily="34" charset="-122"/>
                <a:cs typeface="Calibri" pitchFamily="34" charset="-120"/>
              </a:rPr>
              <a:t>from pointing the camera to the passport on screen</a:t>
            </a:r>
            <a:endParaRPr lang="en-US" sz="1500" dirty="0"/>
          </a:p>
        </p:txBody>
      </p:sp>
      <p:sp>
        <p:nvSpPr>
          <p:cNvPr id="7" name="card-85"/>
          <p:cNvSpPr/>
          <p:nvPr/>
        </p:nvSpPr>
        <p:spPr>
          <a:xfrm>
            <a:off x="4353458" y="1645920"/>
            <a:ext cx="3484778" cy="2057400"/>
          </a:xfrm>
          <a:prstGeom prst="roundRect">
            <a:avLst>
              <a:gd name="adj" fmla="val 3556"/>
            </a:avLst>
          </a:prstGeom>
          <a:solidFill>
            <a:schemeClr val="bg2"/>
          </a:solidFill>
          <a:ln w="12700">
            <a:solidFill>
              <a:schemeClr val="bg2"/>
            </a:solidFill>
            <a:prstDash val="solid"/>
          </a:ln>
        </p:spPr>
      </p:sp>
      <p:sp>
        <p:nvSpPr>
          <p:cNvPr id="8" name="text-86"/>
          <p:cNvSpPr txBox="1"/>
          <p:nvPr/>
        </p:nvSpPr>
        <p:spPr>
          <a:xfrm>
            <a:off x="4673498" y="1920240"/>
            <a:ext cx="2844698" cy="868680"/>
          </a:xfrm>
          <a:prstGeom prst="rect">
            <a:avLst/>
          </a:prstGeom>
          <a:noFill/>
          <a:ln/>
        </p:spPr>
        <p:txBody>
          <a:bodyPr wrap="square" lIns="0" tIns="0" rIns="0" bIns="0" rtlCol="0" anchor="ctr"/>
          <a:lstStyle/>
          <a:p>
            <a:pPr marL="0" indent="0">
              <a:buNone/>
            </a:pPr>
            <a:r>
              <a:rPr lang="en-US" sz="5400" b="1" dirty="0">
                <a:solidFill>
                  <a:schemeClr val="accent1"/>
                </a:solidFill>
                <a:latin typeface="Arial" pitchFamily="34" charset="0"/>
                <a:ea typeface="Arial" pitchFamily="34" charset="-122"/>
                <a:cs typeface="Arial" pitchFamily="34" charset="-120"/>
              </a:rPr>
              <a:t>0</a:t>
            </a:r>
            <a:endParaRPr lang="en-US" sz="5400" dirty="0"/>
          </a:p>
        </p:txBody>
      </p:sp>
      <p:sp>
        <p:nvSpPr>
          <p:cNvPr id="9" name="text-87"/>
          <p:cNvSpPr txBox="1"/>
          <p:nvPr/>
        </p:nvSpPr>
        <p:spPr>
          <a:xfrm>
            <a:off x="4673498" y="2880360"/>
            <a:ext cx="2844698" cy="640080"/>
          </a:xfrm>
          <a:prstGeom prst="rect">
            <a:avLst/>
          </a:prstGeom>
          <a:noFill/>
          <a:ln/>
        </p:spPr>
        <p:txBody>
          <a:bodyPr wrap="square" lIns="0" tIns="0" rIns="0" bIns="0" rtlCol="0" anchor="t"/>
          <a:lstStyle/>
          <a:p>
            <a:pPr marL="0" indent="0">
              <a:buNone/>
            </a:pPr>
            <a:r>
              <a:rPr lang="en-US" sz="1500" dirty="0">
                <a:solidFill>
                  <a:schemeClr val="tx2"/>
                </a:solidFill>
                <a:latin typeface="Calibri" pitchFamily="34" charset="0"/>
                <a:ea typeface="Calibri" pitchFamily="34" charset="-122"/>
                <a:cs typeface="Calibri" pitchFamily="34" charset="-120"/>
              </a:rPr>
              <a:t>apps to install: the scanner is a web page</a:t>
            </a:r>
            <a:endParaRPr lang="en-US" sz="1500" dirty="0"/>
          </a:p>
        </p:txBody>
      </p:sp>
      <p:sp>
        <p:nvSpPr>
          <p:cNvPr id="10" name="card-88"/>
          <p:cNvSpPr/>
          <p:nvPr/>
        </p:nvSpPr>
        <p:spPr>
          <a:xfrm>
            <a:off x="8158277" y="1645920"/>
            <a:ext cx="3484778" cy="2057400"/>
          </a:xfrm>
          <a:prstGeom prst="roundRect">
            <a:avLst>
              <a:gd name="adj" fmla="val 3556"/>
            </a:avLst>
          </a:prstGeom>
          <a:solidFill>
            <a:schemeClr val="bg2"/>
          </a:solidFill>
          <a:ln w="12700">
            <a:solidFill>
              <a:schemeClr val="bg2"/>
            </a:solidFill>
            <a:prstDash val="solid"/>
          </a:ln>
        </p:spPr>
      </p:sp>
      <p:sp>
        <p:nvSpPr>
          <p:cNvPr id="11" name="text-89"/>
          <p:cNvSpPr txBox="1"/>
          <p:nvPr/>
        </p:nvSpPr>
        <p:spPr>
          <a:xfrm>
            <a:off x="8478317" y="1920240"/>
            <a:ext cx="2844698" cy="868680"/>
          </a:xfrm>
          <a:prstGeom prst="rect">
            <a:avLst/>
          </a:prstGeom>
          <a:noFill/>
          <a:ln/>
        </p:spPr>
        <p:txBody>
          <a:bodyPr wrap="square" lIns="0" tIns="0" rIns="0" bIns="0" rtlCol="0" anchor="ctr"/>
          <a:lstStyle/>
          <a:p>
            <a:pPr marL="0" indent="0">
              <a:buNone/>
            </a:pPr>
            <a:r>
              <a:rPr lang="en-US" sz="5400" b="1" dirty="0">
                <a:solidFill>
                  <a:schemeClr val="accent1"/>
                </a:solidFill>
                <a:latin typeface="Arial" pitchFamily="34" charset="0"/>
                <a:ea typeface="Arial" pitchFamily="34" charset="-122"/>
                <a:cs typeface="Arial" pitchFamily="34" charset="-120"/>
              </a:rPr>
              <a:t>5 / 5</a:t>
            </a:r>
            <a:endParaRPr lang="en-US" sz="5400" dirty="0"/>
          </a:p>
        </p:txBody>
      </p:sp>
      <p:sp>
        <p:nvSpPr>
          <p:cNvPr id="12" name="text-90"/>
          <p:cNvSpPr txBox="1"/>
          <p:nvPr/>
        </p:nvSpPr>
        <p:spPr>
          <a:xfrm>
            <a:off x="8478317" y="2880360"/>
            <a:ext cx="2844698" cy="640080"/>
          </a:xfrm>
          <a:prstGeom prst="rect">
            <a:avLst/>
          </a:prstGeom>
          <a:noFill/>
          <a:ln/>
        </p:spPr>
        <p:txBody>
          <a:bodyPr wrap="square" lIns="0" tIns="0" rIns="0" bIns="0" rtlCol="0" anchor="t"/>
          <a:lstStyle/>
          <a:p>
            <a:pPr marL="0" indent="0">
              <a:buNone/>
            </a:pPr>
            <a:r>
              <a:rPr lang="en-US" sz="1500" dirty="0">
                <a:solidFill>
                  <a:schemeClr val="tx2"/>
                </a:solidFill>
                <a:latin typeface="Calibri" pitchFamily="34" charset="0"/>
                <a:ea typeface="Calibri" pitchFamily="34" charset="-122"/>
                <a:cs typeface="Calibri" pitchFamily="34" charset="-120"/>
              </a:rPr>
              <a:t>printed markers recognised by the live tracking test</a:t>
            </a:r>
            <a:endParaRPr lang="en-US" sz="1500" dirty="0"/>
          </a:p>
        </p:txBody>
      </p:sp>
      <p:sp>
        <p:nvSpPr>
          <p:cNvPr id="13" name="card-91"/>
          <p:cNvSpPr/>
          <p:nvPr/>
        </p:nvSpPr>
        <p:spPr>
          <a:xfrm>
            <a:off x="548640" y="4023360"/>
            <a:ext cx="3484778" cy="2057400"/>
          </a:xfrm>
          <a:prstGeom prst="roundRect">
            <a:avLst>
              <a:gd name="adj" fmla="val 3556"/>
            </a:avLst>
          </a:prstGeom>
          <a:solidFill>
            <a:schemeClr val="bg2"/>
          </a:solidFill>
          <a:ln w="12700">
            <a:solidFill>
              <a:schemeClr val="bg2"/>
            </a:solidFill>
            <a:prstDash val="solid"/>
          </a:ln>
        </p:spPr>
      </p:sp>
      <p:sp>
        <p:nvSpPr>
          <p:cNvPr id="14" name="text-92"/>
          <p:cNvSpPr txBox="1"/>
          <p:nvPr/>
        </p:nvSpPr>
        <p:spPr>
          <a:xfrm>
            <a:off x="868680" y="4297680"/>
            <a:ext cx="2844698" cy="868680"/>
          </a:xfrm>
          <a:prstGeom prst="rect">
            <a:avLst/>
          </a:prstGeom>
          <a:noFill/>
          <a:ln/>
        </p:spPr>
        <p:txBody>
          <a:bodyPr wrap="square" lIns="0" tIns="0" rIns="0" bIns="0" rtlCol="0" anchor="ctr"/>
          <a:lstStyle/>
          <a:p>
            <a:pPr marL="0" indent="0">
              <a:buNone/>
            </a:pPr>
            <a:r>
              <a:rPr lang="en-US" sz="5400" b="1" dirty="0">
                <a:solidFill>
                  <a:schemeClr val="accent3"/>
                </a:solidFill>
                <a:latin typeface="Arial" pitchFamily="34" charset="0"/>
                <a:ea typeface="Arial" pitchFamily="34" charset="-122"/>
                <a:cs typeface="Arial" pitchFamily="34" charset="-120"/>
              </a:rPr>
              <a:t>63 / 63</a:t>
            </a:r>
            <a:endParaRPr lang="en-US" sz="5400" dirty="0"/>
          </a:p>
        </p:txBody>
      </p:sp>
      <p:sp>
        <p:nvSpPr>
          <p:cNvPr id="15" name="text-93"/>
          <p:cNvSpPr txBox="1"/>
          <p:nvPr/>
        </p:nvSpPr>
        <p:spPr>
          <a:xfrm>
            <a:off x="868680" y="5257800"/>
            <a:ext cx="2844698" cy="640080"/>
          </a:xfrm>
          <a:prstGeom prst="rect">
            <a:avLst/>
          </a:prstGeom>
          <a:noFill/>
          <a:ln/>
        </p:spPr>
        <p:txBody>
          <a:bodyPr wrap="square" lIns="0" tIns="0" rIns="0" bIns="0" rtlCol="0" anchor="t"/>
          <a:lstStyle/>
          <a:p>
            <a:pPr marL="0" indent="0">
              <a:buNone/>
            </a:pPr>
            <a:r>
              <a:rPr lang="en-US" sz="1500" dirty="0">
                <a:solidFill>
                  <a:schemeClr val="tx2"/>
                </a:solidFill>
                <a:latin typeface="Calibri" pitchFamily="34" charset="0"/>
                <a:ea typeface="Calibri" pitchFamily="34" charset="-122"/>
                <a:cs typeface="Calibri" pitchFamily="34" charset="-120"/>
              </a:rPr>
              <a:t>automated checks passing across unit, API, browser and camera</a:t>
            </a:r>
            <a:endParaRPr lang="en-US" sz="1500" dirty="0"/>
          </a:p>
        </p:txBody>
      </p:sp>
      <p:sp>
        <p:nvSpPr>
          <p:cNvPr id="16" name="card-94"/>
          <p:cNvSpPr/>
          <p:nvPr/>
        </p:nvSpPr>
        <p:spPr>
          <a:xfrm>
            <a:off x="4353458" y="4023360"/>
            <a:ext cx="3484778" cy="2057400"/>
          </a:xfrm>
          <a:prstGeom prst="roundRect">
            <a:avLst>
              <a:gd name="adj" fmla="val 3556"/>
            </a:avLst>
          </a:prstGeom>
          <a:solidFill>
            <a:schemeClr val="bg2"/>
          </a:solidFill>
          <a:ln w="12700">
            <a:solidFill>
              <a:schemeClr val="bg2"/>
            </a:solidFill>
            <a:prstDash val="solid"/>
          </a:ln>
        </p:spPr>
      </p:sp>
      <p:sp>
        <p:nvSpPr>
          <p:cNvPr id="17" name="text-95"/>
          <p:cNvSpPr txBox="1"/>
          <p:nvPr/>
        </p:nvSpPr>
        <p:spPr>
          <a:xfrm>
            <a:off x="4673498" y="4297680"/>
            <a:ext cx="2844698" cy="868680"/>
          </a:xfrm>
          <a:prstGeom prst="rect">
            <a:avLst/>
          </a:prstGeom>
          <a:noFill/>
          <a:ln/>
        </p:spPr>
        <p:txBody>
          <a:bodyPr wrap="square" lIns="0" tIns="0" rIns="0" bIns="0" rtlCol="0" anchor="ctr"/>
          <a:lstStyle/>
          <a:p>
            <a:pPr marL="0" indent="0">
              <a:buNone/>
            </a:pPr>
            <a:r>
              <a:rPr lang="en-US" sz="5400" b="1" dirty="0">
                <a:solidFill>
                  <a:srgbClr val="B45309"/>
                </a:solidFill>
                <a:latin typeface="Arial" pitchFamily="34" charset="0"/>
                <a:ea typeface="Arial" pitchFamily="34" charset="-122"/>
                <a:cs typeface="Arial" pitchFamily="34" charset="-120"/>
              </a:rPr>
              <a:t>7</a:t>
            </a:r>
            <a:endParaRPr lang="en-US" sz="5400" dirty="0"/>
          </a:p>
        </p:txBody>
      </p:sp>
      <p:sp>
        <p:nvSpPr>
          <p:cNvPr id="18" name="text-96"/>
          <p:cNvSpPr txBox="1"/>
          <p:nvPr/>
        </p:nvSpPr>
        <p:spPr>
          <a:xfrm>
            <a:off x="4673498" y="5257800"/>
            <a:ext cx="2844698" cy="640080"/>
          </a:xfrm>
          <a:prstGeom prst="rect">
            <a:avLst/>
          </a:prstGeom>
          <a:noFill/>
          <a:ln/>
        </p:spPr>
        <p:txBody>
          <a:bodyPr wrap="square" lIns="0" tIns="0" rIns="0" bIns="0" rtlCol="0" anchor="t"/>
          <a:lstStyle/>
          <a:p>
            <a:pPr marL="0" indent="0">
              <a:buNone/>
            </a:pPr>
            <a:r>
              <a:rPr lang="en-US" sz="1500" dirty="0">
                <a:solidFill>
                  <a:schemeClr val="tx2"/>
                </a:solidFill>
                <a:latin typeface="Calibri" pitchFamily="34" charset="0"/>
                <a:ea typeface="Calibri" pitchFamily="34" charset="-122"/>
                <a:cs typeface="Calibri" pitchFamily="34" charset="-120"/>
              </a:rPr>
              <a:t>integration bugs found and fixed once the parts ran together</a:t>
            </a:r>
            <a:endParaRPr lang="en-US" sz="1500" dirty="0"/>
          </a:p>
        </p:txBody>
      </p:sp>
      <p:sp>
        <p:nvSpPr>
          <p:cNvPr id="19" name="card-97"/>
          <p:cNvSpPr/>
          <p:nvPr/>
        </p:nvSpPr>
        <p:spPr>
          <a:xfrm>
            <a:off x="8158277" y="4023360"/>
            <a:ext cx="3484778" cy="2057400"/>
          </a:xfrm>
          <a:prstGeom prst="roundRect">
            <a:avLst>
              <a:gd name="adj" fmla="val 3556"/>
            </a:avLst>
          </a:prstGeom>
          <a:solidFill>
            <a:schemeClr val="bg2"/>
          </a:solidFill>
          <a:ln w="12700">
            <a:solidFill>
              <a:schemeClr val="bg2"/>
            </a:solidFill>
            <a:prstDash val="solid"/>
          </a:ln>
        </p:spPr>
      </p:sp>
      <p:sp>
        <p:nvSpPr>
          <p:cNvPr id="20" name="text-98"/>
          <p:cNvSpPr txBox="1"/>
          <p:nvPr/>
        </p:nvSpPr>
        <p:spPr>
          <a:xfrm>
            <a:off x="8478317" y="4297680"/>
            <a:ext cx="2844698" cy="868680"/>
          </a:xfrm>
          <a:prstGeom prst="rect">
            <a:avLst/>
          </a:prstGeom>
          <a:noFill/>
          <a:ln/>
        </p:spPr>
        <p:txBody>
          <a:bodyPr wrap="square" lIns="0" tIns="0" rIns="0" bIns="0" rtlCol="0" anchor="ctr"/>
          <a:lstStyle/>
          <a:p>
            <a:pPr marL="0" indent="0">
              <a:buNone/>
            </a:pPr>
            <a:r>
              <a:rPr lang="en-US" sz="5400" b="1" dirty="0">
                <a:solidFill>
                  <a:schemeClr val="accent3"/>
                </a:solidFill>
                <a:latin typeface="Arial" pitchFamily="34" charset="0"/>
                <a:ea typeface="Arial" pitchFamily="34" charset="-122"/>
                <a:cs typeface="Arial" pitchFamily="34" charset="-120"/>
              </a:rPr>
              <a:t>₹0</a:t>
            </a:r>
            <a:endParaRPr lang="en-US" sz="5400" dirty="0"/>
          </a:p>
        </p:txBody>
      </p:sp>
      <p:sp>
        <p:nvSpPr>
          <p:cNvPr id="21" name="text-99"/>
          <p:cNvSpPr txBox="1"/>
          <p:nvPr/>
        </p:nvSpPr>
        <p:spPr>
          <a:xfrm>
            <a:off x="8478317" y="5257800"/>
            <a:ext cx="2844698" cy="640080"/>
          </a:xfrm>
          <a:prstGeom prst="rect">
            <a:avLst/>
          </a:prstGeom>
          <a:noFill/>
          <a:ln/>
        </p:spPr>
        <p:txBody>
          <a:bodyPr wrap="square" lIns="0" tIns="0" rIns="0" bIns="0" rtlCol="0" anchor="t"/>
          <a:lstStyle/>
          <a:p>
            <a:pPr marL="0" indent="0">
              <a:buNone/>
            </a:pPr>
            <a:r>
              <a:rPr lang="en-US" sz="1500" dirty="0">
                <a:solidFill>
                  <a:schemeClr val="tx2"/>
                </a:solidFill>
                <a:latin typeface="Calibri" pitchFamily="34" charset="0"/>
                <a:ea typeface="Calibri" pitchFamily="34" charset="-122"/>
                <a:cs typeface="Calibri" pitchFamily="34" charset="-120"/>
              </a:rPr>
              <a:t>hosting cost: Netlify, Render and Supabase free tiers over HTTPS</a:t>
            </a:r>
            <a:endParaRPr lang="en-US" sz="15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47472"/>
            <a:ext cx="8229600" cy="274320"/>
          </a:xfrm>
          <a:prstGeom prst="rect">
            <a:avLst/>
          </a:prstGeom>
          <a:noFill/>
          <a:ln/>
        </p:spPr>
        <p:txBody>
          <a:bodyPr wrap="square" lIns="0" tIns="0" rIns="0" bIns="0" rtlCol="0" anchor="ctr"/>
          <a:lstStyle/>
          <a:p>
            <a:pPr marL="0" indent="0">
              <a:buNone/>
            </a:pPr>
            <a:r>
              <a:rPr lang="en-US" sz="1200" b="1" kern="0" spc="200" dirty="0">
                <a:solidFill>
                  <a:schemeClr val="accent1"/>
                </a:solidFill>
              </a:rPr>
              <a:t>SYSTEM ARCHITECTURE</a:t>
            </a:r>
            <a:endParaRPr lang="en-US" sz="1200" dirty="0"/>
          </a:p>
        </p:txBody>
      </p:sp>
      <p:sp>
        <p:nvSpPr>
          <p:cNvPr id="3" name="Text 0"/>
          <p:cNvSpPr>
            <a:spLocks noGrp="1"/>
          </p:cNvSpPr>
          <p:nvPr>
            <p:ph type="title" idx="101" hasCustomPrompt="1"/>
          </p:nvPr>
        </p:nvSpPr>
        <p:spPr>
          <a:xfrm>
            <a:off x="548640" y="621792"/>
            <a:ext cx="11094415"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Two clients, one API, one source of truth</a:t>
            </a:r>
            <a:endParaRPr lang="en-US" sz="3000" dirty="0"/>
          </a:p>
        </p:txBody>
      </p:sp>
      <p:sp>
        <p:nvSpPr>
          <p:cNvPr id="4" name="card-100"/>
          <p:cNvSpPr/>
          <p:nvPr/>
        </p:nvSpPr>
        <p:spPr>
          <a:xfrm>
            <a:off x="548640" y="1600200"/>
            <a:ext cx="2514600" cy="1280160"/>
          </a:xfrm>
          <a:prstGeom prst="roundRect">
            <a:avLst>
              <a:gd name="adj" fmla="val 5714"/>
            </a:avLst>
          </a:prstGeom>
          <a:solidFill>
            <a:schemeClr val="bg2"/>
          </a:solidFill>
          <a:ln w="12700">
            <a:solidFill>
              <a:schemeClr val="bg2"/>
            </a:solidFill>
            <a:prstDash val="solid"/>
          </a:ln>
        </p:spPr>
      </p:sp>
      <p:pic>
        <p:nvPicPr>
          <p:cNvPr id="5" name="icon-101" descr="preencoded.png"/>
          <p:cNvPicPr>
            <a:picLocks noChangeAspect="1"/>
          </p:cNvPicPr>
          <p:nvPr/>
        </p:nvPicPr>
        <p:blipFill>
          <a:blip r:embed="rId3"/>
          <a:stretch>
            <a:fillRect/>
          </a:stretch>
        </p:blipFill>
        <p:spPr>
          <a:xfrm>
            <a:off x="749808" y="1801368"/>
            <a:ext cx="365760" cy="365760"/>
          </a:xfrm>
          <a:prstGeom prst="rect">
            <a:avLst/>
          </a:prstGeom>
        </p:spPr>
      </p:pic>
      <p:sp>
        <p:nvSpPr>
          <p:cNvPr id="6" name="text-102"/>
          <p:cNvSpPr txBox="1"/>
          <p:nvPr/>
        </p:nvSpPr>
        <p:spPr>
          <a:xfrm>
            <a:off x="1234440" y="1764792"/>
            <a:ext cx="1691640" cy="411480"/>
          </a:xfrm>
          <a:prstGeom prst="rect">
            <a:avLst/>
          </a:prstGeom>
          <a:noFill/>
          <a:ln/>
        </p:spPr>
        <p:txBody>
          <a:bodyPr wrap="square" lIns="0" tIns="0" rIns="0" bIns="0" rtlCol="0" anchor="ctr"/>
          <a:lstStyle/>
          <a:p>
            <a:pPr marL="0" indent="0">
              <a:buNone/>
            </a:pPr>
            <a:r>
              <a:rPr lang="en-US" sz="1600" b="1" dirty="0">
                <a:solidFill>
                  <a:schemeClr val="tx1"/>
                </a:solidFill>
                <a:latin typeface="Calibri" pitchFamily="34" charset="0"/>
                <a:ea typeface="Calibri" pitchFamily="34" charset="-122"/>
                <a:cs typeface="Calibri" pitchFamily="34" charset="-120"/>
              </a:rPr>
              <a:t>AR Scanner</a:t>
            </a:r>
            <a:endParaRPr lang="en-US" sz="1600" dirty="0"/>
          </a:p>
        </p:txBody>
      </p:sp>
      <p:sp>
        <p:nvSpPr>
          <p:cNvPr id="7" name="text-103"/>
          <p:cNvSpPr txBox="1"/>
          <p:nvPr/>
        </p:nvSpPr>
        <p:spPr>
          <a:xfrm>
            <a:off x="749808" y="2258568"/>
            <a:ext cx="2148840" cy="274320"/>
          </a:xfrm>
          <a:prstGeom prst="rect">
            <a:avLst/>
          </a:prstGeom>
          <a:noFill/>
          <a:ln/>
        </p:spPr>
        <p:txBody>
          <a:bodyPr wrap="square" lIns="0" tIns="0" rIns="0" bIns="0" rtlCol="0" anchor="ctr"/>
          <a:lstStyle/>
          <a:p>
            <a:pPr marL="0" indent="0">
              <a:buNone/>
            </a:pPr>
            <a:r>
              <a:rPr lang="en-US" sz="1200" dirty="0">
                <a:solidFill>
                  <a:schemeClr val="tx2"/>
                </a:solidFill>
                <a:latin typeface="Calibri" pitchFamily="34" charset="0"/>
                <a:ea typeface="Calibri" pitchFamily="34" charset="-122"/>
                <a:cs typeface="Calibri" pitchFamily="34" charset="-120"/>
              </a:rPr>
              <a:t>A-Frame 1.4.2 + MindAR 1.2.5</a:t>
            </a:r>
            <a:endParaRPr lang="en-US" sz="1200" dirty="0"/>
          </a:p>
        </p:txBody>
      </p:sp>
      <p:sp>
        <p:nvSpPr>
          <p:cNvPr id="8" name="text-104"/>
          <p:cNvSpPr txBox="1"/>
          <p:nvPr/>
        </p:nvSpPr>
        <p:spPr>
          <a:xfrm>
            <a:off x="749808" y="2514600"/>
            <a:ext cx="2148840" cy="274320"/>
          </a:xfrm>
          <a:prstGeom prst="rect">
            <a:avLst/>
          </a:prstGeom>
          <a:noFill/>
          <a:ln/>
        </p:spPr>
        <p:txBody>
          <a:bodyPr wrap="square" lIns="0" tIns="0" rIns="0" bIns="0" rtlCol="0" anchor="ctr"/>
          <a:lstStyle/>
          <a:p>
            <a:pPr marL="0" indent="0">
              <a:buNone/>
            </a:pPr>
            <a:r>
              <a:rPr lang="en-US" sz="1100" b="1" dirty="0">
                <a:solidFill>
                  <a:schemeClr val="accent1"/>
                </a:solidFill>
                <a:latin typeface="Courier New" pitchFamily="34" charset="0"/>
                <a:ea typeface="Courier New" pitchFamily="34" charset="-122"/>
                <a:cs typeface="Courier New" pitchFamily="34" charset="-120"/>
              </a:rPr>
              <a:t>arvrca3.netlify.app</a:t>
            </a:r>
            <a:endParaRPr lang="en-US" sz="1100" dirty="0"/>
          </a:p>
        </p:txBody>
      </p:sp>
      <p:sp>
        <p:nvSpPr>
          <p:cNvPr id="9" name="card-105"/>
          <p:cNvSpPr/>
          <p:nvPr/>
        </p:nvSpPr>
        <p:spPr>
          <a:xfrm>
            <a:off x="548640" y="3154680"/>
            <a:ext cx="2514600" cy="1280160"/>
          </a:xfrm>
          <a:prstGeom prst="roundRect">
            <a:avLst>
              <a:gd name="adj" fmla="val 5714"/>
            </a:avLst>
          </a:prstGeom>
          <a:solidFill>
            <a:schemeClr val="bg2"/>
          </a:solidFill>
          <a:ln w="12700">
            <a:solidFill>
              <a:schemeClr val="bg2"/>
            </a:solidFill>
            <a:prstDash val="solid"/>
          </a:ln>
        </p:spPr>
      </p:sp>
      <p:pic>
        <p:nvPicPr>
          <p:cNvPr id="10" name="icon-106" descr="preencoded.png"/>
          <p:cNvPicPr>
            <a:picLocks noChangeAspect="1"/>
          </p:cNvPicPr>
          <p:nvPr/>
        </p:nvPicPr>
        <p:blipFill>
          <a:blip r:embed="rId4"/>
          <a:stretch>
            <a:fillRect/>
          </a:stretch>
        </p:blipFill>
        <p:spPr>
          <a:xfrm>
            <a:off x="749808" y="3355848"/>
            <a:ext cx="365760" cy="365760"/>
          </a:xfrm>
          <a:prstGeom prst="rect">
            <a:avLst/>
          </a:prstGeom>
        </p:spPr>
      </p:pic>
      <p:sp>
        <p:nvSpPr>
          <p:cNvPr id="11" name="text-107"/>
          <p:cNvSpPr txBox="1"/>
          <p:nvPr/>
        </p:nvSpPr>
        <p:spPr>
          <a:xfrm>
            <a:off x="1234440" y="3319272"/>
            <a:ext cx="1691640" cy="411480"/>
          </a:xfrm>
          <a:prstGeom prst="rect">
            <a:avLst/>
          </a:prstGeom>
          <a:noFill/>
          <a:ln/>
        </p:spPr>
        <p:txBody>
          <a:bodyPr wrap="square" lIns="0" tIns="0" rIns="0" bIns="0" rtlCol="0" anchor="ctr"/>
          <a:lstStyle/>
          <a:p>
            <a:pPr marL="0" indent="0">
              <a:buNone/>
            </a:pPr>
            <a:r>
              <a:rPr lang="en-US" sz="1600" b="1" dirty="0">
                <a:solidFill>
                  <a:schemeClr val="tx1"/>
                </a:solidFill>
                <a:latin typeface="Calibri" pitchFamily="34" charset="0"/>
                <a:ea typeface="Calibri" pitchFamily="34" charset="-122"/>
                <a:cs typeface="Calibri" pitchFamily="34" charset="-120"/>
              </a:rPr>
              <a:t>Web Dashboard</a:t>
            </a:r>
            <a:endParaRPr lang="en-US" sz="1600" dirty="0"/>
          </a:p>
        </p:txBody>
      </p:sp>
      <p:sp>
        <p:nvSpPr>
          <p:cNvPr id="12" name="text-108"/>
          <p:cNvSpPr txBox="1"/>
          <p:nvPr/>
        </p:nvSpPr>
        <p:spPr>
          <a:xfrm>
            <a:off x="749808" y="3813048"/>
            <a:ext cx="2148840" cy="274320"/>
          </a:xfrm>
          <a:prstGeom prst="rect">
            <a:avLst/>
          </a:prstGeom>
          <a:noFill/>
          <a:ln/>
        </p:spPr>
        <p:txBody>
          <a:bodyPr wrap="square" lIns="0" tIns="0" rIns="0" bIns="0" rtlCol="0" anchor="ctr"/>
          <a:lstStyle/>
          <a:p>
            <a:pPr marL="0" indent="0">
              <a:buNone/>
            </a:pPr>
            <a:r>
              <a:rPr lang="en-US" sz="1200" dirty="0">
                <a:solidFill>
                  <a:schemeClr val="tx2"/>
                </a:solidFill>
                <a:latin typeface="Calibri" pitchFamily="34" charset="0"/>
                <a:ea typeface="Calibri" pitchFamily="34" charset="-122"/>
                <a:cs typeface="Calibri" pitchFamily="34" charset="-120"/>
              </a:rPr>
              <a:t>Vanilla HTML / CSS / JS</a:t>
            </a:r>
            <a:endParaRPr lang="en-US" sz="1200" dirty="0"/>
          </a:p>
        </p:txBody>
      </p:sp>
      <p:sp>
        <p:nvSpPr>
          <p:cNvPr id="13" name="text-109"/>
          <p:cNvSpPr txBox="1"/>
          <p:nvPr/>
        </p:nvSpPr>
        <p:spPr>
          <a:xfrm>
            <a:off x="749808" y="4069080"/>
            <a:ext cx="2148840" cy="274320"/>
          </a:xfrm>
          <a:prstGeom prst="rect">
            <a:avLst/>
          </a:prstGeom>
          <a:noFill/>
          <a:ln/>
        </p:spPr>
        <p:txBody>
          <a:bodyPr wrap="square" lIns="0" tIns="0" rIns="0" bIns="0" rtlCol="0" anchor="ctr"/>
          <a:lstStyle/>
          <a:p>
            <a:pPr marL="0" indent="0">
              <a:buNone/>
            </a:pPr>
            <a:r>
              <a:rPr lang="en-US" sz="1100" b="1" dirty="0">
                <a:solidFill>
                  <a:schemeClr val="accent1"/>
                </a:solidFill>
                <a:latin typeface="Courier New" pitchFamily="34" charset="0"/>
                <a:ea typeface="Courier New" pitchFamily="34" charset="-122"/>
                <a:cs typeface="Courier New" pitchFamily="34" charset="-120"/>
              </a:rPr>
              <a:t>arvrdashboard…app</a:t>
            </a:r>
            <a:endParaRPr lang="en-US" sz="1100" dirty="0"/>
          </a:p>
        </p:txBody>
      </p:sp>
      <p:sp>
        <p:nvSpPr>
          <p:cNvPr id="18" name="card-114"/>
          <p:cNvSpPr/>
          <p:nvPr/>
        </p:nvSpPr>
        <p:spPr>
          <a:xfrm>
            <a:off x="3794760" y="2377440"/>
            <a:ext cx="2377440" cy="1600200"/>
          </a:xfrm>
          <a:prstGeom prst="roundRect">
            <a:avLst>
              <a:gd name="adj" fmla="val 4571"/>
            </a:avLst>
          </a:prstGeom>
          <a:solidFill>
            <a:schemeClr val="tx1"/>
          </a:solidFill>
          <a:ln w="12700">
            <a:solidFill>
              <a:schemeClr val="tx1"/>
            </a:solidFill>
            <a:prstDash val="solid"/>
          </a:ln>
        </p:spPr>
      </p:sp>
      <p:pic>
        <p:nvPicPr>
          <p:cNvPr id="19" name="icon-115" descr="preencoded.png"/>
          <p:cNvPicPr>
            <a:picLocks noChangeAspect="1"/>
          </p:cNvPicPr>
          <p:nvPr/>
        </p:nvPicPr>
        <p:blipFill>
          <a:blip r:embed="rId5"/>
          <a:stretch>
            <a:fillRect/>
          </a:stretch>
        </p:blipFill>
        <p:spPr>
          <a:xfrm>
            <a:off x="3995928" y="2578608"/>
            <a:ext cx="365760" cy="365760"/>
          </a:xfrm>
          <a:prstGeom prst="rect">
            <a:avLst/>
          </a:prstGeom>
        </p:spPr>
      </p:pic>
      <p:sp>
        <p:nvSpPr>
          <p:cNvPr id="20" name="text-116"/>
          <p:cNvSpPr txBox="1"/>
          <p:nvPr/>
        </p:nvSpPr>
        <p:spPr>
          <a:xfrm>
            <a:off x="4480560" y="2542032"/>
            <a:ext cx="1554480" cy="411480"/>
          </a:xfrm>
          <a:prstGeom prst="rect">
            <a:avLst/>
          </a:prstGeom>
          <a:noFill/>
          <a:ln/>
        </p:spPr>
        <p:txBody>
          <a:bodyPr wrap="square" lIns="0" tIns="0" rIns="0" bIns="0" rtlCol="0" anchor="ctr"/>
          <a:lstStyle/>
          <a:p>
            <a:pPr marL="0" indent="0">
              <a:buNone/>
            </a:pPr>
            <a:r>
              <a:rPr lang="en-US" sz="1600" b="1" dirty="0">
                <a:solidFill>
                  <a:schemeClr val="bg1"/>
                </a:solidFill>
                <a:latin typeface="Calibri" pitchFamily="34" charset="0"/>
                <a:ea typeface="Calibri" pitchFamily="34" charset="-122"/>
                <a:cs typeface="Calibri" pitchFamily="34" charset="-120"/>
              </a:rPr>
              <a:t>REST API</a:t>
            </a:r>
            <a:endParaRPr lang="en-US" sz="1600" dirty="0"/>
          </a:p>
        </p:txBody>
      </p:sp>
      <p:sp>
        <p:nvSpPr>
          <p:cNvPr id="21" name="text-117"/>
          <p:cNvSpPr txBox="1"/>
          <p:nvPr/>
        </p:nvSpPr>
        <p:spPr>
          <a:xfrm>
            <a:off x="3995928" y="3035808"/>
            <a:ext cx="2011680" cy="274320"/>
          </a:xfrm>
          <a:prstGeom prst="rect">
            <a:avLst/>
          </a:prstGeom>
          <a:noFill/>
          <a:ln/>
        </p:spPr>
        <p:txBody>
          <a:bodyPr wrap="square" lIns="0" tIns="0" rIns="0" bIns="0" rtlCol="0" anchor="ctr"/>
          <a:lstStyle/>
          <a:p>
            <a:pPr marL="0" indent="0">
              <a:buNone/>
            </a:pPr>
            <a:r>
              <a:rPr lang="en-US" sz="1200" dirty="0">
                <a:solidFill>
                  <a:schemeClr val="accent5"/>
                </a:solidFill>
                <a:latin typeface="Calibri" pitchFamily="34" charset="0"/>
                <a:ea typeface="Calibri" pitchFamily="34" charset="-122"/>
                <a:cs typeface="Calibri" pitchFamily="34" charset="-120"/>
              </a:rPr>
              <a:t>Node 20 + Express + pg</a:t>
            </a:r>
            <a:endParaRPr lang="en-US" sz="1200" dirty="0"/>
          </a:p>
        </p:txBody>
      </p:sp>
      <p:sp>
        <p:nvSpPr>
          <p:cNvPr id="22" name="text-118"/>
          <p:cNvSpPr txBox="1"/>
          <p:nvPr/>
        </p:nvSpPr>
        <p:spPr>
          <a:xfrm>
            <a:off x="3995928" y="3291840"/>
            <a:ext cx="2011680" cy="274320"/>
          </a:xfrm>
          <a:prstGeom prst="rect">
            <a:avLst/>
          </a:prstGeom>
          <a:noFill/>
          <a:ln/>
        </p:spPr>
        <p:txBody>
          <a:bodyPr wrap="square" lIns="0" tIns="0" rIns="0" bIns="0" rtlCol="0" anchor="ctr"/>
          <a:lstStyle/>
          <a:p>
            <a:pPr marL="0" indent="0">
              <a:buNone/>
            </a:pPr>
            <a:r>
              <a:rPr lang="en-US" sz="1100" b="1" dirty="0">
                <a:solidFill>
                  <a:schemeClr val="accent1"/>
                </a:solidFill>
                <a:latin typeface="Courier New" pitchFamily="34" charset="0"/>
                <a:ea typeface="Courier New" pitchFamily="34" charset="-122"/>
                <a:cs typeface="Courier New" pitchFamily="34" charset="-120"/>
              </a:rPr>
              <a:t>Render · /health</a:t>
            </a:r>
            <a:endParaRPr lang="en-US" sz="1100" dirty="0"/>
          </a:p>
        </p:txBody>
      </p:sp>
      <p:sp>
        <p:nvSpPr>
          <p:cNvPr id="23" name="card-119"/>
          <p:cNvSpPr/>
          <p:nvPr/>
        </p:nvSpPr>
        <p:spPr>
          <a:xfrm>
            <a:off x="6812280" y="1600200"/>
            <a:ext cx="2240280" cy="1280160"/>
          </a:xfrm>
          <a:prstGeom prst="roundRect">
            <a:avLst>
              <a:gd name="adj" fmla="val 5714"/>
            </a:avLst>
          </a:prstGeom>
          <a:solidFill>
            <a:schemeClr val="bg2"/>
          </a:solidFill>
          <a:ln w="12700">
            <a:solidFill>
              <a:schemeClr val="bg2"/>
            </a:solidFill>
            <a:prstDash val="solid"/>
          </a:ln>
        </p:spPr>
      </p:sp>
      <p:pic>
        <p:nvPicPr>
          <p:cNvPr id="24" name="icon-120" descr="preencoded.png"/>
          <p:cNvPicPr>
            <a:picLocks noChangeAspect="1"/>
          </p:cNvPicPr>
          <p:nvPr/>
        </p:nvPicPr>
        <p:blipFill>
          <a:blip r:embed="rId6"/>
          <a:stretch>
            <a:fillRect/>
          </a:stretch>
        </p:blipFill>
        <p:spPr>
          <a:xfrm>
            <a:off x="7013448" y="1801368"/>
            <a:ext cx="365760" cy="365760"/>
          </a:xfrm>
          <a:prstGeom prst="rect">
            <a:avLst/>
          </a:prstGeom>
        </p:spPr>
      </p:pic>
      <p:sp>
        <p:nvSpPr>
          <p:cNvPr id="25" name="text-121"/>
          <p:cNvSpPr txBox="1"/>
          <p:nvPr/>
        </p:nvSpPr>
        <p:spPr>
          <a:xfrm>
            <a:off x="7498080" y="1764792"/>
            <a:ext cx="1417320" cy="411480"/>
          </a:xfrm>
          <a:prstGeom prst="rect">
            <a:avLst/>
          </a:prstGeom>
          <a:noFill/>
          <a:ln/>
        </p:spPr>
        <p:txBody>
          <a:bodyPr wrap="square" lIns="0" tIns="0" rIns="0" bIns="0" rtlCol="0" anchor="ctr"/>
          <a:lstStyle/>
          <a:p>
            <a:pPr marL="0" indent="0">
              <a:buNone/>
            </a:pPr>
            <a:r>
              <a:rPr lang="en-US" sz="1600" b="1" dirty="0">
                <a:solidFill>
                  <a:schemeClr val="tx1"/>
                </a:solidFill>
                <a:latin typeface="Calibri" pitchFamily="34" charset="0"/>
                <a:ea typeface="Calibri" pitchFamily="34" charset="-122"/>
                <a:cs typeface="Calibri" pitchFamily="34" charset="-120"/>
              </a:rPr>
              <a:t>PostgreSQL</a:t>
            </a:r>
            <a:endParaRPr lang="en-US" sz="1600" dirty="0"/>
          </a:p>
        </p:txBody>
      </p:sp>
      <p:sp>
        <p:nvSpPr>
          <p:cNvPr id="26" name="text-122"/>
          <p:cNvSpPr txBox="1"/>
          <p:nvPr/>
        </p:nvSpPr>
        <p:spPr>
          <a:xfrm>
            <a:off x="7013448" y="2258568"/>
            <a:ext cx="1874520" cy="274320"/>
          </a:xfrm>
          <a:prstGeom prst="rect">
            <a:avLst/>
          </a:prstGeom>
          <a:noFill/>
          <a:ln/>
        </p:spPr>
        <p:txBody>
          <a:bodyPr wrap="square" lIns="0" tIns="0" rIns="0" bIns="0" rtlCol="0" anchor="ctr"/>
          <a:lstStyle/>
          <a:p>
            <a:pPr marL="0" indent="0">
              <a:buNone/>
            </a:pPr>
            <a:r>
              <a:rPr lang="en-US" sz="1200" dirty="0">
                <a:solidFill>
                  <a:schemeClr val="tx2"/>
                </a:solidFill>
                <a:latin typeface="Calibri" pitchFamily="34" charset="0"/>
                <a:ea typeface="Calibri" pitchFamily="34" charset="-122"/>
                <a:cs typeface="Calibri" pitchFamily="34" charset="-120"/>
              </a:rPr>
              <a:t>Supabase · 5 tables</a:t>
            </a:r>
            <a:endParaRPr lang="en-US" sz="1200" dirty="0"/>
          </a:p>
        </p:txBody>
      </p:sp>
      <p:sp>
        <p:nvSpPr>
          <p:cNvPr id="27" name="text-123"/>
          <p:cNvSpPr txBox="1"/>
          <p:nvPr/>
        </p:nvSpPr>
        <p:spPr>
          <a:xfrm>
            <a:off x="7013448" y="2514600"/>
            <a:ext cx="1874520" cy="274320"/>
          </a:xfrm>
          <a:prstGeom prst="rect">
            <a:avLst/>
          </a:prstGeom>
          <a:noFill/>
          <a:ln/>
        </p:spPr>
        <p:txBody>
          <a:bodyPr wrap="square" lIns="0" tIns="0" rIns="0" bIns="0" rtlCol="0" anchor="ctr"/>
          <a:lstStyle/>
          <a:p>
            <a:pPr marL="0" indent="0">
              <a:buNone/>
            </a:pPr>
            <a:r>
              <a:rPr lang="en-US" sz="1100" b="1" dirty="0">
                <a:solidFill>
                  <a:schemeClr val="accent1"/>
                </a:solidFill>
                <a:latin typeface="Courier New" pitchFamily="34" charset="0"/>
                <a:ea typeface="Courier New" pitchFamily="34" charset="-122"/>
                <a:cs typeface="Courier New" pitchFamily="34" charset="-120"/>
              </a:rPr>
              <a:t>schema.sql + seed</a:t>
            </a:r>
            <a:endParaRPr lang="en-US" sz="1100" dirty="0"/>
          </a:p>
        </p:txBody>
      </p:sp>
      <p:sp>
        <p:nvSpPr>
          <p:cNvPr id="28" name="box-124"/>
          <p:cNvSpPr/>
          <p:nvPr/>
        </p:nvSpPr>
        <p:spPr>
          <a:xfrm>
            <a:off x="6812280" y="3154680"/>
            <a:ext cx="2240280" cy="1280160"/>
          </a:xfrm>
          <a:prstGeom prst="roundRect">
            <a:avLst>
              <a:gd name="adj" fmla="val 5714"/>
            </a:avLst>
          </a:prstGeom>
          <a:solidFill>
            <a:schemeClr val="bg1"/>
          </a:solidFill>
          <a:ln w="15875">
            <a:solidFill>
              <a:schemeClr val="accent5"/>
            </a:solidFill>
            <a:prstDash val="dash"/>
          </a:ln>
        </p:spPr>
      </p:sp>
      <p:pic>
        <p:nvPicPr>
          <p:cNvPr id="29" name="icon-125" descr="preencoded.png"/>
          <p:cNvPicPr>
            <a:picLocks noChangeAspect="1"/>
          </p:cNvPicPr>
          <p:nvPr/>
        </p:nvPicPr>
        <p:blipFill>
          <a:blip r:embed="rId7"/>
          <a:stretch>
            <a:fillRect/>
          </a:stretch>
        </p:blipFill>
        <p:spPr>
          <a:xfrm>
            <a:off x="7013448" y="3355848"/>
            <a:ext cx="365760" cy="365760"/>
          </a:xfrm>
          <a:prstGeom prst="rect">
            <a:avLst/>
          </a:prstGeom>
        </p:spPr>
      </p:pic>
      <p:sp>
        <p:nvSpPr>
          <p:cNvPr id="30" name="text-126"/>
          <p:cNvSpPr txBox="1"/>
          <p:nvPr/>
        </p:nvSpPr>
        <p:spPr>
          <a:xfrm>
            <a:off x="7498080" y="3319272"/>
            <a:ext cx="1417320" cy="411480"/>
          </a:xfrm>
          <a:prstGeom prst="rect">
            <a:avLst/>
          </a:prstGeom>
          <a:noFill/>
          <a:ln/>
        </p:spPr>
        <p:txBody>
          <a:bodyPr wrap="square" lIns="0" tIns="0" rIns="0" bIns="0" rtlCol="0" anchor="ctr"/>
          <a:lstStyle/>
          <a:p>
            <a:pPr marL="0" indent="0">
              <a:buNone/>
            </a:pPr>
            <a:r>
              <a:rPr lang="en-US" sz="1600" b="1" dirty="0">
                <a:solidFill>
                  <a:schemeClr val="tx2"/>
                </a:solidFill>
                <a:latin typeface="Calibri" pitchFamily="34" charset="0"/>
                <a:ea typeface="Calibri" pitchFamily="34" charset="-122"/>
                <a:cs typeface="Calibri" pitchFamily="34" charset="-120"/>
              </a:rPr>
              <a:t>Demo store</a:t>
            </a:r>
            <a:endParaRPr lang="en-US" sz="1600" dirty="0"/>
          </a:p>
        </p:txBody>
      </p:sp>
      <p:sp>
        <p:nvSpPr>
          <p:cNvPr id="31" name="text-127"/>
          <p:cNvSpPr txBox="1"/>
          <p:nvPr/>
        </p:nvSpPr>
        <p:spPr>
          <a:xfrm>
            <a:off x="7013448" y="3813048"/>
            <a:ext cx="1874520" cy="274320"/>
          </a:xfrm>
          <a:prstGeom prst="rect">
            <a:avLst/>
          </a:prstGeom>
          <a:noFill/>
          <a:ln/>
        </p:spPr>
        <p:txBody>
          <a:bodyPr wrap="square" lIns="0" tIns="0" rIns="0" bIns="0" rtlCol="0" anchor="ctr"/>
          <a:lstStyle/>
          <a:p>
            <a:pPr marL="0" indent="0">
              <a:buNone/>
            </a:pPr>
            <a:r>
              <a:rPr lang="en-US" sz="1200" dirty="0">
                <a:solidFill>
                  <a:schemeClr val="tx2"/>
                </a:solidFill>
                <a:latin typeface="Calibri" pitchFamily="34" charset="0"/>
                <a:ea typeface="Calibri" pitchFamily="34" charset="-122"/>
                <a:cs typeface="Calibri" pitchFamily="34" charset="-120"/>
              </a:rPr>
              <a:t>In-memory seed fallback</a:t>
            </a:r>
            <a:endParaRPr lang="en-US" sz="1200" dirty="0"/>
          </a:p>
        </p:txBody>
      </p:sp>
      <p:sp>
        <p:nvSpPr>
          <p:cNvPr id="32" name="text-128"/>
          <p:cNvSpPr txBox="1"/>
          <p:nvPr/>
        </p:nvSpPr>
        <p:spPr>
          <a:xfrm>
            <a:off x="7013448" y="4069080"/>
            <a:ext cx="1874520" cy="274320"/>
          </a:xfrm>
          <a:prstGeom prst="rect">
            <a:avLst/>
          </a:prstGeom>
          <a:noFill/>
          <a:ln/>
        </p:spPr>
        <p:txBody>
          <a:bodyPr wrap="square" lIns="0" tIns="0" rIns="0" bIns="0" rtlCol="0" anchor="ctr"/>
          <a:lstStyle/>
          <a:p>
            <a:pPr marL="0" indent="0">
              <a:buNone/>
            </a:pPr>
            <a:r>
              <a:rPr lang="en-US" sz="1100" b="1" dirty="0">
                <a:solidFill>
                  <a:schemeClr val="accent1"/>
                </a:solidFill>
                <a:latin typeface="Courier New" pitchFamily="34" charset="0"/>
                <a:ea typeface="Courier New" pitchFamily="34" charset="-122"/>
                <a:cs typeface="Courier New" pitchFamily="34" charset="-120"/>
              </a:rPr>
              <a:t>no DATABASE_URL</a:t>
            </a:r>
            <a:endParaRPr lang="en-US" sz="1100" dirty="0"/>
          </a:p>
        </p:txBody>
      </p:sp>
      <p:sp>
        <p:nvSpPr>
          <p:cNvPr id="33" name="line-129"/>
          <p:cNvSpPr/>
          <p:nvPr/>
        </p:nvSpPr>
        <p:spPr>
          <a:xfrm>
            <a:off x="3063240" y="2240280"/>
            <a:ext cx="731520" cy="685800"/>
          </a:xfrm>
          <a:prstGeom prst="line">
            <a:avLst/>
          </a:prstGeom>
          <a:noFill/>
          <a:ln w="19050">
            <a:solidFill>
              <a:schemeClr val="tx2"/>
            </a:solidFill>
            <a:prstDash val="solid"/>
            <a:tailEnd type="triangle"/>
          </a:ln>
        </p:spPr>
      </p:sp>
      <p:sp>
        <p:nvSpPr>
          <p:cNvPr id="34" name="line-130"/>
          <p:cNvSpPr/>
          <p:nvPr/>
        </p:nvSpPr>
        <p:spPr>
          <a:xfrm flipV="1">
            <a:off x="3063240" y="3429000"/>
            <a:ext cx="731520" cy="365760"/>
          </a:xfrm>
          <a:prstGeom prst="line">
            <a:avLst/>
          </a:prstGeom>
          <a:noFill/>
          <a:ln w="19050">
            <a:solidFill>
              <a:schemeClr val="tx2"/>
            </a:solidFill>
            <a:prstDash val="solid"/>
            <a:tailEnd type="triangle"/>
          </a:ln>
        </p:spPr>
      </p:sp>
      <p:sp>
        <p:nvSpPr>
          <p:cNvPr id="36" name="line-132"/>
          <p:cNvSpPr/>
          <p:nvPr/>
        </p:nvSpPr>
        <p:spPr>
          <a:xfrm flipV="1">
            <a:off x="6172200" y="2240280"/>
            <a:ext cx="640080" cy="594360"/>
          </a:xfrm>
          <a:prstGeom prst="line">
            <a:avLst/>
          </a:prstGeom>
          <a:noFill/>
          <a:ln w="22225">
            <a:solidFill>
              <a:schemeClr val="tx2"/>
            </a:solidFill>
            <a:prstDash val="solid"/>
            <a:tailEnd type="triangle"/>
          </a:ln>
        </p:spPr>
      </p:sp>
      <p:sp>
        <p:nvSpPr>
          <p:cNvPr id="37" name="line-133"/>
          <p:cNvSpPr/>
          <p:nvPr/>
        </p:nvSpPr>
        <p:spPr>
          <a:xfrm>
            <a:off x="6172200" y="3520440"/>
            <a:ext cx="640080" cy="274320"/>
          </a:xfrm>
          <a:prstGeom prst="line">
            <a:avLst/>
          </a:prstGeom>
          <a:noFill/>
          <a:ln w="19050">
            <a:solidFill>
              <a:schemeClr val="accent5"/>
            </a:solidFill>
            <a:prstDash val="dash"/>
            <a:tailEnd type="triangle"/>
          </a:ln>
        </p:spPr>
      </p:sp>
      <p:sp>
        <p:nvSpPr>
          <p:cNvPr id="38" name="text-134"/>
          <p:cNvSpPr txBox="1"/>
          <p:nvPr/>
        </p:nvSpPr>
        <p:spPr>
          <a:xfrm>
            <a:off x="3017520" y="2103120"/>
            <a:ext cx="1097280" cy="228600"/>
          </a:xfrm>
          <a:prstGeom prst="rect">
            <a:avLst/>
          </a:prstGeom>
          <a:noFill/>
          <a:ln/>
        </p:spPr>
        <p:txBody>
          <a:bodyPr wrap="square" lIns="0" tIns="0" rIns="0" bIns="0" rtlCol="0" anchor="ctr"/>
          <a:lstStyle/>
          <a:p>
            <a:pPr marL="0" indent="0" algn="ctr">
              <a:buNone/>
            </a:pPr>
            <a:r>
              <a:rPr lang="en-US" sz="1000" b="1" dirty="0">
                <a:solidFill>
                  <a:schemeClr val="tx2"/>
                </a:solidFill>
                <a:latin typeface="Calibri" pitchFamily="34" charset="0"/>
                <a:ea typeface="Calibri" pitchFamily="34" charset="-122"/>
                <a:cs typeface="Calibri" pitchFamily="34" charset="-120"/>
              </a:rPr>
              <a:t>HTTPS · JSON</a:t>
            </a:r>
            <a:endParaRPr lang="en-US" sz="1000" dirty="0"/>
          </a:p>
        </p:txBody>
      </p:sp>
      <p:sp>
        <p:nvSpPr>
          <p:cNvPr id="39" name="text-135"/>
          <p:cNvSpPr txBox="1"/>
          <p:nvPr/>
        </p:nvSpPr>
        <p:spPr>
          <a:xfrm>
            <a:off x="5989320" y="2148840"/>
            <a:ext cx="914400" cy="228600"/>
          </a:xfrm>
          <a:prstGeom prst="rect">
            <a:avLst/>
          </a:prstGeom>
          <a:noFill/>
          <a:ln/>
        </p:spPr>
        <p:txBody>
          <a:bodyPr wrap="square" lIns="0" tIns="0" rIns="0" bIns="0" rtlCol="0" anchor="ctr"/>
          <a:lstStyle/>
          <a:p>
            <a:pPr marL="0" indent="0" algn="ctr">
              <a:buNone/>
            </a:pPr>
            <a:r>
              <a:rPr lang="en-US" sz="1000" b="1" dirty="0">
                <a:solidFill>
                  <a:schemeClr val="tx2"/>
                </a:solidFill>
                <a:latin typeface="Calibri" pitchFamily="34" charset="0"/>
                <a:ea typeface="Calibri" pitchFamily="34" charset="-122"/>
                <a:cs typeface="Calibri" pitchFamily="34" charset="-120"/>
              </a:rPr>
              <a:t>SQL · SSL</a:t>
            </a:r>
            <a:endParaRPr lang="en-US" sz="1000" dirty="0"/>
          </a:p>
        </p:txBody>
      </p:sp>
      <p:sp>
        <p:nvSpPr>
          <p:cNvPr id="40" name="text-136"/>
          <p:cNvSpPr txBox="1"/>
          <p:nvPr/>
        </p:nvSpPr>
        <p:spPr>
          <a:xfrm>
            <a:off x="3794760" y="4709160"/>
            <a:ext cx="5257800" cy="548640"/>
          </a:xfrm>
          <a:prstGeom prst="rect">
            <a:avLst/>
          </a:prstGeom>
          <a:noFill/>
          <a:ln/>
        </p:spPr>
        <p:txBody>
          <a:bodyPr wrap="square" lIns="0" tIns="0" rIns="0" bIns="0" rtlCol="0" anchor="t"/>
          <a:lstStyle/>
          <a:p>
            <a:pPr marL="0" indent="0">
              <a:buNone/>
            </a:pPr>
            <a:r>
              <a:rPr lang="en-US" sz="1300" i="1" dirty="0">
                <a:solidFill>
                  <a:schemeClr val="tx2"/>
                </a:solidFill>
                <a:latin typeface="Calibri" pitchFamily="34" charset="0"/>
                <a:ea typeface="Calibri" pitchFamily="34" charset="-122"/>
                <a:cs typeface="Calibri" pitchFamily="34" charset="-120"/>
              </a:rPr>
              <a:t>Clients never talk to the database. Every rule lives in the API.</a:t>
            </a:r>
            <a:endParaRPr lang="en-US" sz="1300" dirty="0"/>
          </a:p>
        </p:txBody>
      </p:sp>
      <p:sp>
        <p:nvSpPr>
          <p:cNvPr id="41" name="card-137"/>
          <p:cNvSpPr/>
          <p:nvPr/>
        </p:nvSpPr>
        <p:spPr>
          <a:xfrm>
            <a:off x="9326880" y="1600200"/>
            <a:ext cx="2313432" cy="4206240"/>
          </a:xfrm>
          <a:prstGeom prst="roundRect">
            <a:avLst>
              <a:gd name="adj" fmla="val 3162"/>
            </a:avLst>
          </a:prstGeom>
          <a:solidFill>
            <a:schemeClr val="tx1"/>
          </a:solidFill>
          <a:ln w="12700">
            <a:solidFill>
              <a:schemeClr val="tx1"/>
            </a:solidFill>
            <a:prstDash val="solid"/>
          </a:ln>
        </p:spPr>
      </p:sp>
      <p:sp>
        <p:nvSpPr>
          <p:cNvPr id="42" name="text-138"/>
          <p:cNvSpPr txBox="1"/>
          <p:nvPr/>
        </p:nvSpPr>
        <p:spPr>
          <a:xfrm>
            <a:off x="9509760" y="1755648"/>
            <a:ext cx="2011680" cy="274320"/>
          </a:xfrm>
          <a:prstGeom prst="rect">
            <a:avLst/>
          </a:prstGeom>
          <a:noFill/>
          <a:ln/>
        </p:spPr>
        <p:txBody>
          <a:bodyPr wrap="square" lIns="0" tIns="0" rIns="0" bIns="0" rtlCol="0" anchor="ctr"/>
          <a:lstStyle/>
          <a:p>
            <a:pPr marL="0" indent="0">
              <a:buNone/>
            </a:pPr>
            <a:r>
              <a:rPr lang="en-US" sz="1100" b="1" kern="0" spc="100" dirty="0">
                <a:solidFill>
                  <a:schemeClr val="accent2"/>
                </a:solidFill>
                <a:latin typeface="Calibri" pitchFamily="34" charset="0"/>
                <a:ea typeface="Calibri" pitchFamily="34" charset="-122"/>
                <a:cs typeface="Calibri" pitchFamily="34" charset="-120"/>
              </a:rPr>
              <a:t>DESIGN DECISIONS</a:t>
            </a:r>
            <a:endParaRPr lang="en-US" sz="1100" dirty="0"/>
          </a:p>
        </p:txBody>
      </p:sp>
      <p:sp>
        <p:nvSpPr>
          <p:cNvPr id="43" name="text-139"/>
          <p:cNvSpPr txBox="1"/>
          <p:nvPr/>
        </p:nvSpPr>
        <p:spPr>
          <a:xfrm>
            <a:off x="9509760" y="2103120"/>
            <a:ext cx="2011680" cy="256032"/>
          </a:xfrm>
          <a:prstGeom prst="rect">
            <a:avLst/>
          </a:prstGeom>
          <a:noFill/>
          <a:ln/>
        </p:spPr>
        <p:txBody>
          <a:bodyPr wrap="square" lIns="0" tIns="0" rIns="0" bIns="0" rtlCol="0" anchor="ctr"/>
          <a:lstStyle/>
          <a:p>
            <a:pPr marL="0" indent="0">
              <a:buNone/>
            </a:pPr>
            <a:r>
              <a:rPr lang="en-US" sz="1300" b="1" dirty="0">
                <a:solidFill>
                  <a:schemeClr val="bg1"/>
                </a:solidFill>
                <a:latin typeface="Calibri" pitchFamily="34" charset="0"/>
                <a:ea typeface="Calibri" pitchFamily="34" charset="-122"/>
                <a:cs typeface="Calibri" pitchFamily="34" charset="-120"/>
              </a:rPr>
              <a:t>Privacy by design</a:t>
            </a:r>
            <a:endParaRPr lang="en-US" sz="1300" dirty="0"/>
          </a:p>
        </p:txBody>
      </p:sp>
      <p:sp>
        <p:nvSpPr>
          <p:cNvPr id="44" name="text-140"/>
          <p:cNvSpPr txBox="1"/>
          <p:nvPr/>
        </p:nvSpPr>
        <p:spPr>
          <a:xfrm>
            <a:off x="9509760" y="2368296"/>
            <a:ext cx="2011680" cy="658368"/>
          </a:xfrm>
          <a:prstGeom prst="rect">
            <a:avLst/>
          </a:prstGeom>
          <a:noFill/>
          <a:ln/>
        </p:spPr>
        <p:txBody>
          <a:bodyPr wrap="square" lIns="0" tIns="0" rIns="0" bIns="0" rtlCol="0" anchor="t"/>
          <a:lstStyle/>
          <a:p>
            <a:pPr marL="0" indent="0">
              <a:buNone/>
            </a:pPr>
            <a:r>
              <a:rPr lang="en-US" sz="1150" dirty="0">
                <a:solidFill>
                  <a:schemeClr val="accent5"/>
                </a:solidFill>
                <a:latin typeface="Calibri" pitchFamily="34" charset="0"/>
                <a:ea typeface="Calibri" pitchFamily="34" charset="-122"/>
                <a:cs typeface="Calibri" pitchFamily="34" charset="-120"/>
              </a:rPr>
              <a:t>Only a marker ID leaves the phone. Video stays local.</a:t>
            </a:r>
            <a:endParaRPr lang="en-US" sz="1150" dirty="0"/>
          </a:p>
        </p:txBody>
      </p:sp>
      <p:sp>
        <p:nvSpPr>
          <p:cNvPr id="45" name="text-141"/>
          <p:cNvSpPr txBox="1"/>
          <p:nvPr/>
        </p:nvSpPr>
        <p:spPr>
          <a:xfrm>
            <a:off x="9509760" y="3017520"/>
            <a:ext cx="2011680" cy="256032"/>
          </a:xfrm>
          <a:prstGeom prst="rect">
            <a:avLst/>
          </a:prstGeom>
          <a:noFill/>
          <a:ln/>
        </p:spPr>
        <p:txBody>
          <a:bodyPr wrap="square" lIns="0" tIns="0" rIns="0" bIns="0" rtlCol="0" anchor="ctr"/>
          <a:lstStyle/>
          <a:p>
            <a:pPr marL="0" indent="0">
              <a:buNone/>
            </a:pPr>
            <a:r>
              <a:rPr lang="en-US" sz="1300" b="1" dirty="0">
                <a:solidFill>
                  <a:schemeClr val="bg1"/>
                </a:solidFill>
                <a:latin typeface="Calibri" pitchFamily="34" charset="0"/>
                <a:ea typeface="Calibri" pitchFamily="34" charset="-122"/>
                <a:cs typeface="Calibri" pitchFamily="34" charset="-120"/>
              </a:rPr>
              <a:t>One contract</a:t>
            </a:r>
            <a:endParaRPr lang="en-US" sz="1300" dirty="0"/>
          </a:p>
        </p:txBody>
      </p:sp>
      <p:sp>
        <p:nvSpPr>
          <p:cNvPr id="46" name="text-142"/>
          <p:cNvSpPr txBox="1"/>
          <p:nvPr/>
        </p:nvSpPr>
        <p:spPr>
          <a:xfrm>
            <a:off x="9509760" y="3282696"/>
            <a:ext cx="2011680" cy="658368"/>
          </a:xfrm>
          <a:prstGeom prst="rect">
            <a:avLst/>
          </a:prstGeom>
          <a:noFill/>
          <a:ln/>
        </p:spPr>
        <p:txBody>
          <a:bodyPr wrap="square" lIns="0" tIns="0" rIns="0" bIns="0" rtlCol="0" anchor="t"/>
          <a:lstStyle/>
          <a:p>
            <a:pPr marL="0" indent="0">
              <a:buNone/>
            </a:pPr>
            <a:r>
              <a:rPr lang="en-US" sz="1150" dirty="0">
                <a:solidFill>
                  <a:schemeClr val="accent5"/>
                </a:solidFill>
                <a:latin typeface="Calibri" pitchFamily="34" charset="0"/>
                <a:ea typeface="Calibri" pitchFamily="34" charset="-122"/>
                <a:cs typeface="Calibri" pitchFamily="34" charset="-120"/>
              </a:rPr>
              <a:t>docs/API.md let four developers build in parallel.</a:t>
            </a:r>
            <a:endParaRPr lang="en-US" sz="1150" dirty="0"/>
          </a:p>
        </p:txBody>
      </p:sp>
      <p:sp>
        <p:nvSpPr>
          <p:cNvPr id="47" name="text-143"/>
          <p:cNvSpPr txBox="1"/>
          <p:nvPr/>
        </p:nvSpPr>
        <p:spPr>
          <a:xfrm>
            <a:off x="9509760" y="3931920"/>
            <a:ext cx="2011680" cy="256032"/>
          </a:xfrm>
          <a:prstGeom prst="rect">
            <a:avLst/>
          </a:prstGeom>
          <a:noFill/>
          <a:ln/>
        </p:spPr>
        <p:txBody>
          <a:bodyPr wrap="square" lIns="0" tIns="0" rIns="0" bIns="0" rtlCol="0" anchor="ctr"/>
          <a:lstStyle/>
          <a:p>
            <a:pPr marL="0" indent="0">
              <a:buNone/>
            </a:pPr>
            <a:r>
              <a:rPr lang="en-US" sz="1300" b="1" dirty="0">
                <a:solidFill>
                  <a:schemeClr val="bg1"/>
                </a:solidFill>
                <a:latin typeface="Calibri" pitchFamily="34" charset="0"/>
                <a:ea typeface="Calibri" pitchFamily="34" charset="-122"/>
                <a:cs typeface="Calibri" pitchFamily="34" charset="-120"/>
              </a:rPr>
              <a:t>Self-reporting</a:t>
            </a:r>
            <a:endParaRPr lang="en-US" sz="1300" dirty="0"/>
          </a:p>
        </p:txBody>
      </p:sp>
      <p:sp>
        <p:nvSpPr>
          <p:cNvPr id="48" name="text-144"/>
          <p:cNvSpPr txBox="1"/>
          <p:nvPr/>
        </p:nvSpPr>
        <p:spPr>
          <a:xfrm>
            <a:off x="9509760" y="4197096"/>
            <a:ext cx="2011680" cy="658368"/>
          </a:xfrm>
          <a:prstGeom prst="rect">
            <a:avLst/>
          </a:prstGeom>
          <a:noFill/>
          <a:ln/>
        </p:spPr>
        <p:txBody>
          <a:bodyPr wrap="square" lIns="0" tIns="0" rIns="0" bIns="0" rtlCol="0" anchor="t"/>
          <a:lstStyle/>
          <a:p>
            <a:pPr marL="0" indent="0">
              <a:buNone/>
            </a:pPr>
            <a:r>
              <a:rPr lang="en-US" sz="1150" dirty="0">
                <a:solidFill>
                  <a:schemeClr val="accent5"/>
                </a:solidFill>
                <a:latin typeface="Calibri" pitchFamily="34" charset="0"/>
                <a:ea typeface="Calibri" pitchFamily="34" charset="-122"/>
                <a:cs typeface="Calibri" pitchFamily="34" charset="-120"/>
              </a:rPr>
              <a:t>/health says whether the DB is up or on the demo copy.</a:t>
            </a:r>
            <a:endParaRPr lang="en-US" sz="1150" dirty="0"/>
          </a:p>
        </p:txBody>
      </p:sp>
      <p:sp>
        <p:nvSpPr>
          <p:cNvPr id="49" name="text-145"/>
          <p:cNvSpPr txBox="1"/>
          <p:nvPr/>
        </p:nvSpPr>
        <p:spPr>
          <a:xfrm>
            <a:off x="9509760" y="4846320"/>
            <a:ext cx="2011680" cy="256032"/>
          </a:xfrm>
          <a:prstGeom prst="rect">
            <a:avLst/>
          </a:prstGeom>
          <a:noFill/>
          <a:ln/>
        </p:spPr>
        <p:txBody>
          <a:bodyPr wrap="square" lIns="0" tIns="0" rIns="0" bIns="0" rtlCol="0" anchor="ctr"/>
          <a:lstStyle/>
          <a:p>
            <a:pPr marL="0" indent="0">
              <a:buNone/>
            </a:pPr>
            <a:r>
              <a:rPr lang="en-US" sz="1300" b="1" dirty="0">
                <a:solidFill>
                  <a:schemeClr val="bg1"/>
                </a:solidFill>
                <a:latin typeface="Calibri" pitchFamily="34" charset="0"/>
                <a:ea typeface="Calibri" pitchFamily="34" charset="-122"/>
                <a:cs typeface="Calibri" pitchFamily="34" charset="-120"/>
              </a:rPr>
              <a:t>No hard-coded URLs</a:t>
            </a:r>
            <a:endParaRPr lang="en-US" sz="1300" dirty="0"/>
          </a:p>
        </p:txBody>
      </p:sp>
      <p:sp>
        <p:nvSpPr>
          <p:cNvPr id="50" name="text-146"/>
          <p:cNvSpPr txBox="1"/>
          <p:nvPr/>
        </p:nvSpPr>
        <p:spPr>
          <a:xfrm>
            <a:off x="9509760" y="5111496"/>
            <a:ext cx="2011680" cy="658368"/>
          </a:xfrm>
          <a:prstGeom prst="rect">
            <a:avLst/>
          </a:prstGeom>
          <a:noFill/>
          <a:ln/>
        </p:spPr>
        <p:txBody>
          <a:bodyPr wrap="square" lIns="0" tIns="0" rIns="0" bIns="0" rtlCol="0" anchor="t"/>
          <a:lstStyle/>
          <a:p>
            <a:pPr marL="0" indent="0">
              <a:buNone/>
            </a:pPr>
            <a:r>
              <a:rPr lang="en-US" sz="1150" dirty="0">
                <a:solidFill>
                  <a:schemeClr val="accent5"/>
                </a:solidFill>
                <a:latin typeface="Calibri" pitchFamily="34" charset="0"/>
                <a:ea typeface="Calibri" pitchFamily="34" charset="-122"/>
                <a:cs typeface="Calibri" pitchFamily="34" charset="-120"/>
              </a:rPr>
              <a:t>The API address is injected at deploy into env.js.</a:t>
            </a:r>
            <a:endParaRPr lang="en-US" sz="1150" dirty="0"/>
          </a:p>
        </p:txBody>
      </p:sp>
      <p:sp>
        <p:nvSpPr>
          <p:cNvPr id="51"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47472"/>
            <a:ext cx="8229600" cy="274320"/>
          </a:xfrm>
          <a:prstGeom prst="rect">
            <a:avLst/>
          </a:prstGeom>
          <a:noFill/>
          <a:ln/>
        </p:spPr>
        <p:txBody>
          <a:bodyPr wrap="square" lIns="0" tIns="0" rIns="0" bIns="0" rtlCol="0" anchor="ctr"/>
          <a:lstStyle/>
          <a:p>
            <a:pPr marL="0" indent="0">
              <a:buNone/>
            </a:pPr>
            <a:r>
              <a:rPr lang="en-US" sz="1200" b="1" kern="0" spc="200" dirty="0">
                <a:solidFill>
                  <a:schemeClr val="accent1"/>
                </a:solidFill>
              </a:rPr>
              <a:t>AR TRACKING</a:t>
            </a:r>
            <a:endParaRPr lang="en-US" sz="1200" dirty="0"/>
          </a:p>
        </p:txBody>
      </p:sp>
      <p:sp>
        <p:nvSpPr>
          <p:cNvPr id="3" name="Text 0"/>
          <p:cNvSpPr>
            <a:spLocks noGrp="1"/>
          </p:cNvSpPr>
          <p:nvPr>
            <p:ph type="title" idx="101" hasCustomPrompt="1"/>
          </p:nvPr>
        </p:nvSpPr>
        <p:spPr>
          <a:xfrm>
            <a:off x="548640" y="621792"/>
            <a:ext cx="11094415"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How the phone knows which machine it is looking at</a:t>
            </a:r>
            <a:endParaRPr lang="en-US" sz="3000" dirty="0"/>
          </a:p>
        </p:txBody>
      </p:sp>
      <p:sp>
        <p:nvSpPr>
          <p:cNvPr id="4" name="card-147"/>
          <p:cNvSpPr/>
          <p:nvPr/>
        </p:nvSpPr>
        <p:spPr>
          <a:xfrm>
            <a:off x="548640" y="1600200"/>
            <a:ext cx="1627632" cy="960120"/>
          </a:xfrm>
          <a:prstGeom prst="roundRect">
            <a:avLst>
              <a:gd name="adj" fmla="val 7619"/>
            </a:avLst>
          </a:prstGeom>
          <a:solidFill>
            <a:schemeClr val="bg2"/>
          </a:solidFill>
          <a:ln w="12700">
            <a:solidFill>
              <a:schemeClr val="bg2"/>
            </a:solidFill>
            <a:prstDash val="solid"/>
          </a:ln>
        </p:spPr>
      </p:sp>
      <p:sp>
        <p:nvSpPr>
          <p:cNvPr id="5" name="text-148"/>
          <p:cNvSpPr txBox="1"/>
          <p:nvPr/>
        </p:nvSpPr>
        <p:spPr>
          <a:xfrm>
            <a:off x="658368" y="1673352"/>
            <a:ext cx="1408176" cy="411480"/>
          </a:xfrm>
          <a:prstGeom prst="rect">
            <a:avLst/>
          </a:prstGeom>
          <a:noFill/>
          <a:ln/>
        </p:spPr>
        <p:txBody>
          <a:bodyPr wrap="square" lIns="0" tIns="0" rIns="0" bIns="0" rtlCol="0" anchor="ctr"/>
          <a:lstStyle/>
          <a:p>
            <a:pPr marL="0" indent="0" algn="ctr">
              <a:buNone/>
            </a:pPr>
            <a:r>
              <a:rPr lang="en-US" sz="1400" b="1" dirty="0">
                <a:solidFill>
                  <a:schemeClr val="tx1"/>
                </a:solidFill>
                <a:latin typeface="Calibri" pitchFamily="34" charset="0"/>
                <a:ea typeface="Calibri" pitchFamily="34" charset="-122"/>
                <a:cs typeface="Calibri" pitchFamily="34" charset="-120"/>
              </a:rPr>
              <a:t>5 marker PNGs</a:t>
            </a:r>
            <a:endParaRPr lang="en-US" sz="1400" dirty="0"/>
          </a:p>
        </p:txBody>
      </p:sp>
      <p:sp>
        <p:nvSpPr>
          <p:cNvPr id="6" name="text-149"/>
          <p:cNvSpPr txBox="1"/>
          <p:nvPr/>
        </p:nvSpPr>
        <p:spPr>
          <a:xfrm>
            <a:off x="658368" y="2103120"/>
            <a:ext cx="1408176" cy="365760"/>
          </a:xfrm>
          <a:prstGeom prst="rect">
            <a:avLst/>
          </a:prstGeom>
          <a:noFill/>
          <a:ln/>
        </p:spPr>
        <p:txBody>
          <a:bodyPr wrap="square" lIns="0" tIns="0" rIns="0" bIns="0" rtlCol="0" anchor="ctr"/>
          <a:lstStyle/>
          <a:p>
            <a:pPr marL="0" indent="0" algn="ctr">
              <a:buNone/>
            </a:pPr>
            <a:r>
              <a:rPr lang="en-US" sz="1150" dirty="0">
                <a:solidFill>
                  <a:schemeClr val="tx2"/>
                </a:solidFill>
                <a:latin typeface="Calibri" pitchFamily="34" charset="0"/>
                <a:ea typeface="Calibri" pitchFamily="34" charset="-122"/>
                <a:cs typeface="Calibri" pitchFamily="34" charset="-120"/>
              </a:rPr>
              <a:t>MARK-001 … 005</a:t>
            </a:r>
            <a:endParaRPr lang="en-US" sz="1150" dirty="0"/>
          </a:p>
        </p:txBody>
      </p:sp>
      <p:sp>
        <p:nvSpPr>
          <p:cNvPr id="7" name="line-150"/>
          <p:cNvSpPr/>
          <p:nvPr/>
        </p:nvSpPr>
        <p:spPr>
          <a:xfrm>
            <a:off x="2212848" y="2080260"/>
            <a:ext cx="192024" cy="0"/>
          </a:xfrm>
          <a:prstGeom prst="line">
            <a:avLst/>
          </a:prstGeom>
          <a:noFill/>
          <a:ln w="19050">
            <a:solidFill>
              <a:schemeClr val="accent5"/>
            </a:solidFill>
            <a:prstDash val="solid"/>
            <a:tailEnd type="triangle"/>
          </a:ln>
        </p:spPr>
      </p:sp>
      <p:sp>
        <p:nvSpPr>
          <p:cNvPr id="8" name="card-151"/>
          <p:cNvSpPr/>
          <p:nvPr/>
        </p:nvSpPr>
        <p:spPr>
          <a:xfrm>
            <a:off x="2441448" y="1600200"/>
            <a:ext cx="1627632" cy="960120"/>
          </a:xfrm>
          <a:prstGeom prst="roundRect">
            <a:avLst>
              <a:gd name="adj" fmla="val 7619"/>
            </a:avLst>
          </a:prstGeom>
          <a:solidFill>
            <a:schemeClr val="bg2"/>
          </a:solidFill>
          <a:ln w="12700">
            <a:solidFill>
              <a:schemeClr val="bg2"/>
            </a:solidFill>
            <a:prstDash val="solid"/>
          </a:ln>
        </p:spPr>
      </p:sp>
      <p:sp>
        <p:nvSpPr>
          <p:cNvPr id="9" name="text-152"/>
          <p:cNvSpPr txBox="1"/>
          <p:nvPr/>
        </p:nvSpPr>
        <p:spPr>
          <a:xfrm>
            <a:off x="2551176" y="1673352"/>
            <a:ext cx="1408176" cy="411480"/>
          </a:xfrm>
          <a:prstGeom prst="rect">
            <a:avLst/>
          </a:prstGeom>
          <a:noFill/>
          <a:ln/>
        </p:spPr>
        <p:txBody>
          <a:bodyPr wrap="square" lIns="0" tIns="0" rIns="0" bIns="0" rtlCol="0" anchor="ctr"/>
          <a:lstStyle/>
          <a:p>
            <a:pPr marL="0" indent="0" algn="ctr">
              <a:buNone/>
            </a:pPr>
            <a:r>
              <a:rPr lang="en-US" sz="1400" b="1" dirty="0">
                <a:solidFill>
                  <a:schemeClr val="tx1"/>
                </a:solidFill>
                <a:latin typeface="Calibri" pitchFamily="34" charset="0"/>
                <a:ea typeface="Calibri" pitchFamily="34" charset="-122"/>
                <a:cs typeface="Calibri" pitchFamily="34" charset="-120"/>
              </a:rPr>
              <a:t>mindar-compiler</a:t>
            </a:r>
            <a:endParaRPr lang="en-US" sz="1400" dirty="0"/>
          </a:p>
        </p:txBody>
      </p:sp>
      <p:sp>
        <p:nvSpPr>
          <p:cNvPr id="10" name="text-153"/>
          <p:cNvSpPr txBox="1"/>
          <p:nvPr/>
        </p:nvSpPr>
        <p:spPr>
          <a:xfrm>
            <a:off x="2551176" y="2103120"/>
            <a:ext cx="1408176" cy="365760"/>
          </a:xfrm>
          <a:prstGeom prst="rect">
            <a:avLst/>
          </a:prstGeom>
          <a:noFill/>
          <a:ln/>
        </p:spPr>
        <p:txBody>
          <a:bodyPr wrap="square" lIns="0" tIns="0" rIns="0" bIns="0" rtlCol="0" anchor="ctr"/>
          <a:lstStyle/>
          <a:p>
            <a:pPr marL="0" indent="0" algn="ctr">
              <a:buNone/>
            </a:pPr>
            <a:r>
              <a:rPr lang="en-US" sz="1150" dirty="0">
                <a:solidFill>
                  <a:schemeClr val="tx2"/>
                </a:solidFill>
                <a:latin typeface="Calibri" pitchFamily="34" charset="0"/>
                <a:ea typeface="Calibri" pitchFamily="34" charset="-122"/>
                <a:cs typeface="Calibri" pitchFamily="34" charset="-120"/>
              </a:rPr>
              <a:t>extracts feature points</a:t>
            </a:r>
            <a:endParaRPr lang="en-US" sz="1150" dirty="0"/>
          </a:p>
        </p:txBody>
      </p:sp>
      <p:sp>
        <p:nvSpPr>
          <p:cNvPr id="11" name="line-154"/>
          <p:cNvSpPr/>
          <p:nvPr/>
        </p:nvSpPr>
        <p:spPr>
          <a:xfrm>
            <a:off x="4105656" y="2080260"/>
            <a:ext cx="192024" cy="0"/>
          </a:xfrm>
          <a:prstGeom prst="line">
            <a:avLst/>
          </a:prstGeom>
          <a:noFill/>
          <a:ln w="19050">
            <a:solidFill>
              <a:schemeClr val="accent5"/>
            </a:solidFill>
            <a:prstDash val="solid"/>
            <a:tailEnd type="triangle"/>
          </a:ln>
        </p:spPr>
      </p:sp>
      <p:sp>
        <p:nvSpPr>
          <p:cNvPr id="12" name="card-155"/>
          <p:cNvSpPr/>
          <p:nvPr/>
        </p:nvSpPr>
        <p:spPr>
          <a:xfrm>
            <a:off x="4334256" y="1600200"/>
            <a:ext cx="1627632" cy="960120"/>
          </a:xfrm>
          <a:prstGeom prst="roundRect">
            <a:avLst>
              <a:gd name="adj" fmla="val 7619"/>
            </a:avLst>
          </a:prstGeom>
          <a:solidFill>
            <a:schemeClr val="bg2"/>
          </a:solidFill>
          <a:ln w="12700">
            <a:solidFill>
              <a:schemeClr val="bg2"/>
            </a:solidFill>
            <a:prstDash val="solid"/>
          </a:ln>
        </p:spPr>
      </p:sp>
      <p:sp>
        <p:nvSpPr>
          <p:cNvPr id="13" name="text-156"/>
          <p:cNvSpPr txBox="1"/>
          <p:nvPr/>
        </p:nvSpPr>
        <p:spPr>
          <a:xfrm>
            <a:off x="4443984" y="1673352"/>
            <a:ext cx="1408176" cy="411480"/>
          </a:xfrm>
          <a:prstGeom prst="rect">
            <a:avLst/>
          </a:prstGeom>
          <a:noFill/>
          <a:ln/>
        </p:spPr>
        <p:txBody>
          <a:bodyPr wrap="square" lIns="0" tIns="0" rIns="0" bIns="0" rtlCol="0" anchor="ctr"/>
          <a:lstStyle/>
          <a:p>
            <a:pPr marL="0" indent="0" algn="ctr">
              <a:buNone/>
            </a:pPr>
            <a:r>
              <a:rPr lang="en-US" sz="1400" b="1" dirty="0">
                <a:solidFill>
                  <a:schemeClr val="tx1"/>
                </a:solidFill>
                <a:latin typeface="Calibri" pitchFamily="34" charset="0"/>
                <a:ea typeface="Calibri" pitchFamily="34" charset="-122"/>
                <a:cs typeface="Calibri" pitchFamily="34" charset="-120"/>
              </a:rPr>
              <a:t>targets.mind</a:t>
            </a:r>
            <a:endParaRPr lang="en-US" sz="1400" dirty="0"/>
          </a:p>
        </p:txBody>
      </p:sp>
      <p:sp>
        <p:nvSpPr>
          <p:cNvPr id="14" name="text-157"/>
          <p:cNvSpPr txBox="1"/>
          <p:nvPr/>
        </p:nvSpPr>
        <p:spPr>
          <a:xfrm>
            <a:off x="4443984" y="2103120"/>
            <a:ext cx="1408176" cy="365760"/>
          </a:xfrm>
          <a:prstGeom prst="rect">
            <a:avLst/>
          </a:prstGeom>
          <a:noFill/>
          <a:ln/>
        </p:spPr>
        <p:txBody>
          <a:bodyPr wrap="square" lIns="0" tIns="0" rIns="0" bIns="0" rtlCol="0" anchor="ctr"/>
          <a:lstStyle/>
          <a:p>
            <a:pPr marL="0" indent="0" algn="ctr">
              <a:buNone/>
            </a:pPr>
            <a:r>
              <a:rPr lang="en-US" sz="1150" dirty="0">
                <a:solidFill>
                  <a:schemeClr val="tx2"/>
                </a:solidFill>
                <a:latin typeface="Calibri" pitchFamily="34" charset="0"/>
                <a:ea typeface="Calibri" pitchFamily="34" charset="-122"/>
                <a:cs typeface="Calibri" pitchFamily="34" charset="-120"/>
              </a:rPr>
              <a:t>fingerprints, in git</a:t>
            </a:r>
            <a:endParaRPr lang="en-US" sz="1150" dirty="0"/>
          </a:p>
        </p:txBody>
      </p:sp>
      <p:sp>
        <p:nvSpPr>
          <p:cNvPr id="15" name="line-158"/>
          <p:cNvSpPr/>
          <p:nvPr/>
        </p:nvSpPr>
        <p:spPr>
          <a:xfrm>
            <a:off x="5998464" y="2080260"/>
            <a:ext cx="192024" cy="0"/>
          </a:xfrm>
          <a:prstGeom prst="line">
            <a:avLst/>
          </a:prstGeom>
          <a:noFill/>
          <a:ln w="19050">
            <a:solidFill>
              <a:schemeClr val="accent5"/>
            </a:solidFill>
            <a:prstDash val="solid"/>
            <a:tailEnd type="triangle"/>
          </a:ln>
        </p:spPr>
      </p:sp>
      <p:sp>
        <p:nvSpPr>
          <p:cNvPr id="16" name="card-159"/>
          <p:cNvSpPr/>
          <p:nvPr/>
        </p:nvSpPr>
        <p:spPr>
          <a:xfrm>
            <a:off x="6227064" y="1600200"/>
            <a:ext cx="1627632" cy="960120"/>
          </a:xfrm>
          <a:prstGeom prst="roundRect">
            <a:avLst>
              <a:gd name="adj" fmla="val 7619"/>
            </a:avLst>
          </a:prstGeom>
          <a:solidFill>
            <a:schemeClr val="tx1"/>
          </a:solidFill>
          <a:ln w="12700">
            <a:solidFill>
              <a:schemeClr val="tx1"/>
            </a:solidFill>
            <a:prstDash val="solid"/>
          </a:ln>
        </p:spPr>
      </p:sp>
      <p:sp>
        <p:nvSpPr>
          <p:cNvPr id="17" name="text-160"/>
          <p:cNvSpPr txBox="1"/>
          <p:nvPr/>
        </p:nvSpPr>
        <p:spPr>
          <a:xfrm>
            <a:off x="6336792" y="1673352"/>
            <a:ext cx="1408176" cy="411480"/>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Camera frame</a:t>
            </a:r>
            <a:endParaRPr lang="en-US" sz="1400" dirty="0"/>
          </a:p>
        </p:txBody>
      </p:sp>
      <p:sp>
        <p:nvSpPr>
          <p:cNvPr id="18" name="text-161"/>
          <p:cNvSpPr txBox="1"/>
          <p:nvPr/>
        </p:nvSpPr>
        <p:spPr>
          <a:xfrm>
            <a:off x="6336792" y="2103120"/>
            <a:ext cx="1408176" cy="365760"/>
          </a:xfrm>
          <a:prstGeom prst="rect">
            <a:avLst/>
          </a:prstGeom>
          <a:noFill/>
          <a:ln/>
        </p:spPr>
        <p:txBody>
          <a:bodyPr wrap="square" lIns="0" tIns="0" rIns="0" bIns="0" rtlCol="0" anchor="ctr"/>
          <a:lstStyle/>
          <a:p>
            <a:pPr marL="0" indent="0" algn="ctr">
              <a:buNone/>
            </a:pPr>
            <a:r>
              <a:rPr lang="en-US" sz="1150" dirty="0">
                <a:solidFill>
                  <a:schemeClr val="accent5"/>
                </a:solidFill>
                <a:latin typeface="Calibri" pitchFamily="34" charset="0"/>
                <a:ea typeface="Calibri" pitchFamily="34" charset="-122"/>
                <a:cs typeface="Calibri" pitchFamily="34" charset="-120"/>
              </a:rPr>
              <a:t>matched in-browser</a:t>
            </a:r>
            <a:endParaRPr lang="en-US" sz="1150" dirty="0"/>
          </a:p>
        </p:txBody>
      </p:sp>
      <p:sp>
        <p:nvSpPr>
          <p:cNvPr id="19" name="line-162"/>
          <p:cNvSpPr/>
          <p:nvPr/>
        </p:nvSpPr>
        <p:spPr>
          <a:xfrm>
            <a:off x="7891272" y="2080260"/>
            <a:ext cx="192024" cy="0"/>
          </a:xfrm>
          <a:prstGeom prst="line">
            <a:avLst/>
          </a:prstGeom>
          <a:noFill/>
          <a:ln w="19050">
            <a:solidFill>
              <a:schemeClr val="accent5"/>
            </a:solidFill>
            <a:prstDash val="solid"/>
            <a:tailEnd type="triangle"/>
          </a:ln>
        </p:spPr>
      </p:sp>
      <p:sp>
        <p:nvSpPr>
          <p:cNvPr id="20" name="card-163"/>
          <p:cNvSpPr/>
          <p:nvPr/>
        </p:nvSpPr>
        <p:spPr>
          <a:xfrm>
            <a:off x="8119872" y="1600200"/>
            <a:ext cx="1627632" cy="960120"/>
          </a:xfrm>
          <a:prstGeom prst="roundRect">
            <a:avLst>
              <a:gd name="adj" fmla="val 7619"/>
            </a:avLst>
          </a:prstGeom>
          <a:solidFill>
            <a:schemeClr val="tx1"/>
          </a:solidFill>
          <a:ln w="12700">
            <a:solidFill>
              <a:schemeClr val="tx1"/>
            </a:solidFill>
            <a:prstDash val="solid"/>
          </a:ln>
        </p:spPr>
      </p:sp>
      <p:sp>
        <p:nvSpPr>
          <p:cNvPr id="21" name="text-164"/>
          <p:cNvSpPr txBox="1"/>
          <p:nvPr/>
        </p:nvSpPr>
        <p:spPr>
          <a:xfrm>
            <a:off x="8229600" y="1673352"/>
            <a:ext cx="1408176" cy="411480"/>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Match #0</a:t>
            </a:r>
            <a:endParaRPr lang="en-US" sz="1400" dirty="0"/>
          </a:p>
        </p:txBody>
      </p:sp>
      <p:sp>
        <p:nvSpPr>
          <p:cNvPr id="22" name="text-165"/>
          <p:cNvSpPr txBox="1"/>
          <p:nvPr/>
        </p:nvSpPr>
        <p:spPr>
          <a:xfrm>
            <a:off x="8229600" y="2103120"/>
            <a:ext cx="1408176" cy="365760"/>
          </a:xfrm>
          <a:prstGeom prst="rect">
            <a:avLst/>
          </a:prstGeom>
          <a:noFill/>
          <a:ln/>
        </p:spPr>
        <p:txBody>
          <a:bodyPr wrap="square" lIns="0" tIns="0" rIns="0" bIns="0" rtlCol="0" anchor="ctr"/>
          <a:lstStyle/>
          <a:p>
            <a:pPr marL="0" indent="0" algn="ctr">
              <a:buNone/>
            </a:pPr>
            <a:r>
              <a:rPr lang="en-US" sz="1150" dirty="0">
                <a:solidFill>
                  <a:schemeClr val="accent5"/>
                </a:solidFill>
                <a:latin typeface="Calibri" pitchFamily="34" charset="0"/>
                <a:ea typeface="Calibri" pitchFamily="34" charset="-122"/>
                <a:cs typeface="Calibri" pitchFamily="34" charset="-120"/>
              </a:rPr>
              <a:t>= MARK-001</a:t>
            </a:r>
            <a:endParaRPr lang="en-US" sz="1150" dirty="0"/>
          </a:p>
        </p:txBody>
      </p:sp>
      <p:sp>
        <p:nvSpPr>
          <p:cNvPr id="23" name="line-166"/>
          <p:cNvSpPr/>
          <p:nvPr/>
        </p:nvSpPr>
        <p:spPr>
          <a:xfrm>
            <a:off x="9784080" y="2080260"/>
            <a:ext cx="192024" cy="0"/>
          </a:xfrm>
          <a:prstGeom prst="line">
            <a:avLst/>
          </a:prstGeom>
          <a:noFill/>
          <a:ln w="19050">
            <a:solidFill>
              <a:schemeClr val="accent5"/>
            </a:solidFill>
            <a:prstDash val="solid"/>
            <a:tailEnd type="triangle"/>
          </a:ln>
        </p:spPr>
      </p:sp>
      <p:sp>
        <p:nvSpPr>
          <p:cNvPr id="24" name="card-167"/>
          <p:cNvSpPr/>
          <p:nvPr/>
        </p:nvSpPr>
        <p:spPr>
          <a:xfrm>
            <a:off x="10012680" y="1600200"/>
            <a:ext cx="1627632" cy="960120"/>
          </a:xfrm>
          <a:prstGeom prst="roundRect">
            <a:avLst>
              <a:gd name="adj" fmla="val 7619"/>
            </a:avLst>
          </a:prstGeom>
          <a:solidFill>
            <a:schemeClr val="tx1"/>
          </a:solidFill>
          <a:ln w="12700">
            <a:solidFill>
              <a:schemeClr val="tx1"/>
            </a:solidFill>
            <a:prstDash val="solid"/>
          </a:ln>
        </p:spPr>
      </p:sp>
      <p:sp>
        <p:nvSpPr>
          <p:cNvPr id="25" name="text-168"/>
          <p:cNvSpPr txBox="1"/>
          <p:nvPr/>
        </p:nvSpPr>
        <p:spPr>
          <a:xfrm>
            <a:off x="10122408" y="1673352"/>
            <a:ext cx="1408176" cy="411480"/>
          </a:xfrm>
          <a:prstGeom prst="rect">
            <a:avLst/>
          </a:prstGeom>
          <a:noFill/>
          <a:ln/>
        </p:spPr>
        <p:txBody>
          <a:bodyPr wrap="square" lIns="0" tIns="0" rIns="0" bIns="0" rtlCol="0" anchor="ctr"/>
          <a:lstStyle/>
          <a:p>
            <a:pPr marL="0" indent="0" algn="ctr">
              <a:buNone/>
            </a:pPr>
            <a:r>
              <a:rPr lang="en-US" sz="1150" b="1" dirty="0">
                <a:solidFill>
                  <a:schemeClr val="bg1"/>
                </a:solidFill>
                <a:latin typeface="Courier New" pitchFamily="34" charset="0"/>
                <a:ea typeface="Courier New" pitchFamily="34" charset="-122"/>
                <a:cs typeface="Courier New" pitchFamily="34" charset="-120"/>
              </a:rPr>
              <a:t>GET /marker/MARK-001</a:t>
            </a:r>
            <a:endParaRPr lang="en-US" sz="1150" dirty="0"/>
          </a:p>
        </p:txBody>
      </p:sp>
      <p:sp>
        <p:nvSpPr>
          <p:cNvPr id="26" name="text-169"/>
          <p:cNvSpPr txBox="1"/>
          <p:nvPr/>
        </p:nvSpPr>
        <p:spPr>
          <a:xfrm>
            <a:off x="10122408" y="2103120"/>
            <a:ext cx="1408176" cy="365760"/>
          </a:xfrm>
          <a:prstGeom prst="rect">
            <a:avLst/>
          </a:prstGeom>
          <a:noFill/>
          <a:ln/>
        </p:spPr>
        <p:txBody>
          <a:bodyPr wrap="square" lIns="0" tIns="0" rIns="0" bIns="0" rtlCol="0" anchor="ctr"/>
          <a:lstStyle/>
          <a:p>
            <a:pPr marL="0" indent="0" algn="ctr">
              <a:buNone/>
            </a:pPr>
            <a:r>
              <a:rPr lang="en-US" sz="1150" dirty="0">
                <a:solidFill>
                  <a:schemeClr val="accent5"/>
                </a:solidFill>
                <a:latin typeface="Calibri" pitchFamily="34" charset="0"/>
                <a:ea typeface="Calibri" pitchFamily="34" charset="-122"/>
                <a:cs typeface="Calibri" pitchFamily="34" charset="-120"/>
              </a:rPr>
              <a:t>→ AST-001 passport</a:t>
            </a:r>
            <a:endParaRPr lang="en-US" sz="1150" dirty="0"/>
          </a:p>
        </p:txBody>
      </p:sp>
      <p:sp>
        <p:nvSpPr>
          <p:cNvPr id="27" name="text-170"/>
          <p:cNvSpPr txBox="1"/>
          <p:nvPr/>
        </p:nvSpPr>
        <p:spPr>
          <a:xfrm>
            <a:off x="548640" y="2670048"/>
            <a:ext cx="5413248" cy="256032"/>
          </a:xfrm>
          <a:prstGeom prst="rect">
            <a:avLst/>
          </a:prstGeom>
          <a:noFill/>
          <a:ln/>
        </p:spPr>
        <p:txBody>
          <a:bodyPr wrap="square" lIns="0" tIns="0" rIns="0" bIns="0" rtlCol="0" anchor="ctr"/>
          <a:lstStyle/>
          <a:p>
            <a:pPr marL="0" indent="0" algn="ctr">
              <a:buNone/>
            </a:pPr>
            <a:r>
              <a:rPr lang="en-US" sz="1100" b="1" kern="0" spc="100" dirty="0">
                <a:solidFill>
                  <a:schemeClr val="tx2"/>
                </a:solidFill>
                <a:latin typeface="Calibri" pitchFamily="34" charset="0"/>
                <a:ea typeface="Calibri" pitchFamily="34" charset="-122"/>
                <a:cs typeface="Calibri" pitchFamily="34" charset="-120"/>
              </a:rPr>
              <a:t>BUILD TIME · once, on a laptop</a:t>
            </a:r>
            <a:endParaRPr lang="en-US" sz="1100" dirty="0"/>
          </a:p>
        </p:txBody>
      </p:sp>
      <p:sp>
        <p:nvSpPr>
          <p:cNvPr id="28" name="text-171"/>
          <p:cNvSpPr txBox="1"/>
          <p:nvPr/>
        </p:nvSpPr>
        <p:spPr>
          <a:xfrm>
            <a:off x="6227064" y="2670048"/>
            <a:ext cx="5413248" cy="256032"/>
          </a:xfrm>
          <a:prstGeom prst="rect">
            <a:avLst/>
          </a:prstGeom>
          <a:noFill/>
          <a:ln/>
        </p:spPr>
        <p:txBody>
          <a:bodyPr wrap="square" lIns="0" tIns="0" rIns="0" bIns="0" rtlCol="0" anchor="ctr"/>
          <a:lstStyle/>
          <a:p>
            <a:pPr marL="0" indent="0" algn="ctr">
              <a:buNone/>
            </a:pPr>
            <a:r>
              <a:rPr lang="en-US" sz="1100" b="1" kern="0" spc="100" dirty="0">
                <a:solidFill>
                  <a:schemeClr val="accent1"/>
                </a:solidFill>
                <a:latin typeface="Calibri" pitchFamily="34" charset="0"/>
                <a:ea typeface="Calibri" pitchFamily="34" charset="-122"/>
                <a:cs typeface="Calibri" pitchFamily="34" charset="-120"/>
              </a:rPr>
              <a:t>RUN TIME · many times a second, on the phone</a:t>
            </a:r>
            <a:endParaRPr lang="en-US" sz="1100" dirty="0"/>
          </a:p>
        </p:txBody>
      </p:sp>
      <p:sp>
        <p:nvSpPr>
          <p:cNvPr id="29" name="card-172"/>
          <p:cNvSpPr/>
          <p:nvPr/>
        </p:nvSpPr>
        <p:spPr>
          <a:xfrm>
            <a:off x="548640" y="3200400"/>
            <a:ext cx="6035040" cy="2606040"/>
          </a:xfrm>
          <a:prstGeom prst="roundRect">
            <a:avLst>
              <a:gd name="adj" fmla="val 2807"/>
            </a:avLst>
          </a:prstGeom>
          <a:solidFill>
            <a:schemeClr val="bg2"/>
          </a:solidFill>
          <a:ln w="12700">
            <a:solidFill>
              <a:schemeClr val="bg2"/>
            </a:solidFill>
            <a:prstDash val="solid"/>
          </a:ln>
        </p:spPr>
      </p:sp>
      <p:graphicFrame>
        <p:nvGraphicFramePr>
          <p:cNvPr id="30" name="chart-feature-points"/>
          <p:cNvGraphicFramePr/>
          <p:nvPr/>
        </p:nvGraphicFramePr>
        <p:xfrm>
          <a:off x="685800" y="3291840"/>
          <a:ext cx="5760720" cy="2423160"/>
        </p:xfrm>
        <a:graphic>
          <a:graphicData uri="http://schemas.openxmlformats.org/drawingml/2006/chart">
            <c:chart xmlns:c="http://schemas.openxmlformats.org/drawingml/2006/chart" xmlns:r="http://schemas.openxmlformats.org/officeDocument/2006/relationships" r:id="rId3"/>
          </a:graphicData>
        </a:graphic>
      </p:graphicFrame>
      <p:sp>
        <p:nvSpPr>
          <p:cNvPr id="31" name="icon-bg-173"/>
          <p:cNvSpPr/>
          <p:nvPr/>
        </p:nvSpPr>
        <p:spPr>
          <a:xfrm>
            <a:off x="6903720" y="3246120"/>
            <a:ext cx="548640" cy="548640"/>
          </a:xfrm>
          <a:prstGeom prst="ellipse">
            <a:avLst/>
          </a:prstGeom>
          <a:solidFill>
            <a:schemeClr val="accent2"/>
          </a:solidFill>
          <a:ln w="12700">
            <a:solidFill>
              <a:schemeClr val="accent2"/>
            </a:solidFill>
            <a:prstDash val="solid"/>
          </a:ln>
        </p:spPr>
      </p:sp>
      <p:pic>
        <p:nvPicPr>
          <p:cNvPr id="32" name="icon-174" descr="preencoded.png"/>
          <p:cNvPicPr>
            <a:picLocks noChangeAspect="1"/>
          </p:cNvPicPr>
          <p:nvPr/>
        </p:nvPicPr>
        <p:blipFill>
          <a:blip r:embed="rId4"/>
          <a:stretch>
            <a:fillRect/>
          </a:stretch>
        </p:blipFill>
        <p:spPr>
          <a:xfrm>
            <a:off x="7035394" y="3377794"/>
            <a:ext cx="285293" cy="285293"/>
          </a:xfrm>
          <a:prstGeom prst="rect">
            <a:avLst/>
          </a:prstGeom>
        </p:spPr>
      </p:pic>
      <p:sp>
        <p:nvSpPr>
          <p:cNvPr id="33" name="text-175"/>
          <p:cNvSpPr txBox="1"/>
          <p:nvPr/>
        </p:nvSpPr>
        <p:spPr>
          <a:xfrm>
            <a:off x="7635240" y="3246120"/>
            <a:ext cx="4023360" cy="548640"/>
          </a:xfrm>
          <a:prstGeom prst="rect">
            <a:avLst/>
          </a:prstGeom>
          <a:noFill/>
          <a:ln/>
        </p:spPr>
        <p:txBody>
          <a:bodyPr wrap="square" lIns="0" tIns="0" rIns="0" bIns="0" rtlCol="0" anchor="ctr"/>
          <a:lstStyle/>
          <a:p>
            <a:pPr marL="0" indent="0">
              <a:buNone/>
            </a:pPr>
            <a:r>
              <a:rPr lang="en-US" sz="1600" b="1" dirty="0">
                <a:solidFill>
                  <a:schemeClr val="tx1"/>
                </a:solidFill>
                <a:latin typeface="Calibri" pitchFamily="34" charset="0"/>
                <a:ea typeface="Calibri" pitchFamily="34" charset="-122"/>
                <a:cs typeface="Calibri" pitchFamily="34" charset="-120"/>
              </a:rPr>
              <a:t>Two markers never tracked, so we fixed the artwork</a:t>
            </a:r>
            <a:endParaRPr lang="en-US" sz="1600" dirty="0"/>
          </a:p>
        </p:txBody>
      </p:sp>
      <p:sp>
        <p:nvSpPr>
          <p:cNvPr id="34" name="text-176"/>
          <p:cNvSpPr txBox="1"/>
          <p:nvPr/>
        </p:nvSpPr>
        <p:spPr>
          <a:xfrm>
            <a:off x="6903720" y="3931920"/>
            <a:ext cx="4736592" cy="1874520"/>
          </a:xfrm>
          <a:prstGeom prst="rect">
            <a:avLst/>
          </a:prstGeom>
          <a:noFill/>
          <a:ln/>
        </p:spPr>
        <p:txBody>
          <a:bodyPr wrap="square" lIns="0" tIns="0" rIns="0" bIns="0" rtlCol="0" anchor="t"/>
          <a:lstStyle/>
          <a:p>
            <a:pPr marL="0" indent="0">
              <a:spcAft>
                <a:spcPts val="800"/>
              </a:spcAft>
              <a:buNone/>
            </a:pPr>
            <a:r>
              <a:rPr lang="en-US" sz="1350" dirty="0">
                <a:solidFill>
                  <a:schemeClr val="tx2"/>
                </a:solidFill>
                <a:latin typeface="Calibri" pitchFamily="34" charset="0"/>
                <a:ea typeface="Calibri" pitchFamily="34" charset="-122"/>
                <a:cs typeface="Calibri" pitchFamily="34" charset="-120"/>
              </a:rPr>
              <a:t>MindAR locks on to corners and edges, not text or QR codes. MARK-001 and MARK-003 were large flat shapes with ~100 points and were never recognised.</a:t>
            </a:r>
            <a:endParaRPr lang="en-US" sz="1350" dirty="0"/>
          </a:p>
          <a:p>
            <a:pPr marL="0" indent="0">
              <a:spcAft>
                <a:spcPts val="800"/>
              </a:spcAft>
              <a:buNone/>
            </a:pPr>
            <a:r>
              <a:rPr lang="en-US" sz="1350" dirty="0">
                <a:solidFill>
                  <a:schemeClr val="tx2"/>
                </a:solidFill>
                <a:latin typeface="Calibri" pitchFamily="34" charset="0"/>
                <a:ea typeface="Calibri" pitchFamily="34" charset="-122"/>
                <a:cs typeface="Calibri" pitchFamily="34" charset="-120"/>
              </a:rPr>
              <a:t>Adding fine speckle texture inside the shapes raised them to ~270 points with the same IDs and look. MARK-002, 004 and 005 sit at 156, 242 and 218.</a:t>
            </a:r>
            <a:endParaRPr lang="en-US" sz="1350" dirty="0"/>
          </a:p>
        </p:txBody>
      </p:sp>
      <p:sp>
        <p:nvSpPr>
          <p:cNvPr id="3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47472"/>
            <a:ext cx="8229600" cy="274320"/>
          </a:xfrm>
          <a:prstGeom prst="rect">
            <a:avLst/>
          </a:prstGeom>
          <a:noFill/>
          <a:ln/>
        </p:spPr>
        <p:txBody>
          <a:bodyPr wrap="square" lIns="0" tIns="0" rIns="0" bIns="0" rtlCol="0" anchor="ctr"/>
          <a:lstStyle/>
          <a:p>
            <a:pPr marL="0" indent="0">
              <a:buNone/>
            </a:pPr>
            <a:r>
              <a:rPr lang="en-US" sz="1200" b="1" kern="0" spc="200" dirty="0">
                <a:solidFill>
                  <a:schemeClr val="accent1"/>
                </a:solidFill>
              </a:rPr>
              <a:t>PRIMARY ACCEPTANCE TEST</a:t>
            </a:r>
            <a:endParaRPr lang="en-US" sz="1200" dirty="0"/>
          </a:p>
        </p:txBody>
      </p:sp>
      <p:sp>
        <p:nvSpPr>
          <p:cNvPr id="3" name="Text 0"/>
          <p:cNvSpPr>
            <a:spLocks noGrp="1"/>
          </p:cNvSpPr>
          <p:nvPr>
            <p:ph type="title" idx="101" hasCustomPrompt="1"/>
          </p:nvPr>
        </p:nvSpPr>
        <p:spPr>
          <a:xfrm>
            <a:off x="548640" y="621792"/>
            <a:ext cx="11094415"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One journey touches every layer of the system</a:t>
            </a:r>
            <a:endParaRPr lang="en-US" sz="3000" dirty="0"/>
          </a:p>
        </p:txBody>
      </p:sp>
      <p:sp>
        <p:nvSpPr>
          <p:cNvPr id="4" name="card-177"/>
          <p:cNvSpPr/>
          <p:nvPr/>
        </p:nvSpPr>
        <p:spPr>
          <a:xfrm>
            <a:off x="548640" y="1600200"/>
            <a:ext cx="2567864" cy="2011680"/>
          </a:xfrm>
          <a:prstGeom prst="roundRect">
            <a:avLst>
              <a:gd name="adj" fmla="val 3636"/>
            </a:avLst>
          </a:prstGeom>
          <a:solidFill>
            <a:schemeClr val="bg2"/>
          </a:solidFill>
          <a:ln w="12700">
            <a:solidFill>
              <a:schemeClr val="bg2"/>
            </a:solidFill>
            <a:prstDash val="solid"/>
          </a:ln>
        </p:spPr>
      </p:sp>
      <p:sp>
        <p:nvSpPr>
          <p:cNvPr id="5" name="text-178"/>
          <p:cNvSpPr txBox="1"/>
          <p:nvPr/>
        </p:nvSpPr>
        <p:spPr>
          <a:xfrm>
            <a:off x="777240" y="1783080"/>
            <a:ext cx="731520" cy="457200"/>
          </a:xfrm>
          <a:prstGeom prst="rect">
            <a:avLst/>
          </a:prstGeom>
          <a:noFill/>
          <a:ln/>
        </p:spPr>
        <p:txBody>
          <a:bodyPr wrap="square" lIns="0" tIns="0" rIns="0" bIns="0" rtlCol="0" anchor="ctr"/>
          <a:lstStyle/>
          <a:p>
            <a:pPr marL="0" indent="0">
              <a:buNone/>
            </a:pPr>
            <a:r>
              <a:rPr lang="en-US" sz="2600" b="1" dirty="0">
                <a:solidFill>
                  <a:schemeClr val="accent1"/>
                </a:solidFill>
                <a:latin typeface="Arial" pitchFamily="34" charset="0"/>
                <a:ea typeface="Arial" pitchFamily="34" charset="-122"/>
                <a:cs typeface="Arial" pitchFamily="34" charset="-120"/>
              </a:rPr>
              <a:t>01</a:t>
            </a:r>
            <a:endParaRPr lang="en-US" sz="2600" dirty="0"/>
          </a:p>
        </p:txBody>
      </p:sp>
      <p:sp>
        <p:nvSpPr>
          <p:cNvPr id="6" name="text-179"/>
          <p:cNvSpPr txBox="1"/>
          <p:nvPr/>
        </p:nvSpPr>
        <p:spPr>
          <a:xfrm>
            <a:off x="777240" y="2313432"/>
            <a:ext cx="2110664" cy="329184"/>
          </a:xfrm>
          <a:prstGeom prst="rect">
            <a:avLst/>
          </a:prstGeom>
          <a:noFill/>
          <a:ln/>
        </p:spPr>
        <p:txBody>
          <a:bodyPr wrap="square" lIns="0" tIns="0" rIns="0" bIns="0" rtlCol="0" anchor="ctr"/>
          <a:lstStyle/>
          <a:p>
            <a:pPr marL="0" indent="0">
              <a:buNone/>
            </a:pPr>
            <a:r>
              <a:rPr lang="en-US" sz="1600" b="1" dirty="0">
                <a:solidFill>
                  <a:schemeClr val="tx1"/>
                </a:solidFill>
                <a:latin typeface="Calibri" pitchFamily="34" charset="0"/>
                <a:ea typeface="Calibri" pitchFamily="34" charset="-122"/>
                <a:cs typeface="Calibri" pitchFamily="34" charset="-120"/>
              </a:rPr>
              <a:t>Open the scanner</a:t>
            </a:r>
            <a:endParaRPr lang="en-US" sz="1600" dirty="0"/>
          </a:p>
        </p:txBody>
      </p:sp>
      <p:sp>
        <p:nvSpPr>
          <p:cNvPr id="7" name="text-180"/>
          <p:cNvSpPr txBox="1"/>
          <p:nvPr/>
        </p:nvSpPr>
        <p:spPr>
          <a:xfrm>
            <a:off x="777240" y="2660904"/>
            <a:ext cx="2110664" cy="777240"/>
          </a:xfrm>
          <a:prstGeom prst="rect">
            <a:avLst/>
          </a:prstGeom>
          <a:noFill/>
          <a:ln/>
        </p:spPr>
        <p:txBody>
          <a:bodyPr wrap="square" lIns="0" tIns="0" rIns="0" bIns="0" rtlCol="0" anchor="t"/>
          <a:lstStyle/>
          <a:p>
            <a:pPr marL="0" indent="0">
              <a:buNone/>
            </a:pPr>
            <a:r>
              <a:rPr lang="en-US" sz="1300" dirty="0">
                <a:solidFill>
                  <a:schemeClr val="tx2"/>
                </a:solidFill>
                <a:latin typeface="Calibri" pitchFamily="34" charset="0"/>
                <a:ea typeface="Calibri" pitchFamily="34" charset="-122"/>
                <a:cs typeface="Calibri" pitchFamily="34" charset="-120"/>
              </a:rPr>
              <a:t>Phone browser asks for camera access</a:t>
            </a:r>
            <a:endParaRPr lang="en-US" sz="1300" dirty="0"/>
          </a:p>
        </p:txBody>
      </p:sp>
      <p:sp>
        <p:nvSpPr>
          <p:cNvPr id="8" name="chip-181"/>
          <p:cNvSpPr txBox="1"/>
          <p:nvPr/>
        </p:nvSpPr>
        <p:spPr>
          <a:xfrm>
            <a:off x="2384984" y="1874520"/>
            <a:ext cx="502920" cy="246888"/>
          </a:xfrm>
          <a:prstGeom prst="roundRect">
            <a:avLst>
              <a:gd name="adj" fmla="val 22222"/>
            </a:avLst>
          </a:prstGeom>
          <a:solidFill>
            <a:schemeClr val="accent1"/>
          </a:solidFill>
          <a:ln>
            <a:solidFill>
              <a:schemeClr val="accent1"/>
            </a:solidFill>
          </a:ln>
        </p:spPr>
        <p:txBody>
          <a:bodyPr wrap="square" lIns="0" tIns="0" rIns="0" bIns="0" rtlCol="0" anchor="ctr"/>
          <a:lstStyle/>
          <a:p>
            <a:pPr marL="0" indent="0" algn="ctr">
              <a:buNone/>
            </a:pPr>
            <a:r>
              <a:rPr lang="en-US" sz="1000" b="1" dirty="0">
                <a:solidFill>
                  <a:schemeClr val="bg1"/>
                </a:solidFill>
                <a:latin typeface="Calibri" pitchFamily="34" charset="0"/>
                <a:ea typeface="Calibri" pitchFamily="34" charset="-122"/>
                <a:cs typeface="Calibri" pitchFamily="34" charset="-120"/>
              </a:rPr>
              <a:t>AR</a:t>
            </a:r>
            <a:endParaRPr lang="en-US" sz="1000" dirty="0"/>
          </a:p>
        </p:txBody>
      </p:sp>
      <p:sp>
        <p:nvSpPr>
          <p:cNvPr id="9" name="card-182"/>
          <p:cNvSpPr/>
          <p:nvPr/>
        </p:nvSpPr>
        <p:spPr>
          <a:xfrm>
            <a:off x="3390824" y="1600200"/>
            <a:ext cx="2567864" cy="2011680"/>
          </a:xfrm>
          <a:prstGeom prst="roundRect">
            <a:avLst>
              <a:gd name="adj" fmla="val 3636"/>
            </a:avLst>
          </a:prstGeom>
          <a:solidFill>
            <a:schemeClr val="bg2"/>
          </a:solidFill>
          <a:ln w="12700">
            <a:solidFill>
              <a:schemeClr val="bg2"/>
            </a:solidFill>
            <a:prstDash val="solid"/>
          </a:ln>
        </p:spPr>
      </p:sp>
      <p:sp>
        <p:nvSpPr>
          <p:cNvPr id="10" name="text-183"/>
          <p:cNvSpPr txBox="1"/>
          <p:nvPr/>
        </p:nvSpPr>
        <p:spPr>
          <a:xfrm>
            <a:off x="3619424" y="1783080"/>
            <a:ext cx="731520" cy="457200"/>
          </a:xfrm>
          <a:prstGeom prst="rect">
            <a:avLst/>
          </a:prstGeom>
          <a:noFill/>
          <a:ln/>
        </p:spPr>
        <p:txBody>
          <a:bodyPr wrap="square" lIns="0" tIns="0" rIns="0" bIns="0" rtlCol="0" anchor="ctr"/>
          <a:lstStyle/>
          <a:p>
            <a:pPr marL="0" indent="0">
              <a:buNone/>
            </a:pPr>
            <a:r>
              <a:rPr lang="en-US" sz="2600" b="1" dirty="0">
                <a:solidFill>
                  <a:schemeClr val="accent1"/>
                </a:solidFill>
                <a:latin typeface="Arial" pitchFamily="34" charset="0"/>
                <a:ea typeface="Arial" pitchFamily="34" charset="-122"/>
                <a:cs typeface="Arial" pitchFamily="34" charset="-120"/>
              </a:rPr>
              <a:t>02</a:t>
            </a:r>
            <a:endParaRPr lang="en-US" sz="2600" dirty="0"/>
          </a:p>
        </p:txBody>
      </p:sp>
      <p:sp>
        <p:nvSpPr>
          <p:cNvPr id="11" name="text-184"/>
          <p:cNvSpPr txBox="1"/>
          <p:nvPr/>
        </p:nvSpPr>
        <p:spPr>
          <a:xfrm>
            <a:off x="3619424" y="2313432"/>
            <a:ext cx="2110664" cy="329184"/>
          </a:xfrm>
          <a:prstGeom prst="rect">
            <a:avLst/>
          </a:prstGeom>
          <a:noFill/>
          <a:ln/>
        </p:spPr>
        <p:txBody>
          <a:bodyPr wrap="square" lIns="0" tIns="0" rIns="0" bIns="0" rtlCol="0" anchor="ctr"/>
          <a:lstStyle/>
          <a:p>
            <a:pPr marL="0" indent="0">
              <a:buNone/>
            </a:pPr>
            <a:r>
              <a:rPr lang="en-US" sz="1600" b="1" dirty="0">
                <a:solidFill>
                  <a:schemeClr val="tx1"/>
                </a:solidFill>
                <a:latin typeface="Calibri" pitchFamily="34" charset="0"/>
                <a:ea typeface="Calibri" pitchFamily="34" charset="-122"/>
                <a:cs typeface="Calibri" pitchFamily="34" charset="-120"/>
              </a:rPr>
              <a:t>Point at MARK-001</a:t>
            </a:r>
            <a:endParaRPr lang="en-US" sz="1600" dirty="0"/>
          </a:p>
        </p:txBody>
      </p:sp>
      <p:sp>
        <p:nvSpPr>
          <p:cNvPr id="12" name="text-185"/>
          <p:cNvSpPr txBox="1"/>
          <p:nvPr/>
        </p:nvSpPr>
        <p:spPr>
          <a:xfrm>
            <a:off x="3619424" y="2660904"/>
            <a:ext cx="2110664" cy="777240"/>
          </a:xfrm>
          <a:prstGeom prst="rect">
            <a:avLst/>
          </a:prstGeom>
          <a:noFill/>
          <a:ln/>
        </p:spPr>
        <p:txBody>
          <a:bodyPr wrap="square" lIns="0" tIns="0" rIns="0" bIns="0" rtlCol="0" anchor="t"/>
          <a:lstStyle/>
          <a:p>
            <a:pPr marL="0" indent="0">
              <a:buNone/>
            </a:pPr>
            <a:r>
              <a:rPr lang="en-US" sz="1300" dirty="0">
                <a:solidFill>
                  <a:schemeClr val="tx2"/>
                </a:solidFill>
                <a:latin typeface="Calibri" pitchFamily="34" charset="0"/>
                <a:ea typeface="Calibri" pitchFamily="34" charset="-122"/>
                <a:cs typeface="Calibri" pitchFamily="34" charset="-120"/>
              </a:rPr>
              <a:t>MindAR matches the printed image</a:t>
            </a:r>
            <a:endParaRPr lang="en-US" sz="1300" dirty="0"/>
          </a:p>
        </p:txBody>
      </p:sp>
      <p:sp>
        <p:nvSpPr>
          <p:cNvPr id="13" name="chip-186"/>
          <p:cNvSpPr txBox="1"/>
          <p:nvPr/>
        </p:nvSpPr>
        <p:spPr>
          <a:xfrm>
            <a:off x="5227168" y="1874520"/>
            <a:ext cx="502920" cy="246888"/>
          </a:xfrm>
          <a:prstGeom prst="roundRect">
            <a:avLst>
              <a:gd name="adj" fmla="val 22222"/>
            </a:avLst>
          </a:prstGeom>
          <a:solidFill>
            <a:schemeClr val="accent1"/>
          </a:solidFill>
          <a:ln>
            <a:solidFill>
              <a:schemeClr val="accent1"/>
            </a:solidFill>
          </a:ln>
        </p:spPr>
        <p:txBody>
          <a:bodyPr wrap="square" lIns="0" tIns="0" rIns="0" bIns="0" rtlCol="0" anchor="ctr"/>
          <a:lstStyle/>
          <a:p>
            <a:pPr marL="0" indent="0" algn="ctr">
              <a:buNone/>
            </a:pPr>
            <a:r>
              <a:rPr lang="en-US" sz="1000" b="1" dirty="0">
                <a:solidFill>
                  <a:schemeClr val="bg1"/>
                </a:solidFill>
                <a:latin typeface="Calibri" pitchFamily="34" charset="0"/>
                <a:ea typeface="Calibri" pitchFamily="34" charset="-122"/>
                <a:cs typeface="Calibri" pitchFamily="34" charset="-120"/>
              </a:rPr>
              <a:t>AR</a:t>
            </a:r>
            <a:endParaRPr lang="en-US" sz="1000" dirty="0"/>
          </a:p>
        </p:txBody>
      </p:sp>
      <p:sp>
        <p:nvSpPr>
          <p:cNvPr id="14" name="card-187"/>
          <p:cNvSpPr/>
          <p:nvPr/>
        </p:nvSpPr>
        <p:spPr>
          <a:xfrm>
            <a:off x="6233008" y="1600200"/>
            <a:ext cx="2567864" cy="2011680"/>
          </a:xfrm>
          <a:prstGeom prst="roundRect">
            <a:avLst>
              <a:gd name="adj" fmla="val 3636"/>
            </a:avLst>
          </a:prstGeom>
          <a:solidFill>
            <a:schemeClr val="bg2"/>
          </a:solidFill>
          <a:ln w="12700">
            <a:solidFill>
              <a:schemeClr val="bg2"/>
            </a:solidFill>
            <a:prstDash val="solid"/>
          </a:ln>
        </p:spPr>
      </p:sp>
      <p:sp>
        <p:nvSpPr>
          <p:cNvPr id="15" name="text-188"/>
          <p:cNvSpPr txBox="1"/>
          <p:nvPr/>
        </p:nvSpPr>
        <p:spPr>
          <a:xfrm>
            <a:off x="6461608" y="1783080"/>
            <a:ext cx="731520" cy="457200"/>
          </a:xfrm>
          <a:prstGeom prst="rect">
            <a:avLst/>
          </a:prstGeom>
          <a:noFill/>
          <a:ln/>
        </p:spPr>
        <p:txBody>
          <a:bodyPr wrap="square" lIns="0" tIns="0" rIns="0" bIns="0" rtlCol="0" anchor="ctr"/>
          <a:lstStyle/>
          <a:p>
            <a:pPr marL="0" indent="0">
              <a:buNone/>
            </a:pPr>
            <a:r>
              <a:rPr lang="en-US" sz="2600" b="1" dirty="0">
                <a:solidFill>
                  <a:schemeClr val="accent1"/>
                </a:solidFill>
                <a:latin typeface="Arial" pitchFamily="34" charset="0"/>
                <a:ea typeface="Arial" pitchFamily="34" charset="-122"/>
                <a:cs typeface="Arial" pitchFamily="34" charset="-120"/>
              </a:rPr>
              <a:t>03</a:t>
            </a:r>
            <a:endParaRPr lang="en-US" sz="2600" dirty="0"/>
          </a:p>
        </p:txBody>
      </p:sp>
      <p:sp>
        <p:nvSpPr>
          <p:cNvPr id="16" name="text-189"/>
          <p:cNvSpPr txBox="1"/>
          <p:nvPr/>
        </p:nvSpPr>
        <p:spPr>
          <a:xfrm>
            <a:off x="6461608" y="2313432"/>
            <a:ext cx="2110664" cy="329184"/>
          </a:xfrm>
          <a:prstGeom prst="rect">
            <a:avLst/>
          </a:prstGeom>
          <a:noFill/>
          <a:ln/>
        </p:spPr>
        <p:txBody>
          <a:bodyPr wrap="square" lIns="0" tIns="0" rIns="0" bIns="0" rtlCol="0" anchor="ctr"/>
          <a:lstStyle/>
          <a:p>
            <a:pPr marL="0" indent="0">
              <a:buNone/>
            </a:pPr>
            <a:r>
              <a:rPr lang="en-US" sz="1600" b="1" dirty="0">
                <a:solidFill>
                  <a:schemeClr val="tx1"/>
                </a:solidFill>
                <a:latin typeface="Calibri" pitchFamily="34" charset="0"/>
                <a:ea typeface="Calibri" pitchFamily="34" charset="-122"/>
                <a:cs typeface="Calibri" pitchFamily="34" charset="-120"/>
              </a:rPr>
              <a:t>Resolve the marker</a:t>
            </a:r>
            <a:endParaRPr lang="en-US" sz="1600" dirty="0"/>
          </a:p>
        </p:txBody>
      </p:sp>
      <p:sp>
        <p:nvSpPr>
          <p:cNvPr id="17" name="text-190"/>
          <p:cNvSpPr txBox="1"/>
          <p:nvPr/>
        </p:nvSpPr>
        <p:spPr>
          <a:xfrm>
            <a:off x="6461608" y="2660904"/>
            <a:ext cx="2110664" cy="777240"/>
          </a:xfrm>
          <a:prstGeom prst="rect">
            <a:avLst/>
          </a:prstGeom>
          <a:noFill/>
          <a:ln/>
        </p:spPr>
        <p:txBody>
          <a:bodyPr wrap="square" lIns="0" tIns="0" rIns="0" bIns="0" rtlCol="0" anchor="t"/>
          <a:lstStyle/>
          <a:p>
            <a:pPr marL="0" indent="0">
              <a:buNone/>
            </a:pPr>
            <a:r>
              <a:rPr lang="en-US" sz="1100" dirty="0">
                <a:solidFill>
                  <a:schemeClr val="tx2"/>
                </a:solidFill>
                <a:latin typeface="Courier New" pitchFamily="34" charset="0"/>
                <a:ea typeface="Courier New" pitchFamily="34" charset="-122"/>
                <a:cs typeface="Courier New" pitchFamily="34" charset="-120"/>
              </a:rPr>
              <a:t>GET /api/assets/marker/</a:t>
            </a:r>
            <a:endParaRPr lang="en-US" sz="1100" dirty="0"/>
          </a:p>
          <a:p>
            <a:pPr marL="0" indent="0">
              <a:buNone/>
            </a:pPr>
            <a:r>
              <a:rPr lang="en-US" sz="1100" dirty="0">
                <a:solidFill>
                  <a:schemeClr val="tx2"/>
                </a:solidFill>
                <a:latin typeface="Courier New" pitchFamily="34" charset="0"/>
                <a:ea typeface="Courier New" pitchFamily="34" charset="-122"/>
                <a:cs typeface="Courier New" pitchFamily="34" charset="-120"/>
              </a:rPr>
              <a:t>MARK-001</a:t>
            </a:r>
            <a:endParaRPr lang="en-US" sz="1100" dirty="0"/>
          </a:p>
        </p:txBody>
      </p:sp>
      <p:sp>
        <p:nvSpPr>
          <p:cNvPr id="18" name="chip-191"/>
          <p:cNvSpPr txBox="1"/>
          <p:nvPr/>
        </p:nvSpPr>
        <p:spPr>
          <a:xfrm>
            <a:off x="8069351" y="1874520"/>
            <a:ext cx="502920" cy="246888"/>
          </a:xfrm>
          <a:prstGeom prst="roundRect">
            <a:avLst>
              <a:gd name="adj" fmla="val 22222"/>
            </a:avLst>
          </a:prstGeom>
          <a:solidFill>
            <a:schemeClr val="accent2"/>
          </a:solidFill>
          <a:ln>
            <a:solidFill>
              <a:schemeClr val="accent2"/>
            </a:solidFill>
          </a:ln>
        </p:spPr>
        <p:txBody>
          <a:bodyPr wrap="square" lIns="0" tIns="0" rIns="0" bIns="0" rtlCol="0" anchor="ctr"/>
          <a:lstStyle/>
          <a:p>
            <a:pPr marL="0" indent="0" algn="ctr">
              <a:buNone/>
            </a:pPr>
            <a:r>
              <a:rPr lang="en-US" sz="1000" b="1" dirty="0">
                <a:solidFill>
                  <a:schemeClr val="tx1"/>
                </a:solidFill>
                <a:latin typeface="Calibri" pitchFamily="34" charset="0"/>
                <a:ea typeface="Calibri" pitchFamily="34" charset="-122"/>
                <a:cs typeface="Calibri" pitchFamily="34" charset="-120"/>
              </a:rPr>
              <a:t>DB</a:t>
            </a:r>
            <a:endParaRPr lang="en-US" sz="1000" dirty="0"/>
          </a:p>
        </p:txBody>
      </p:sp>
      <p:sp>
        <p:nvSpPr>
          <p:cNvPr id="19" name="chip-192"/>
          <p:cNvSpPr txBox="1"/>
          <p:nvPr/>
        </p:nvSpPr>
        <p:spPr>
          <a:xfrm>
            <a:off x="7474991" y="1874520"/>
            <a:ext cx="502920" cy="246888"/>
          </a:xfrm>
          <a:prstGeom prst="roundRect">
            <a:avLst>
              <a:gd name="adj" fmla="val 22222"/>
            </a:avLst>
          </a:prstGeom>
          <a:solidFill>
            <a:schemeClr val="accent3"/>
          </a:solidFill>
          <a:ln>
            <a:solidFill>
              <a:schemeClr val="accent3"/>
            </a:solidFill>
          </a:ln>
        </p:spPr>
        <p:txBody>
          <a:bodyPr wrap="square" lIns="0" tIns="0" rIns="0" bIns="0" rtlCol="0" anchor="ctr"/>
          <a:lstStyle/>
          <a:p>
            <a:pPr marL="0" indent="0" algn="ctr">
              <a:buNone/>
            </a:pPr>
            <a:r>
              <a:rPr lang="en-US" sz="1000" b="1" dirty="0">
                <a:solidFill>
                  <a:schemeClr val="bg1"/>
                </a:solidFill>
                <a:latin typeface="Calibri" pitchFamily="34" charset="0"/>
                <a:ea typeface="Calibri" pitchFamily="34" charset="-122"/>
                <a:cs typeface="Calibri" pitchFamily="34" charset="-120"/>
              </a:rPr>
              <a:t>API</a:t>
            </a:r>
            <a:endParaRPr lang="en-US" sz="1000" dirty="0"/>
          </a:p>
        </p:txBody>
      </p:sp>
      <p:sp>
        <p:nvSpPr>
          <p:cNvPr id="20" name="card-193"/>
          <p:cNvSpPr/>
          <p:nvPr/>
        </p:nvSpPr>
        <p:spPr>
          <a:xfrm>
            <a:off x="9075191" y="1600200"/>
            <a:ext cx="2567864" cy="2011680"/>
          </a:xfrm>
          <a:prstGeom prst="roundRect">
            <a:avLst>
              <a:gd name="adj" fmla="val 3636"/>
            </a:avLst>
          </a:prstGeom>
          <a:solidFill>
            <a:schemeClr val="bg2"/>
          </a:solidFill>
          <a:ln w="12700">
            <a:solidFill>
              <a:schemeClr val="bg2"/>
            </a:solidFill>
            <a:prstDash val="solid"/>
          </a:ln>
        </p:spPr>
      </p:sp>
      <p:sp>
        <p:nvSpPr>
          <p:cNvPr id="21" name="text-194"/>
          <p:cNvSpPr txBox="1"/>
          <p:nvPr/>
        </p:nvSpPr>
        <p:spPr>
          <a:xfrm>
            <a:off x="9303791" y="1783080"/>
            <a:ext cx="731520" cy="457200"/>
          </a:xfrm>
          <a:prstGeom prst="rect">
            <a:avLst/>
          </a:prstGeom>
          <a:noFill/>
          <a:ln/>
        </p:spPr>
        <p:txBody>
          <a:bodyPr wrap="square" lIns="0" tIns="0" rIns="0" bIns="0" rtlCol="0" anchor="ctr"/>
          <a:lstStyle/>
          <a:p>
            <a:pPr marL="0" indent="0">
              <a:buNone/>
            </a:pPr>
            <a:r>
              <a:rPr lang="en-US" sz="2600" b="1" dirty="0">
                <a:solidFill>
                  <a:schemeClr val="accent1"/>
                </a:solidFill>
                <a:latin typeface="Arial" pitchFamily="34" charset="0"/>
                <a:ea typeface="Arial" pitchFamily="34" charset="-122"/>
                <a:cs typeface="Arial" pitchFamily="34" charset="-120"/>
              </a:rPr>
              <a:t>04</a:t>
            </a:r>
            <a:endParaRPr lang="en-US" sz="2600" dirty="0"/>
          </a:p>
        </p:txBody>
      </p:sp>
      <p:sp>
        <p:nvSpPr>
          <p:cNvPr id="22" name="text-195"/>
          <p:cNvSpPr txBox="1"/>
          <p:nvPr/>
        </p:nvSpPr>
        <p:spPr>
          <a:xfrm>
            <a:off x="9303791" y="2313432"/>
            <a:ext cx="2110664" cy="329184"/>
          </a:xfrm>
          <a:prstGeom prst="rect">
            <a:avLst/>
          </a:prstGeom>
          <a:noFill/>
          <a:ln/>
        </p:spPr>
        <p:txBody>
          <a:bodyPr wrap="square" lIns="0" tIns="0" rIns="0" bIns="0" rtlCol="0" anchor="ctr"/>
          <a:lstStyle/>
          <a:p>
            <a:pPr marL="0" indent="0">
              <a:buNone/>
            </a:pPr>
            <a:r>
              <a:rPr lang="en-US" sz="1600" b="1" dirty="0">
                <a:solidFill>
                  <a:schemeClr val="tx1"/>
                </a:solidFill>
                <a:latin typeface="Calibri" pitchFamily="34" charset="0"/>
                <a:ea typeface="Calibri" pitchFamily="34" charset="-122"/>
                <a:cs typeface="Calibri" pitchFamily="34" charset="-120"/>
              </a:rPr>
              <a:t>Passport appears</a:t>
            </a:r>
            <a:endParaRPr lang="en-US" sz="1600" dirty="0"/>
          </a:p>
        </p:txBody>
      </p:sp>
      <p:sp>
        <p:nvSpPr>
          <p:cNvPr id="23" name="text-196"/>
          <p:cNvSpPr txBox="1"/>
          <p:nvPr/>
        </p:nvSpPr>
        <p:spPr>
          <a:xfrm>
            <a:off x="9303791" y="2660904"/>
            <a:ext cx="2110664" cy="777240"/>
          </a:xfrm>
          <a:prstGeom prst="rect">
            <a:avLst/>
          </a:prstGeom>
          <a:noFill/>
          <a:ln/>
        </p:spPr>
        <p:txBody>
          <a:bodyPr wrap="square" lIns="0" tIns="0" rIns="0" bIns="0" rtlCol="0" anchor="t"/>
          <a:lstStyle/>
          <a:p>
            <a:pPr marL="0" indent="0">
              <a:buNone/>
            </a:pPr>
            <a:r>
              <a:rPr lang="en-US" sz="1300" dirty="0">
                <a:solidFill>
                  <a:schemeClr val="tx2"/>
                </a:solidFill>
                <a:latin typeface="Calibri" pitchFamily="34" charset="0"/>
                <a:ea typeface="Calibri" pitchFamily="34" charset="-122"/>
                <a:cs typeface="Calibri" pitchFamily="34" charset="-120"/>
              </a:rPr>
              <a:t>Name, room, status, service dates</a:t>
            </a:r>
            <a:endParaRPr lang="en-US" sz="1300" dirty="0"/>
          </a:p>
        </p:txBody>
      </p:sp>
      <p:sp>
        <p:nvSpPr>
          <p:cNvPr id="24" name="chip-197"/>
          <p:cNvSpPr txBox="1"/>
          <p:nvPr/>
        </p:nvSpPr>
        <p:spPr>
          <a:xfrm>
            <a:off x="10911535" y="1874520"/>
            <a:ext cx="502920" cy="246888"/>
          </a:xfrm>
          <a:prstGeom prst="roundRect">
            <a:avLst>
              <a:gd name="adj" fmla="val 22222"/>
            </a:avLst>
          </a:prstGeom>
          <a:solidFill>
            <a:schemeClr val="accent1"/>
          </a:solidFill>
          <a:ln>
            <a:solidFill>
              <a:schemeClr val="accent1"/>
            </a:solidFill>
          </a:ln>
        </p:spPr>
        <p:txBody>
          <a:bodyPr wrap="square" lIns="0" tIns="0" rIns="0" bIns="0" rtlCol="0" anchor="ctr"/>
          <a:lstStyle/>
          <a:p>
            <a:pPr marL="0" indent="0" algn="ctr">
              <a:buNone/>
            </a:pPr>
            <a:r>
              <a:rPr lang="en-US" sz="1000" b="1" dirty="0">
                <a:solidFill>
                  <a:schemeClr val="bg1"/>
                </a:solidFill>
                <a:latin typeface="Calibri" pitchFamily="34" charset="0"/>
                <a:ea typeface="Calibri" pitchFamily="34" charset="-122"/>
                <a:cs typeface="Calibri" pitchFamily="34" charset="-120"/>
              </a:rPr>
              <a:t>AR</a:t>
            </a:r>
            <a:endParaRPr lang="en-US" sz="1000" dirty="0"/>
          </a:p>
        </p:txBody>
      </p:sp>
      <p:sp>
        <p:nvSpPr>
          <p:cNvPr id="25" name="card-198"/>
          <p:cNvSpPr/>
          <p:nvPr/>
        </p:nvSpPr>
        <p:spPr>
          <a:xfrm>
            <a:off x="548640" y="3931920"/>
            <a:ext cx="2567864" cy="2011680"/>
          </a:xfrm>
          <a:prstGeom prst="roundRect">
            <a:avLst>
              <a:gd name="adj" fmla="val 3636"/>
            </a:avLst>
          </a:prstGeom>
          <a:solidFill>
            <a:schemeClr val="bg2"/>
          </a:solidFill>
          <a:ln w="12700">
            <a:solidFill>
              <a:schemeClr val="bg2"/>
            </a:solidFill>
            <a:prstDash val="solid"/>
          </a:ln>
        </p:spPr>
      </p:sp>
      <p:sp>
        <p:nvSpPr>
          <p:cNvPr id="26" name="text-199"/>
          <p:cNvSpPr txBox="1"/>
          <p:nvPr/>
        </p:nvSpPr>
        <p:spPr>
          <a:xfrm>
            <a:off x="777240" y="4114800"/>
            <a:ext cx="731520" cy="457200"/>
          </a:xfrm>
          <a:prstGeom prst="rect">
            <a:avLst/>
          </a:prstGeom>
          <a:noFill/>
          <a:ln/>
        </p:spPr>
        <p:txBody>
          <a:bodyPr wrap="square" lIns="0" tIns="0" rIns="0" bIns="0" rtlCol="0" anchor="ctr"/>
          <a:lstStyle/>
          <a:p>
            <a:pPr marL="0" indent="0">
              <a:buNone/>
            </a:pPr>
            <a:r>
              <a:rPr lang="en-US" sz="2600" b="1" dirty="0">
                <a:solidFill>
                  <a:schemeClr val="accent1"/>
                </a:solidFill>
                <a:latin typeface="Arial" pitchFamily="34" charset="0"/>
                <a:ea typeface="Arial" pitchFamily="34" charset="-122"/>
                <a:cs typeface="Arial" pitchFamily="34" charset="-120"/>
              </a:rPr>
              <a:t>05</a:t>
            </a:r>
            <a:endParaRPr lang="en-US" sz="2600" dirty="0"/>
          </a:p>
        </p:txBody>
      </p:sp>
      <p:sp>
        <p:nvSpPr>
          <p:cNvPr id="27" name="text-200"/>
          <p:cNvSpPr txBox="1"/>
          <p:nvPr/>
        </p:nvSpPr>
        <p:spPr>
          <a:xfrm>
            <a:off x="777240" y="4645152"/>
            <a:ext cx="2110664" cy="329184"/>
          </a:xfrm>
          <a:prstGeom prst="rect">
            <a:avLst/>
          </a:prstGeom>
          <a:noFill/>
          <a:ln/>
        </p:spPr>
        <p:txBody>
          <a:bodyPr wrap="square" lIns="0" tIns="0" rIns="0" bIns="0" rtlCol="0" anchor="ctr"/>
          <a:lstStyle/>
          <a:p>
            <a:pPr marL="0" indent="0">
              <a:buNone/>
            </a:pPr>
            <a:r>
              <a:rPr lang="en-US" sz="1600" b="1" dirty="0">
                <a:solidFill>
                  <a:schemeClr val="tx1"/>
                </a:solidFill>
                <a:latin typeface="Calibri" pitchFamily="34" charset="0"/>
                <a:ea typeface="Calibri" pitchFamily="34" charset="-122"/>
                <a:cs typeface="Calibri" pitchFamily="34" charset="-120"/>
              </a:rPr>
              <a:t>Open history</a:t>
            </a:r>
            <a:endParaRPr lang="en-US" sz="1600" dirty="0"/>
          </a:p>
        </p:txBody>
      </p:sp>
      <p:sp>
        <p:nvSpPr>
          <p:cNvPr id="28" name="text-201"/>
          <p:cNvSpPr txBox="1"/>
          <p:nvPr/>
        </p:nvSpPr>
        <p:spPr>
          <a:xfrm>
            <a:off x="777240" y="4992624"/>
            <a:ext cx="2110664" cy="777240"/>
          </a:xfrm>
          <a:prstGeom prst="rect">
            <a:avLst/>
          </a:prstGeom>
          <a:noFill/>
          <a:ln/>
        </p:spPr>
        <p:txBody>
          <a:bodyPr wrap="square" lIns="0" tIns="0" rIns="0" bIns="0" rtlCol="0" anchor="t"/>
          <a:lstStyle/>
          <a:p>
            <a:pPr marL="0" indent="0">
              <a:buNone/>
            </a:pPr>
            <a:r>
              <a:rPr lang="en-US" sz="1100" dirty="0">
                <a:solidFill>
                  <a:schemeClr val="tx2"/>
                </a:solidFill>
                <a:latin typeface="Courier New" pitchFamily="34" charset="0"/>
                <a:ea typeface="Courier New" pitchFamily="34" charset="-122"/>
                <a:cs typeface="Courier New" pitchFamily="34" charset="-120"/>
              </a:rPr>
              <a:t>GET /api/assets/AST-001/</a:t>
            </a:r>
            <a:endParaRPr lang="en-US" sz="1100" dirty="0"/>
          </a:p>
          <a:p>
            <a:pPr marL="0" indent="0">
              <a:buNone/>
            </a:pPr>
            <a:r>
              <a:rPr lang="en-US" sz="1100" dirty="0">
                <a:solidFill>
                  <a:schemeClr val="tx2"/>
                </a:solidFill>
                <a:latin typeface="Courier New" pitchFamily="34" charset="0"/>
                <a:ea typeface="Courier New" pitchFamily="34" charset="-122"/>
                <a:cs typeface="Courier New" pitchFamily="34" charset="-120"/>
              </a:rPr>
              <a:t>maintenance</a:t>
            </a:r>
            <a:endParaRPr lang="en-US" sz="1100" dirty="0"/>
          </a:p>
        </p:txBody>
      </p:sp>
      <p:sp>
        <p:nvSpPr>
          <p:cNvPr id="29" name="chip-202"/>
          <p:cNvSpPr txBox="1"/>
          <p:nvPr/>
        </p:nvSpPr>
        <p:spPr>
          <a:xfrm>
            <a:off x="2384984" y="4206240"/>
            <a:ext cx="502920" cy="246888"/>
          </a:xfrm>
          <a:prstGeom prst="roundRect">
            <a:avLst>
              <a:gd name="adj" fmla="val 22222"/>
            </a:avLst>
          </a:prstGeom>
          <a:solidFill>
            <a:schemeClr val="accent2"/>
          </a:solidFill>
          <a:ln>
            <a:solidFill>
              <a:schemeClr val="accent2"/>
            </a:solidFill>
          </a:ln>
        </p:spPr>
        <p:txBody>
          <a:bodyPr wrap="square" lIns="0" tIns="0" rIns="0" bIns="0" rtlCol="0" anchor="ctr"/>
          <a:lstStyle/>
          <a:p>
            <a:pPr marL="0" indent="0" algn="ctr">
              <a:buNone/>
            </a:pPr>
            <a:r>
              <a:rPr lang="en-US" sz="1000" b="1" dirty="0">
                <a:solidFill>
                  <a:schemeClr val="tx1"/>
                </a:solidFill>
                <a:latin typeface="Calibri" pitchFamily="34" charset="0"/>
                <a:ea typeface="Calibri" pitchFamily="34" charset="-122"/>
                <a:cs typeface="Calibri" pitchFamily="34" charset="-120"/>
              </a:rPr>
              <a:t>DB</a:t>
            </a:r>
            <a:endParaRPr lang="en-US" sz="1000" dirty="0"/>
          </a:p>
        </p:txBody>
      </p:sp>
      <p:sp>
        <p:nvSpPr>
          <p:cNvPr id="30" name="chip-203"/>
          <p:cNvSpPr txBox="1"/>
          <p:nvPr/>
        </p:nvSpPr>
        <p:spPr>
          <a:xfrm>
            <a:off x="1790624" y="4206240"/>
            <a:ext cx="502920" cy="246888"/>
          </a:xfrm>
          <a:prstGeom prst="roundRect">
            <a:avLst>
              <a:gd name="adj" fmla="val 22222"/>
            </a:avLst>
          </a:prstGeom>
          <a:solidFill>
            <a:schemeClr val="accent3"/>
          </a:solidFill>
          <a:ln>
            <a:solidFill>
              <a:schemeClr val="accent3"/>
            </a:solidFill>
          </a:ln>
        </p:spPr>
        <p:txBody>
          <a:bodyPr wrap="square" lIns="0" tIns="0" rIns="0" bIns="0" rtlCol="0" anchor="ctr"/>
          <a:lstStyle/>
          <a:p>
            <a:pPr marL="0" indent="0" algn="ctr">
              <a:buNone/>
            </a:pPr>
            <a:r>
              <a:rPr lang="en-US" sz="1000" b="1" dirty="0">
                <a:solidFill>
                  <a:schemeClr val="bg1"/>
                </a:solidFill>
                <a:latin typeface="Calibri" pitchFamily="34" charset="0"/>
                <a:ea typeface="Calibri" pitchFamily="34" charset="-122"/>
                <a:cs typeface="Calibri" pitchFamily="34" charset="-120"/>
              </a:rPr>
              <a:t>API</a:t>
            </a:r>
            <a:endParaRPr lang="en-US" sz="1000" dirty="0"/>
          </a:p>
        </p:txBody>
      </p:sp>
      <p:sp>
        <p:nvSpPr>
          <p:cNvPr id="31" name="card-204"/>
          <p:cNvSpPr/>
          <p:nvPr/>
        </p:nvSpPr>
        <p:spPr>
          <a:xfrm>
            <a:off x="3390824" y="3931920"/>
            <a:ext cx="2567864" cy="2011680"/>
          </a:xfrm>
          <a:prstGeom prst="roundRect">
            <a:avLst>
              <a:gd name="adj" fmla="val 3636"/>
            </a:avLst>
          </a:prstGeom>
          <a:solidFill>
            <a:schemeClr val="bg2"/>
          </a:solidFill>
          <a:ln w="12700">
            <a:solidFill>
              <a:schemeClr val="bg2"/>
            </a:solidFill>
            <a:prstDash val="solid"/>
          </a:ln>
        </p:spPr>
      </p:sp>
      <p:sp>
        <p:nvSpPr>
          <p:cNvPr id="32" name="text-205"/>
          <p:cNvSpPr txBox="1"/>
          <p:nvPr/>
        </p:nvSpPr>
        <p:spPr>
          <a:xfrm>
            <a:off x="3619424" y="4114800"/>
            <a:ext cx="731520" cy="457200"/>
          </a:xfrm>
          <a:prstGeom prst="rect">
            <a:avLst/>
          </a:prstGeom>
          <a:noFill/>
          <a:ln/>
        </p:spPr>
        <p:txBody>
          <a:bodyPr wrap="square" lIns="0" tIns="0" rIns="0" bIns="0" rtlCol="0" anchor="ctr"/>
          <a:lstStyle/>
          <a:p>
            <a:pPr marL="0" indent="0">
              <a:buNone/>
            </a:pPr>
            <a:r>
              <a:rPr lang="en-US" sz="2600" b="1" dirty="0">
                <a:solidFill>
                  <a:schemeClr val="accent1"/>
                </a:solidFill>
                <a:latin typeface="Arial" pitchFamily="34" charset="0"/>
                <a:ea typeface="Arial" pitchFamily="34" charset="-122"/>
                <a:cs typeface="Arial" pitchFamily="34" charset="-120"/>
              </a:rPr>
              <a:t>06</a:t>
            </a:r>
            <a:endParaRPr lang="en-US" sz="2600" dirty="0"/>
          </a:p>
        </p:txBody>
      </p:sp>
      <p:sp>
        <p:nvSpPr>
          <p:cNvPr id="33" name="text-206"/>
          <p:cNvSpPr txBox="1"/>
          <p:nvPr/>
        </p:nvSpPr>
        <p:spPr>
          <a:xfrm>
            <a:off x="3619424" y="4645152"/>
            <a:ext cx="2110664" cy="329184"/>
          </a:xfrm>
          <a:prstGeom prst="rect">
            <a:avLst/>
          </a:prstGeom>
          <a:noFill/>
          <a:ln/>
        </p:spPr>
        <p:txBody>
          <a:bodyPr wrap="square" lIns="0" tIns="0" rIns="0" bIns="0" rtlCol="0" anchor="ctr"/>
          <a:lstStyle/>
          <a:p>
            <a:pPr marL="0" indent="0">
              <a:buNone/>
            </a:pPr>
            <a:r>
              <a:rPr lang="en-US" sz="1600" b="1" dirty="0">
                <a:solidFill>
                  <a:schemeClr val="tx1"/>
                </a:solidFill>
                <a:latin typeface="Calibri" pitchFamily="34" charset="0"/>
                <a:ea typeface="Calibri" pitchFamily="34" charset="-122"/>
                <a:cs typeface="Calibri" pitchFamily="34" charset="-120"/>
              </a:rPr>
              <a:t>Report “Lamp flicker”</a:t>
            </a:r>
            <a:endParaRPr lang="en-US" sz="1600" dirty="0"/>
          </a:p>
        </p:txBody>
      </p:sp>
      <p:sp>
        <p:nvSpPr>
          <p:cNvPr id="34" name="text-207"/>
          <p:cNvSpPr txBox="1"/>
          <p:nvPr/>
        </p:nvSpPr>
        <p:spPr>
          <a:xfrm>
            <a:off x="3619424" y="4992624"/>
            <a:ext cx="2110664" cy="777240"/>
          </a:xfrm>
          <a:prstGeom prst="rect">
            <a:avLst/>
          </a:prstGeom>
          <a:noFill/>
          <a:ln/>
        </p:spPr>
        <p:txBody>
          <a:bodyPr wrap="square" lIns="0" tIns="0" rIns="0" bIns="0" rtlCol="0" anchor="t"/>
          <a:lstStyle/>
          <a:p>
            <a:pPr marL="0" indent="0">
              <a:buNone/>
            </a:pPr>
            <a:r>
              <a:rPr lang="en-US" sz="1100" dirty="0">
                <a:solidFill>
                  <a:schemeClr val="tx2"/>
                </a:solidFill>
                <a:latin typeface="Courier New" pitchFamily="34" charset="0"/>
                <a:ea typeface="Courier New" pitchFamily="34" charset="-122"/>
                <a:cs typeface="Courier New" pitchFamily="34" charset="-120"/>
              </a:rPr>
              <a:t>POST /api/issues saves ISS-…</a:t>
            </a:r>
            <a:endParaRPr lang="en-US" sz="1100" dirty="0"/>
          </a:p>
        </p:txBody>
      </p:sp>
      <p:sp>
        <p:nvSpPr>
          <p:cNvPr id="35" name="chip-208"/>
          <p:cNvSpPr txBox="1"/>
          <p:nvPr/>
        </p:nvSpPr>
        <p:spPr>
          <a:xfrm>
            <a:off x="5227168" y="4206240"/>
            <a:ext cx="502920" cy="246888"/>
          </a:xfrm>
          <a:prstGeom prst="roundRect">
            <a:avLst>
              <a:gd name="adj" fmla="val 22222"/>
            </a:avLst>
          </a:prstGeom>
          <a:solidFill>
            <a:schemeClr val="accent2"/>
          </a:solidFill>
          <a:ln>
            <a:solidFill>
              <a:schemeClr val="accent2"/>
            </a:solidFill>
          </a:ln>
        </p:spPr>
        <p:txBody>
          <a:bodyPr wrap="square" lIns="0" tIns="0" rIns="0" bIns="0" rtlCol="0" anchor="ctr"/>
          <a:lstStyle/>
          <a:p>
            <a:pPr marL="0" indent="0" algn="ctr">
              <a:buNone/>
            </a:pPr>
            <a:r>
              <a:rPr lang="en-US" sz="1000" b="1" dirty="0">
                <a:solidFill>
                  <a:schemeClr val="tx1"/>
                </a:solidFill>
                <a:latin typeface="Calibri" pitchFamily="34" charset="0"/>
                <a:ea typeface="Calibri" pitchFamily="34" charset="-122"/>
                <a:cs typeface="Calibri" pitchFamily="34" charset="-120"/>
              </a:rPr>
              <a:t>DB</a:t>
            </a:r>
            <a:endParaRPr lang="en-US" sz="1000" dirty="0"/>
          </a:p>
        </p:txBody>
      </p:sp>
      <p:sp>
        <p:nvSpPr>
          <p:cNvPr id="36" name="chip-209"/>
          <p:cNvSpPr txBox="1"/>
          <p:nvPr/>
        </p:nvSpPr>
        <p:spPr>
          <a:xfrm>
            <a:off x="4632808" y="4206240"/>
            <a:ext cx="502920" cy="246888"/>
          </a:xfrm>
          <a:prstGeom prst="roundRect">
            <a:avLst>
              <a:gd name="adj" fmla="val 22222"/>
            </a:avLst>
          </a:prstGeom>
          <a:solidFill>
            <a:schemeClr val="accent3"/>
          </a:solidFill>
          <a:ln>
            <a:solidFill>
              <a:schemeClr val="accent3"/>
            </a:solidFill>
          </a:ln>
        </p:spPr>
        <p:txBody>
          <a:bodyPr wrap="square" lIns="0" tIns="0" rIns="0" bIns="0" rtlCol="0" anchor="ctr"/>
          <a:lstStyle/>
          <a:p>
            <a:pPr marL="0" indent="0" algn="ctr">
              <a:buNone/>
            </a:pPr>
            <a:r>
              <a:rPr lang="en-US" sz="1000" b="1" dirty="0">
                <a:solidFill>
                  <a:schemeClr val="bg1"/>
                </a:solidFill>
                <a:latin typeface="Calibri" pitchFamily="34" charset="0"/>
                <a:ea typeface="Calibri" pitchFamily="34" charset="-122"/>
                <a:cs typeface="Calibri" pitchFamily="34" charset="-120"/>
              </a:rPr>
              <a:t>API</a:t>
            </a:r>
            <a:endParaRPr lang="en-US" sz="1000" dirty="0"/>
          </a:p>
        </p:txBody>
      </p:sp>
      <p:sp>
        <p:nvSpPr>
          <p:cNvPr id="37" name="card-210"/>
          <p:cNvSpPr/>
          <p:nvPr/>
        </p:nvSpPr>
        <p:spPr>
          <a:xfrm>
            <a:off x="6233008" y="3931920"/>
            <a:ext cx="2567864" cy="2011680"/>
          </a:xfrm>
          <a:prstGeom prst="roundRect">
            <a:avLst>
              <a:gd name="adj" fmla="val 3636"/>
            </a:avLst>
          </a:prstGeom>
          <a:solidFill>
            <a:schemeClr val="bg2"/>
          </a:solidFill>
          <a:ln w="12700">
            <a:solidFill>
              <a:schemeClr val="bg2"/>
            </a:solidFill>
            <a:prstDash val="solid"/>
          </a:ln>
        </p:spPr>
      </p:sp>
      <p:sp>
        <p:nvSpPr>
          <p:cNvPr id="38" name="text-211"/>
          <p:cNvSpPr txBox="1"/>
          <p:nvPr/>
        </p:nvSpPr>
        <p:spPr>
          <a:xfrm>
            <a:off x="6461608" y="4114800"/>
            <a:ext cx="731520" cy="457200"/>
          </a:xfrm>
          <a:prstGeom prst="rect">
            <a:avLst/>
          </a:prstGeom>
          <a:noFill/>
          <a:ln/>
        </p:spPr>
        <p:txBody>
          <a:bodyPr wrap="square" lIns="0" tIns="0" rIns="0" bIns="0" rtlCol="0" anchor="ctr"/>
          <a:lstStyle/>
          <a:p>
            <a:pPr marL="0" indent="0">
              <a:buNone/>
            </a:pPr>
            <a:r>
              <a:rPr lang="en-US" sz="2600" b="1" dirty="0">
                <a:solidFill>
                  <a:schemeClr val="accent1"/>
                </a:solidFill>
                <a:latin typeface="Arial" pitchFamily="34" charset="0"/>
                <a:ea typeface="Arial" pitchFamily="34" charset="-122"/>
                <a:cs typeface="Arial" pitchFamily="34" charset="-120"/>
              </a:rPr>
              <a:t>07</a:t>
            </a:r>
            <a:endParaRPr lang="en-US" sz="2600" dirty="0"/>
          </a:p>
        </p:txBody>
      </p:sp>
      <p:sp>
        <p:nvSpPr>
          <p:cNvPr id="39" name="text-212"/>
          <p:cNvSpPr txBox="1"/>
          <p:nvPr/>
        </p:nvSpPr>
        <p:spPr>
          <a:xfrm>
            <a:off x="6461608" y="4645152"/>
            <a:ext cx="2110664" cy="329184"/>
          </a:xfrm>
          <a:prstGeom prst="rect">
            <a:avLst/>
          </a:prstGeom>
          <a:noFill/>
          <a:ln/>
        </p:spPr>
        <p:txBody>
          <a:bodyPr wrap="square" lIns="0" tIns="0" rIns="0" bIns="0" rtlCol="0" anchor="ctr"/>
          <a:lstStyle/>
          <a:p>
            <a:pPr marL="0" indent="0">
              <a:buNone/>
            </a:pPr>
            <a:r>
              <a:rPr lang="en-US" sz="1600" b="1" dirty="0">
                <a:solidFill>
                  <a:schemeClr val="tx1"/>
                </a:solidFill>
                <a:latin typeface="Calibri" pitchFamily="34" charset="0"/>
                <a:ea typeface="Calibri" pitchFamily="34" charset="-122"/>
                <a:cs typeface="Calibri" pitchFamily="34" charset="-120"/>
              </a:rPr>
              <a:t>Admin sees it</a:t>
            </a:r>
            <a:endParaRPr lang="en-US" sz="1600" dirty="0"/>
          </a:p>
        </p:txBody>
      </p:sp>
      <p:sp>
        <p:nvSpPr>
          <p:cNvPr id="40" name="text-213"/>
          <p:cNvSpPr txBox="1"/>
          <p:nvPr/>
        </p:nvSpPr>
        <p:spPr>
          <a:xfrm>
            <a:off x="6461608" y="4992624"/>
            <a:ext cx="2110664" cy="777240"/>
          </a:xfrm>
          <a:prstGeom prst="rect">
            <a:avLst/>
          </a:prstGeom>
          <a:noFill/>
          <a:ln/>
        </p:spPr>
        <p:txBody>
          <a:bodyPr wrap="square" lIns="0" tIns="0" rIns="0" bIns="0" rtlCol="0" anchor="t"/>
          <a:lstStyle/>
          <a:p>
            <a:pPr marL="0" indent="0">
              <a:buNone/>
            </a:pPr>
            <a:r>
              <a:rPr lang="en-US" sz="1300" dirty="0">
                <a:solidFill>
                  <a:schemeClr val="tx2"/>
                </a:solidFill>
                <a:latin typeface="Calibri" pitchFamily="34" charset="0"/>
                <a:ea typeface="Calibri" pitchFamily="34" charset="-122"/>
                <a:cs typeface="Calibri" pitchFamily="34" charset="-120"/>
              </a:rPr>
              <a:t>New issue on the dashboard Issues tab</a:t>
            </a:r>
            <a:endParaRPr lang="en-US" sz="1300" dirty="0"/>
          </a:p>
        </p:txBody>
      </p:sp>
      <p:sp>
        <p:nvSpPr>
          <p:cNvPr id="41" name="chip-214"/>
          <p:cNvSpPr txBox="1"/>
          <p:nvPr/>
        </p:nvSpPr>
        <p:spPr>
          <a:xfrm>
            <a:off x="7657871" y="4206240"/>
            <a:ext cx="914400" cy="246888"/>
          </a:xfrm>
          <a:prstGeom prst="roundRect">
            <a:avLst>
              <a:gd name="adj" fmla="val 22222"/>
            </a:avLst>
          </a:prstGeom>
          <a:solidFill>
            <a:schemeClr val="tx1"/>
          </a:solidFill>
          <a:ln>
            <a:solidFill>
              <a:schemeClr val="tx1"/>
            </a:solidFill>
          </a:ln>
        </p:spPr>
        <p:txBody>
          <a:bodyPr wrap="square" lIns="0" tIns="0" rIns="0" bIns="0" rtlCol="0" anchor="ctr"/>
          <a:lstStyle/>
          <a:p>
            <a:pPr marL="0" indent="0" algn="ctr">
              <a:buNone/>
            </a:pPr>
            <a:r>
              <a:rPr lang="en-US" sz="1000" b="1" dirty="0">
                <a:solidFill>
                  <a:schemeClr val="bg1"/>
                </a:solidFill>
                <a:latin typeface="Calibri" pitchFamily="34" charset="0"/>
                <a:ea typeface="Calibri" pitchFamily="34" charset="-122"/>
                <a:cs typeface="Calibri" pitchFamily="34" charset="-120"/>
              </a:rPr>
              <a:t>Dashboard</a:t>
            </a:r>
            <a:endParaRPr lang="en-US" sz="1000" dirty="0"/>
          </a:p>
        </p:txBody>
      </p:sp>
      <p:sp>
        <p:nvSpPr>
          <p:cNvPr id="42" name="card-215"/>
          <p:cNvSpPr/>
          <p:nvPr/>
        </p:nvSpPr>
        <p:spPr>
          <a:xfrm>
            <a:off x="9075191" y="3931920"/>
            <a:ext cx="2567864" cy="2011680"/>
          </a:xfrm>
          <a:prstGeom prst="roundRect">
            <a:avLst>
              <a:gd name="adj" fmla="val 3636"/>
            </a:avLst>
          </a:prstGeom>
          <a:solidFill>
            <a:schemeClr val="bg2"/>
          </a:solidFill>
          <a:ln w="12700">
            <a:solidFill>
              <a:schemeClr val="bg2"/>
            </a:solidFill>
            <a:prstDash val="solid"/>
          </a:ln>
        </p:spPr>
      </p:sp>
      <p:sp>
        <p:nvSpPr>
          <p:cNvPr id="43" name="text-216"/>
          <p:cNvSpPr txBox="1"/>
          <p:nvPr/>
        </p:nvSpPr>
        <p:spPr>
          <a:xfrm>
            <a:off x="9303791" y="4114800"/>
            <a:ext cx="731520" cy="457200"/>
          </a:xfrm>
          <a:prstGeom prst="rect">
            <a:avLst/>
          </a:prstGeom>
          <a:noFill/>
          <a:ln/>
        </p:spPr>
        <p:txBody>
          <a:bodyPr wrap="square" lIns="0" tIns="0" rIns="0" bIns="0" rtlCol="0" anchor="ctr"/>
          <a:lstStyle/>
          <a:p>
            <a:pPr marL="0" indent="0">
              <a:buNone/>
            </a:pPr>
            <a:r>
              <a:rPr lang="en-US" sz="2600" b="1" dirty="0">
                <a:solidFill>
                  <a:schemeClr val="accent1"/>
                </a:solidFill>
                <a:latin typeface="Arial" pitchFamily="34" charset="0"/>
                <a:ea typeface="Arial" pitchFamily="34" charset="-122"/>
                <a:cs typeface="Arial" pitchFamily="34" charset="-120"/>
              </a:rPr>
              <a:t>08</a:t>
            </a:r>
            <a:endParaRPr lang="en-US" sz="2600" dirty="0"/>
          </a:p>
        </p:txBody>
      </p:sp>
      <p:sp>
        <p:nvSpPr>
          <p:cNvPr id="44" name="text-217"/>
          <p:cNvSpPr txBox="1"/>
          <p:nvPr/>
        </p:nvSpPr>
        <p:spPr>
          <a:xfrm>
            <a:off x="9303791" y="4645152"/>
            <a:ext cx="2110664" cy="329184"/>
          </a:xfrm>
          <a:prstGeom prst="rect">
            <a:avLst/>
          </a:prstGeom>
          <a:noFill/>
          <a:ln/>
        </p:spPr>
        <p:txBody>
          <a:bodyPr wrap="square" lIns="0" tIns="0" rIns="0" bIns="0" rtlCol="0" anchor="ctr"/>
          <a:lstStyle/>
          <a:p>
            <a:pPr marL="0" indent="0">
              <a:buNone/>
            </a:pPr>
            <a:r>
              <a:rPr lang="en-US" sz="1600" b="1" dirty="0">
                <a:solidFill>
                  <a:schemeClr val="tx1"/>
                </a:solidFill>
                <a:latin typeface="Calibri" pitchFamily="34" charset="0"/>
                <a:ea typeface="Calibri" pitchFamily="34" charset="-122"/>
                <a:cs typeface="Calibri" pitchFamily="34" charset="-120"/>
              </a:rPr>
              <a:t>Set “In progress”</a:t>
            </a:r>
            <a:endParaRPr lang="en-US" sz="1600" dirty="0"/>
          </a:p>
        </p:txBody>
      </p:sp>
      <p:sp>
        <p:nvSpPr>
          <p:cNvPr id="45" name="text-218"/>
          <p:cNvSpPr txBox="1"/>
          <p:nvPr/>
        </p:nvSpPr>
        <p:spPr>
          <a:xfrm>
            <a:off x="9303791" y="4992624"/>
            <a:ext cx="2110664" cy="777240"/>
          </a:xfrm>
          <a:prstGeom prst="rect">
            <a:avLst/>
          </a:prstGeom>
          <a:noFill/>
          <a:ln/>
        </p:spPr>
        <p:txBody>
          <a:bodyPr wrap="square" lIns="0" tIns="0" rIns="0" bIns="0" rtlCol="0" anchor="t"/>
          <a:lstStyle/>
          <a:p>
            <a:pPr marL="0" indent="0">
              <a:buNone/>
            </a:pPr>
            <a:r>
              <a:rPr lang="en-US" sz="1100" dirty="0">
                <a:solidFill>
                  <a:schemeClr val="tx2"/>
                </a:solidFill>
                <a:latin typeface="Courier New" pitchFamily="34" charset="0"/>
                <a:ea typeface="Courier New" pitchFamily="34" charset="-122"/>
                <a:cs typeface="Courier New" pitchFamily="34" charset="-120"/>
              </a:rPr>
              <a:t>PATCH …/status, persists on refresh</a:t>
            </a:r>
            <a:endParaRPr lang="en-US" sz="1100" dirty="0"/>
          </a:p>
        </p:txBody>
      </p:sp>
      <p:sp>
        <p:nvSpPr>
          <p:cNvPr id="46" name="chip-219"/>
          <p:cNvSpPr txBox="1"/>
          <p:nvPr/>
        </p:nvSpPr>
        <p:spPr>
          <a:xfrm>
            <a:off x="10911535" y="4206240"/>
            <a:ext cx="502920" cy="246888"/>
          </a:xfrm>
          <a:prstGeom prst="roundRect">
            <a:avLst>
              <a:gd name="adj" fmla="val 22222"/>
            </a:avLst>
          </a:prstGeom>
          <a:solidFill>
            <a:schemeClr val="accent2"/>
          </a:solidFill>
          <a:ln>
            <a:solidFill>
              <a:schemeClr val="accent2"/>
            </a:solidFill>
          </a:ln>
        </p:spPr>
        <p:txBody>
          <a:bodyPr wrap="square" lIns="0" tIns="0" rIns="0" bIns="0" rtlCol="0" anchor="ctr"/>
          <a:lstStyle/>
          <a:p>
            <a:pPr marL="0" indent="0" algn="ctr">
              <a:buNone/>
            </a:pPr>
            <a:r>
              <a:rPr lang="en-US" sz="1000" b="1" dirty="0">
                <a:solidFill>
                  <a:schemeClr val="tx1"/>
                </a:solidFill>
                <a:latin typeface="Calibri" pitchFamily="34" charset="0"/>
                <a:ea typeface="Calibri" pitchFamily="34" charset="-122"/>
                <a:cs typeface="Calibri" pitchFamily="34" charset="-120"/>
              </a:rPr>
              <a:t>DB</a:t>
            </a:r>
            <a:endParaRPr lang="en-US" sz="1000" dirty="0"/>
          </a:p>
        </p:txBody>
      </p:sp>
      <p:sp>
        <p:nvSpPr>
          <p:cNvPr id="47" name="chip-220"/>
          <p:cNvSpPr txBox="1"/>
          <p:nvPr/>
        </p:nvSpPr>
        <p:spPr>
          <a:xfrm>
            <a:off x="9905695" y="4206240"/>
            <a:ext cx="914400" cy="246888"/>
          </a:xfrm>
          <a:prstGeom prst="roundRect">
            <a:avLst>
              <a:gd name="adj" fmla="val 22222"/>
            </a:avLst>
          </a:prstGeom>
          <a:solidFill>
            <a:schemeClr val="tx1"/>
          </a:solidFill>
          <a:ln>
            <a:solidFill>
              <a:schemeClr val="tx1"/>
            </a:solidFill>
          </a:ln>
        </p:spPr>
        <p:txBody>
          <a:bodyPr wrap="square" lIns="0" tIns="0" rIns="0" bIns="0" rtlCol="0" anchor="ctr"/>
          <a:lstStyle/>
          <a:p>
            <a:pPr marL="0" indent="0" algn="ctr">
              <a:buNone/>
            </a:pPr>
            <a:r>
              <a:rPr lang="en-US" sz="1000" b="1" dirty="0">
                <a:solidFill>
                  <a:schemeClr val="bg1"/>
                </a:solidFill>
                <a:latin typeface="Calibri" pitchFamily="34" charset="0"/>
                <a:ea typeface="Calibri" pitchFamily="34" charset="-122"/>
                <a:cs typeface="Calibri" pitchFamily="34" charset="-120"/>
              </a:rPr>
              <a:t>Dashboard</a:t>
            </a:r>
            <a:endParaRPr lang="en-US" sz="1000" dirty="0"/>
          </a:p>
        </p:txBody>
      </p:sp>
      <p:sp>
        <p:nvSpPr>
          <p:cNvPr id="48"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47472"/>
            <a:ext cx="8229600" cy="274320"/>
          </a:xfrm>
          <a:prstGeom prst="rect">
            <a:avLst/>
          </a:prstGeom>
          <a:noFill/>
          <a:ln/>
        </p:spPr>
        <p:txBody>
          <a:bodyPr wrap="square" lIns="0" tIns="0" rIns="0" bIns="0" rtlCol="0" anchor="ctr"/>
          <a:lstStyle/>
          <a:p>
            <a:pPr marL="0" indent="0">
              <a:buNone/>
            </a:pPr>
            <a:r>
              <a:rPr lang="en-US" sz="1200" b="1" kern="0" spc="200" dirty="0">
                <a:solidFill>
                  <a:schemeClr val="accent1"/>
                </a:solidFill>
              </a:rPr>
              <a:t>FRONTEND · AR SCANNER</a:t>
            </a:r>
            <a:endParaRPr lang="en-US" sz="1200" dirty="0"/>
          </a:p>
        </p:txBody>
      </p:sp>
      <p:sp>
        <p:nvSpPr>
          <p:cNvPr id="3" name="Text 0"/>
          <p:cNvSpPr>
            <a:spLocks noGrp="1"/>
          </p:cNvSpPr>
          <p:nvPr>
            <p:ph type="title" idx="101" hasCustomPrompt="1"/>
          </p:nvPr>
        </p:nvSpPr>
        <p:spPr>
          <a:xfrm>
            <a:off x="548640" y="621792"/>
            <a:ext cx="11094415"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The scanner runs in any phone browser, no install</a:t>
            </a:r>
            <a:endParaRPr lang="en-US" sz="3000" dirty="0"/>
          </a:p>
        </p:txBody>
      </p:sp>
      <p:pic>
        <p:nvPicPr>
          <p:cNvPr id="4" name="screenshot-221" descr="/tmp/claude-0/-home-claude/151be230-6197-52e0-9161-2825d6d15167/scratchpad/src/media/image6.png"/>
          <p:cNvPicPr>
            <a:picLocks noChangeAspect="1"/>
          </p:cNvPicPr>
          <p:nvPr/>
        </p:nvPicPr>
        <p:blipFill>
          <a:blip r:embed="rId3"/>
          <a:stretch>
            <a:fillRect/>
          </a:stretch>
        </p:blipFill>
        <p:spPr>
          <a:xfrm>
            <a:off x="685800" y="1783080"/>
            <a:ext cx="6309360" cy="3182112"/>
          </a:xfrm>
          <a:prstGeom prst="rect">
            <a:avLst/>
          </a:prstGeom>
        </p:spPr>
      </p:pic>
      <p:sp>
        <p:nvSpPr>
          <p:cNvPr id="5" name="line-222"/>
          <p:cNvSpPr/>
          <p:nvPr/>
        </p:nvSpPr>
        <p:spPr>
          <a:xfrm>
            <a:off x="548640" y="1645920"/>
            <a:ext cx="365760" cy="0"/>
          </a:xfrm>
          <a:prstGeom prst="line">
            <a:avLst/>
          </a:prstGeom>
          <a:noFill/>
          <a:ln w="38100">
            <a:solidFill>
              <a:schemeClr val="accent1"/>
            </a:solidFill>
            <a:prstDash val="solid"/>
          </a:ln>
        </p:spPr>
      </p:sp>
      <p:sp>
        <p:nvSpPr>
          <p:cNvPr id="6" name="line-223"/>
          <p:cNvSpPr/>
          <p:nvPr/>
        </p:nvSpPr>
        <p:spPr>
          <a:xfrm>
            <a:off x="548640" y="1645920"/>
            <a:ext cx="0" cy="365760"/>
          </a:xfrm>
          <a:prstGeom prst="line">
            <a:avLst/>
          </a:prstGeom>
          <a:noFill/>
          <a:ln w="38100">
            <a:solidFill>
              <a:schemeClr val="accent1"/>
            </a:solidFill>
            <a:prstDash val="solid"/>
          </a:ln>
        </p:spPr>
      </p:sp>
      <p:sp>
        <p:nvSpPr>
          <p:cNvPr id="7" name="line-224"/>
          <p:cNvSpPr/>
          <p:nvPr/>
        </p:nvSpPr>
        <p:spPr>
          <a:xfrm>
            <a:off x="6766560" y="1645920"/>
            <a:ext cx="365760" cy="0"/>
          </a:xfrm>
          <a:prstGeom prst="line">
            <a:avLst/>
          </a:prstGeom>
          <a:noFill/>
          <a:ln w="38100">
            <a:solidFill>
              <a:schemeClr val="accent1"/>
            </a:solidFill>
            <a:prstDash val="solid"/>
          </a:ln>
        </p:spPr>
      </p:sp>
      <p:sp>
        <p:nvSpPr>
          <p:cNvPr id="8" name="line-225"/>
          <p:cNvSpPr/>
          <p:nvPr/>
        </p:nvSpPr>
        <p:spPr>
          <a:xfrm>
            <a:off x="7132320" y="1645920"/>
            <a:ext cx="0" cy="365760"/>
          </a:xfrm>
          <a:prstGeom prst="line">
            <a:avLst/>
          </a:prstGeom>
          <a:noFill/>
          <a:ln w="38100">
            <a:solidFill>
              <a:schemeClr val="accent1"/>
            </a:solidFill>
            <a:prstDash val="solid"/>
          </a:ln>
        </p:spPr>
      </p:sp>
      <p:sp>
        <p:nvSpPr>
          <p:cNvPr id="9" name="line-226"/>
          <p:cNvSpPr/>
          <p:nvPr/>
        </p:nvSpPr>
        <p:spPr>
          <a:xfrm>
            <a:off x="548640" y="5102352"/>
            <a:ext cx="365760" cy="0"/>
          </a:xfrm>
          <a:prstGeom prst="line">
            <a:avLst/>
          </a:prstGeom>
          <a:noFill/>
          <a:ln w="38100">
            <a:solidFill>
              <a:schemeClr val="accent1"/>
            </a:solidFill>
            <a:prstDash val="solid"/>
          </a:ln>
        </p:spPr>
      </p:sp>
      <p:sp>
        <p:nvSpPr>
          <p:cNvPr id="10" name="line-227"/>
          <p:cNvSpPr/>
          <p:nvPr/>
        </p:nvSpPr>
        <p:spPr>
          <a:xfrm>
            <a:off x="548640" y="4736592"/>
            <a:ext cx="0" cy="365760"/>
          </a:xfrm>
          <a:prstGeom prst="line">
            <a:avLst/>
          </a:prstGeom>
          <a:noFill/>
          <a:ln w="38100">
            <a:solidFill>
              <a:schemeClr val="accent1"/>
            </a:solidFill>
            <a:prstDash val="solid"/>
          </a:ln>
        </p:spPr>
      </p:sp>
      <p:sp>
        <p:nvSpPr>
          <p:cNvPr id="11" name="line-228"/>
          <p:cNvSpPr/>
          <p:nvPr/>
        </p:nvSpPr>
        <p:spPr>
          <a:xfrm>
            <a:off x="6766560" y="5102352"/>
            <a:ext cx="365760" cy="0"/>
          </a:xfrm>
          <a:prstGeom prst="line">
            <a:avLst/>
          </a:prstGeom>
          <a:noFill/>
          <a:ln w="38100">
            <a:solidFill>
              <a:schemeClr val="accent1"/>
            </a:solidFill>
            <a:prstDash val="solid"/>
          </a:ln>
        </p:spPr>
      </p:sp>
      <p:sp>
        <p:nvSpPr>
          <p:cNvPr id="12" name="line-229"/>
          <p:cNvSpPr/>
          <p:nvPr/>
        </p:nvSpPr>
        <p:spPr>
          <a:xfrm>
            <a:off x="7132320" y="4736592"/>
            <a:ext cx="0" cy="365760"/>
          </a:xfrm>
          <a:prstGeom prst="line">
            <a:avLst/>
          </a:prstGeom>
          <a:noFill/>
          <a:ln w="38100">
            <a:solidFill>
              <a:schemeClr val="accent1"/>
            </a:solidFill>
            <a:prstDash val="solid"/>
          </a:ln>
        </p:spPr>
      </p:sp>
      <p:sp>
        <p:nvSpPr>
          <p:cNvPr id="13" name="text-230"/>
          <p:cNvSpPr txBox="1"/>
          <p:nvPr/>
        </p:nvSpPr>
        <p:spPr>
          <a:xfrm>
            <a:off x="685800" y="5166360"/>
            <a:ext cx="6309360" cy="274320"/>
          </a:xfrm>
          <a:prstGeom prst="rect">
            <a:avLst/>
          </a:prstGeom>
          <a:noFill/>
          <a:ln/>
        </p:spPr>
        <p:txBody>
          <a:bodyPr wrap="square" lIns="0" tIns="0" rIns="0" bIns="0" rtlCol="0" anchor="ctr"/>
          <a:lstStyle/>
          <a:p>
            <a:pPr marL="0" indent="0">
              <a:buNone/>
            </a:pPr>
            <a:r>
              <a:rPr lang="en-US" sz="1100" i="1" dirty="0">
                <a:solidFill>
                  <a:schemeClr val="tx2"/>
                </a:solidFill>
                <a:latin typeface="Calibri" pitchFamily="34" charset="0"/>
                <a:ea typeface="Calibri" pitchFamily="34" charset="-122"/>
                <a:cs typeface="Calibri" pitchFamily="34" charset="-120"/>
              </a:rPr>
              <a:t>Real capture: MARK-001 on a phone screen, passport sheet open on the right</a:t>
            </a:r>
            <a:endParaRPr lang="en-US" sz="1100" dirty="0"/>
          </a:p>
        </p:txBody>
      </p:sp>
      <p:sp>
        <p:nvSpPr>
          <p:cNvPr id="14" name="icon-bg-231"/>
          <p:cNvSpPr/>
          <p:nvPr/>
        </p:nvSpPr>
        <p:spPr>
          <a:xfrm>
            <a:off x="7452360" y="1645920"/>
            <a:ext cx="502920" cy="502920"/>
          </a:xfrm>
          <a:prstGeom prst="ellipse">
            <a:avLst/>
          </a:prstGeom>
          <a:solidFill>
            <a:schemeClr val="bg2"/>
          </a:solidFill>
          <a:ln w="12700">
            <a:solidFill>
              <a:schemeClr val="bg2"/>
            </a:solidFill>
            <a:prstDash val="solid"/>
          </a:ln>
        </p:spPr>
      </p:sp>
      <p:pic>
        <p:nvPicPr>
          <p:cNvPr id="15" name="icon-232" descr="preencoded.png"/>
          <p:cNvPicPr>
            <a:picLocks noChangeAspect="1"/>
          </p:cNvPicPr>
          <p:nvPr/>
        </p:nvPicPr>
        <p:blipFill>
          <a:blip r:embed="rId4"/>
          <a:stretch>
            <a:fillRect/>
          </a:stretch>
        </p:blipFill>
        <p:spPr>
          <a:xfrm>
            <a:off x="7573061" y="1766621"/>
            <a:ext cx="261518" cy="261518"/>
          </a:xfrm>
          <a:prstGeom prst="rect">
            <a:avLst/>
          </a:prstGeom>
        </p:spPr>
      </p:pic>
      <p:sp>
        <p:nvSpPr>
          <p:cNvPr id="16" name="text-233"/>
          <p:cNvSpPr txBox="1"/>
          <p:nvPr/>
        </p:nvSpPr>
        <p:spPr>
          <a:xfrm>
            <a:off x="8138160" y="1645920"/>
            <a:ext cx="3502152" cy="292608"/>
          </a:xfrm>
          <a:prstGeom prst="rect">
            <a:avLst/>
          </a:prstGeom>
          <a:noFill/>
          <a:ln/>
        </p:spPr>
        <p:txBody>
          <a:bodyPr wrap="square" lIns="0" tIns="0" rIns="0" bIns="0" rtlCol="0" anchor="ctr"/>
          <a:lstStyle/>
          <a:p>
            <a:pPr marL="0" indent="0">
              <a:buNone/>
            </a:pPr>
            <a:r>
              <a:rPr lang="en-US" sz="1600" b="1" dirty="0">
                <a:solidFill>
                  <a:schemeClr val="tx1"/>
                </a:solidFill>
                <a:latin typeface="Calibri" pitchFamily="34" charset="0"/>
                <a:ea typeface="Calibri" pitchFamily="34" charset="-122"/>
                <a:cs typeface="Calibri" pitchFamily="34" charset="-120"/>
              </a:rPr>
              <a:t>Five image targets</a:t>
            </a:r>
            <a:endParaRPr lang="en-US" sz="1600" dirty="0"/>
          </a:p>
        </p:txBody>
      </p:sp>
      <p:sp>
        <p:nvSpPr>
          <p:cNvPr id="17" name="text-234"/>
          <p:cNvSpPr txBox="1"/>
          <p:nvPr/>
        </p:nvSpPr>
        <p:spPr>
          <a:xfrm>
            <a:off x="8138160" y="1956816"/>
            <a:ext cx="3502152" cy="685800"/>
          </a:xfrm>
          <a:prstGeom prst="rect">
            <a:avLst/>
          </a:prstGeom>
          <a:noFill/>
          <a:ln/>
        </p:spPr>
        <p:txBody>
          <a:bodyPr wrap="square" lIns="0" tIns="0" rIns="0" bIns="0" rtlCol="0" anchor="t"/>
          <a:lstStyle/>
          <a:p>
            <a:pPr marL="0" indent="0">
              <a:buNone/>
            </a:pPr>
            <a:r>
              <a:rPr lang="en-US" sz="1300" dirty="0">
                <a:solidFill>
                  <a:schemeClr val="tx2"/>
                </a:solidFill>
                <a:latin typeface="Calibri" pitchFamily="34" charset="0"/>
                <a:ea typeface="Calibri" pitchFamily="34" charset="-122"/>
                <a:cs typeface="Calibri" pitchFamily="34" charset="-120"/>
              </a:rPr>
              <a:t>A-Frame + MindAR track all five markers; the passport sheet slides up in under 3 s.</a:t>
            </a:r>
            <a:endParaRPr lang="en-US" sz="1300" dirty="0"/>
          </a:p>
        </p:txBody>
      </p:sp>
      <p:sp>
        <p:nvSpPr>
          <p:cNvPr id="18" name="icon-bg-235"/>
          <p:cNvSpPr/>
          <p:nvPr/>
        </p:nvSpPr>
        <p:spPr>
          <a:xfrm>
            <a:off x="7452360" y="2715768"/>
            <a:ext cx="502920" cy="502920"/>
          </a:xfrm>
          <a:prstGeom prst="ellipse">
            <a:avLst/>
          </a:prstGeom>
          <a:solidFill>
            <a:schemeClr val="bg2"/>
          </a:solidFill>
          <a:ln w="12700">
            <a:solidFill>
              <a:schemeClr val="bg2"/>
            </a:solidFill>
            <a:prstDash val="solid"/>
          </a:ln>
        </p:spPr>
      </p:sp>
      <p:pic>
        <p:nvPicPr>
          <p:cNvPr id="19" name="icon-236" descr="preencoded.png"/>
          <p:cNvPicPr>
            <a:picLocks noChangeAspect="1"/>
          </p:cNvPicPr>
          <p:nvPr/>
        </p:nvPicPr>
        <p:blipFill>
          <a:blip r:embed="rId5"/>
          <a:stretch>
            <a:fillRect/>
          </a:stretch>
        </p:blipFill>
        <p:spPr>
          <a:xfrm>
            <a:off x="7573061" y="2836469"/>
            <a:ext cx="261518" cy="261518"/>
          </a:xfrm>
          <a:prstGeom prst="rect">
            <a:avLst/>
          </a:prstGeom>
        </p:spPr>
      </p:pic>
      <p:sp>
        <p:nvSpPr>
          <p:cNvPr id="20" name="text-237"/>
          <p:cNvSpPr txBox="1"/>
          <p:nvPr/>
        </p:nvSpPr>
        <p:spPr>
          <a:xfrm>
            <a:off x="8138160" y="2715768"/>
            <a:ext cx="3502152" cy="292608"/>
          </a:xfrm>
          <a:prstGeom prst="rect">
            <a:avLst/>
          </a:prstGeom>
          <a:noFill/>
          <a:ln/>
        </p:spPr>
        <p:txBody>
          <a:bodyPr wrap="square" lIns="0" tIns="0" rIns="0" bIns="0" rtlCol="0" anchor="ctr"/>
          <a:lstStyle/>
          <a:p>
            <a:pPr marL="0" indent="0">
              <a:buNone/>
            </a:pPr>
            <a:r>
              <a:rPr lang="en-US" sz="1600" b="1" dirty="0">
                <a:solidFill>
                  <a:schemeClr val="tx1"/>
                </a:solidFill>
                <a:latin typeface="Calibri" pitchFamily="34" charset="0"/>
                <a:ea typeface="Calibri" pitchFamily="34" charset="-122"/>
                <a:cs typeface="Calibri" pitchFamily="34" charset="-120"/>
              </a:rPr>
              <a:t>Camera stays private</a:t>
            </a:r>
            <a:endParaRPr lang="en-US" sz="1600" dirty="0"/>
          </a:p>
        </p:txBody>
      </p:sp>
      <p:sp>
        <p:nvSpPr>
          <p:cNvPr id="21" name="text-238"/>
          <p:cNvSpPr txBox="1"/>
          <p:nvPr/>
        </p:nvSpPr>
        <p:spPr>
          <a:xfrm>
            <a:off x="8138160" y="3026664"/>
            <a:ext cx="3502152" cy="685800"/>
          </a:xfrm>
          <a:prstGeom prst="rect">
            <a:avLst/>
          </a:prstGeom>
          <a:noFill/>
          <a:ln/>
        </p:spPr>
        <p:txBody>
          <a:bodyPr wrap="square" lIns="0" tIns="0" rIns="0" bIns="0" rtlCol="0" anchor="t"/>
          <a:lstStyle/>
          <a:p>
            <a:pPr marL="0" indent="0">
              <a:buNone/>
            </a:pPr>
            <a:r>
              <a:rPr lang="en-US" sz="1300" dirty="0">
                <a:solidFill>
                  <a:schemeClr val="tx2"/>
                </a:solidFill>
                <a:latin typeface="Calibri" pitchFamily="34" charset="0"/>
                <a:ea typeface="Calibri" pitchFamily="34" charset="-122"/>
                <a:cs typeface="Calibri" pitchFamily="34" charset="-120"/>
              </a:rPr>
              <a:t>The first screen explains camera use. Video never leaves the phone.</a:t>
            </a:r>
            <a:endParaRPr lang="en-US" sz="1300" dirty="0"/>
          </a:p>
        </p:txBody>
      </p:sp>
      <p:sp>
        <p:nvSpPr>
          <p:cNvPr id="22" name="icon-bg-239"/>
          <p:cNvSpPr/>
          <p:nvPr/>
        </p:nvSpPr>
        <p:spPr>
          <a:xfrm>
            <a:off x="7452360" y="3785616"/>
            <a:ext cx="502920" cy="502920"/>
          </a:xfrm>
          <a:prstGeom prst="ellipse">
            <a:avLst/>
          </a:prstGeom>
          <a:solidFill>
            <a:schemeClr val="bg2"/>
          </a:solidFill>
          <a:ln w="12700">
            <a:solidFill>
              <a:schemeClr val="bg2"/>
            </a:solidFill>
            <a:prstDash val="solid"/>
          </a:ln>
        </p:spPr>
      </p:sp>
      <p:pic>
        <p:nvPicPr>
          <p:cNvPr id="23" name="icon-240" descr="preencoded.png"/>
          <p:cNvPicPr>
            <a:picLocks noChangeAspect="1"/>
          </p:cNvPicPr>
          <p:nvPr/>
        </p:nvPicPr>
        <p:blipFill>
          <a:blip r:embed="rId6"/>
          <a:stretch>
            <a:fillRect/>
          </a:stretch>
        </p:blipFill>
        <p:spPr>
          <a:xfrm>
            <a:off x="7573061" y="3906317"/>
            <a:ext cx="261518" cy="261518"/>
          </a:xfrm>
          <a:prstGeom prst="rect">
            <a:avLst/>
          </a:prstGeom>
        </p:spPr>
      </p:pic>
      <p:sp>
        <p:nvSpPr>
          <p:cNvPr id="24" name="text-241"/>
          <p:cNvSpPr txBox="1"/>
          <p:nvPr/>
        </p:nvSpPr>
        <p:spPr>
          <a:xfrm>
            <a:off x="8138160" y="3785616"/>
            <a:ext cx="3502152" cy="292608"/>
          </a:xfrm>
          <a:prstGeom prst="rect">
            <a:avLst/>
          </a:prstGeom>
          <a:noFill/>
          <a:ln/>
        </p:spPr>
        <p:txBody>
          <a:bodyPr wrap="square" lIns="0" tIns="0" rIns="0" bIns="0" rtlCol="0" anchor="ctr"/>
          <a:lstStyle/>
          <a:p>
            <a:pPr marL="0" indent="0">
              <a:buNone/>
            </a:pPr>
            <a:r>
              <a:rPr lang="en-US" sz="1600" b="1" dirty="0">
                <a:solidFill>
                  <a:schemeClr val="tx1"/>
                </a:solidFill>
                <a:latin typeface="Calibri" pitchFamily="34" charset="0"/>
                <a:ea typeface="Calibri" pitchFamily="34" charset="-122"/>
                <a:cs typeface="Calibri" pitchFamily="34" charset="-120"/>
              </a:rPr>
              <a:t>Works without a camera</a:t>
            </a:r>
            <a:endParaRPr lang="en-US" sz="1600" dirty="0"/>
          </a:p>
        </p:txBody>
      </p:sp>
      <p:sp>
        <p:nvSpPr>
          <p:cNvPr id="25" name="text-242"/>
          <p:cNvSpPr txBox="1"/>
          <p:nvPr/>
        </p:nvSpPr>
        <p:spPr>
          <a:xfrm>
            <a:off x="8138160" y="4096512"/>
            <a:ext cx="3502152" cy="685800"/>
          </a:xfrm>
          <a:prstGeom prst="rect">
            <a:avLst/>
          </a:prstGeom>
          <a:noFill/>
          <a:ln/>
        </p:spPr>
        <p:txBody>
          <a:bodyPr wrap="square" lIns="0" tIns="0" rIns="0" bIns="0" rtlCol="0" anchor="t"/>
          <a:lstStyle/>
          <a:p>
            <a:pPr marL="0" indent="0">
              <a:buNone/>
            </a:pPr>
            <a:r>
              <a:rPr lang="en-US" sz="1300" dirty="0">
                <a:solidFill>
                  <a:schemeClr val="tx2"/>
                </a:solidFill>
                <a:latin typeface="Calibri" pitchFamily="34" charset="0"/>
                <a:ea typeface="Calibri" pitchFamily="34" charset="-122"/>
                <a:cs typeface="Calibri" pitchFamily="34" charset="-120"/>
              </a:rPr>
              <a:t>Deep link ?marker=MARK-001 and a Simulate-scan picker as fallback.</a:t>
            </a:r>
            <a:endParaRPr lang="en-US" sz="1300" dirty="0"/>
          </a:p>
        </p:txBody>
      </p:sp>
      <p:sp>
        <p:nvSpPr>
          <p:cNvPr id="26" name="icon-bg-243"/>
          <p:cNvSpPr/>
          <p:nvPr/>
        </p:nvSpPr>
        <p:spPr>
          <a:xfrm>
            <a:off x="7452360" y="4855464"/>
            <a:ext cx="502920" cy="502920"/>
          </a:xfrm>
          <a:prstGeom prst="ellipse">
            <a:avLst/>
          </a:prstGeom>
          <a:solidFill>
            <a:schemeClr val="bg2"/>
          </a:solidFill>
          <a:ln w="12700">
            <a:solidFill>
              <a:schemeClr val="bg2"/>
            </a:solidFill>
            <a:prstDash val="solid"/>
          </a:ln>
        </p:spPr>
      </p:sp>
      <p:pic>
        <p:nvPicPr>
          <p:cNvPr id="27" name="icon-244" descr="preencoded.png"/>
          <p:cNvPicPr>
            <a:picLocks noChangeAspect="1"/>
          </p:cNvPicPr>
          <p:nvPr/>
        </p:nvPicPr>
        <p:blipFill>
          <a:blip r:embed="rId7"/>
          <a:stretch>
            <a:fillRect/>
          </a:stretch>
        </p:blipFill>
        <p:spPr>
          <a:xfrm>
            <a:off x="7573061" y="4976165"/>
            <a:ext cx="261518" cy="261518"/>
          </a:xfrm>
          <a:prstGeom prst="rect">
            <a:avLst/>
          </a:prstGeom>
        </p:spPr>
      </p:pic>
      <p:sp>
        <p:nvSpPr>
          <p:cNvPr id="28" name="text-245"/>
          <p:cNvSpPr txBox="1"/>
          <p:nvPr/>
        </p:nvSpPr>
        <p:spPr>
          <a:xfrm>
            <a:off x="8138160" y="4855464"/>
            <a:ext cx="3502152" cy="292608"/>
          </a:xfrm>
          <a:prstGeom prst="rect">
            <a:avLst/>
          </a:prstGeom>
          <a:noFill/>
          <a:ln/>
        </p:spPr>
        <p:txBody>
          <a:bodyPr wrap="square" lIns="0" tIns="0" rIns="0" bIns="0" rtlCol="0" anchor="ctr"/>
          <a:lstStyle/>
          <a:p>
            <a:pPr marL="0" indent="0">
              <a:buNone/>
            </a:pPr>
            <a:r>
              <a:rPr lang="en-US" sz="1600" b="1" dirty="0">
                <a:solidFill>
                  <a:schemeClr val="tx1"/>
                </a:solidFill>
                <a:latin typeface="Calibri" pitchFamily="34" charset="0"/>
                <a:ea typeface="Calibri" pitchFamily="34" charset="-122"/>
                <a:cs typeface="Calibri" pitchFamily="34" charset="-120"/>
              </a:rPr>
              <a:t>Configurable backend</a:t>
            </a:r>
            <a:endParaRPr lang="en-US" sz="1600" dirty="0"/>
          </a:p>
        </p:txBody>
      </p:sp>
      <p:sp>
        <p:nvSpPr>
          <p:cNvPr id="29" name="text-246"/>
          <p:cNvSpPr txBox="1"/>
          <p:nvPr/>
        </p:nvSpPr>
        <p:spPr>
          <a:xfrm>
            <a:off x="8138160" y="5166360"/>
            <a:ext cx="3502152" cy="685800"/>
          </a:xfrm>
          <a:prstGeom prst="rect">
            <a:avLst/>
          </a:prstGeom>
          <a:noFill/>
          <a:ln/>
        </p:spPr>
        <p:txBody>
          <a:bodyPr wrap="square" lIns="0" tIns="0" rIns="0" bIns="0" rtlCol="0" anchor="t"/>
          <a:lstStyle/>
          <a:p>
            <a:pPr marL="0" indent="0">
              <a:buNone/>
            </a:pPr>
            <a:r>
              <a:rPr lang="en-US" sz="1300" dirty="0">
                <a:solidFill>
                  <a:schemeClr val="tx2"/>
                </a:solidFill>
                <a:latin typeface="Calibri" pitchFamily="34" charset="0"/>
                <a:ea typeface="Calibri" pitchFamily="34" charset="-122"/>
                <a:cs typeface="Calibri" pitchFamily="34" charset="-120"/>
              </a:rPr>
              <a:t>API URL can be set on the page and is saved in the browser, for LAN testing.</a:t>
            </a:r>
            <a:endParaRPr lang="en-US" sz="1300" dirty="0"/>
          </a:p>
        </p:txBody>
      </p:sp>
      <p:sp>
        <p:nvSpPr>
          <p:cNvPr id="30"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47472"/>
            <a:ext cx="8229600" cy="274320"/>
          </a:xfrm>
          <a:prstGeom prst="rect">
            <a:avLst/>
          </a:prstGeom>
          <a:noFill/>
          <a:ln/>
        </p:spPr>
        <p:txBody>
          <a:bodyPr wrap="square" lIns="0" tIns="0" rIns="0" bIns="0" rtlCol="0" anchor="ctr"/>
          <a:lstStyle/>
          <a:p>
            <a:pPr marL="0" indent="0">
              <a:buNone/>
            </a:pPr>
            <a:r>
              <a:rPr lang="en-US" sz="1200" b="1" kern="0" spc="200" dirty="0">
                <a:solidFill>
                  <a:schemeClr val="accent1"/>
                </a:solidFill>
              </a:rPr>
              <a:t>FRONTEND · ADMIN DASHBOARD</a:t>
            </a:r>
            <a:endParaRPr lang="en-US" sz="1200" dirty="0"/>
          </a:p>
        </p:txBody>
      </p:sp>
      <p:sp>
        <p:nvSpPr>
          <p:cNvPr id="3" name="Text 0"/>
          <p:cNvSpPr>
            <a:spLocks noGrp="1"/>
          </p:cNvSpPr>
          <p:nvPr>
            <p:ph type="title" idx="101" hasCustomPrompt="1"/>
          </p:nvPr>
        </p:nvSpPr>
        <p:spPr>
          <a:xfrm>
            <a:off x="548640" y="621792"/>
            <a:ext cx="11094415"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Staff triage every asset and issue from one screen</a:t>
            </a:r>
            <a:endParaRPr lang="en-US" sz="3000" dirty="0"/>
          </a:p>
        </p:txBody>
      </p:sp>
      <p:sp>
        <p:nvSpPr>
          <p:cNvPr id="4" name="frame-247"/>
          <p:cNvSpPr/>
          <p:nvPr/>
        </p:nvSpPr>
        <p:spPr>
          <a:xfrm>
            <a:off x="548640" y="1600200"/>
            <a:ext cx="5760720" cy="2148840"/>
          </a:xfrm>
          <a:prstGeom prst="rect">
            <a:avLst/>
          </a:prstGeom>
          <a:solidFill>
            <a:schemeClr val="bg1"/>
          </a:solidFill>
          <a:ln w="12700">
            <a:solidFill>
              <a:srgbClr val="E2E8F0"/>
            </a:solidFill>
            <a:prstDash val="solid"/>
          </a:ln>
        </p:spPr>
      </p:sp>
      <p:pic>
        <p:nvPicPr>
          <p:cNvPr id="5" name="screenshot-248" descr="/tmp/claude-0/-home-claude/151be230-6197-52e0-9161-2825d6d15167/scratchpad/src/media/image9.png"/>
          <p:cNvPicPr>
            <a:picLocks noChangeAspect="1"/>
          </p:cNvPicPr>
          <p:nvPr/>
        </p:nvPicPr>
        <p:blipFill>
          <a:blip r:embed="rId3"/>
          <a:stretch>
            <a:fillRect/>
          </a:stretch>
        </p:blipFill>
        <p:spPr>
          <a:xfrm>
            <a:off x="594360" y="1645920"/>
            <a:ext cx="5669280" cy="2057400"/>
          </a:xfrm>
          <a:prstGeom prst="rect">
            <a:avLst/>
          </a:prstGeom>
        </p:spPr>
      </p:pic>
      <p:sp>
        <p:nvSpPr>
          <p:cNvPr id="6" name="frame-249"/>
          <p:cNvSpPr/>
          <p:nvPr/>
        </p:nvSpPr>
        <p:spPr>
          <a:xfrm>
            <a:off x="548640" y="3931920"/>
            <a:ext cx="4608576" cy="1920240"/>
          </a:xfrm>
          <a:prstGeom prst="rect">
            <a:avLst/>
          </a:prstGeom>
          <a:solidFill>
            <a:schemeClr val="bg1"/>
          </a:solidFill>
          <a:ln w="12700">
            <a:solidFill>
              <a:srgbClr val="E2E8F0"/>
            </a:solidFill>
            <a:prstDash val="solid"/>
          </a:ln>
        </p:spPr>
      </p:sp>
      <p:pic>
        <p:nvPicPr>
          <p:cNvPr id="7" name="screenshot-250" descr="/tmp/claude-0/-home-claude/151be230-6197-52e0-9161-2825d6d15167/scratchpad/src/media/image8.png"/>
          <p:cNvPicPr>
            <a:picLocks noChangeAspect="1"/>
          </p:cNvPicPr>
          <p:nvPr/>
        </p:nvPicPr>
        <p:blipFill>
          <a:blip r:embed="rId4"/>
          <a:stretch>
            <a:fillRect/>
          </a:stretch>
        </p:blipFill>
        <p:spPr>
          <a:xfrm>
            <a:off x="594360" y="3959352"/>
            <a:ext cx="4517136" cy="1865376"/>
          </a:xfrm>
          <a:prstGeom prst="rect">
            <a:avLst/>
          </a:prstGeom>
        </p:spPr>
      </p:pic>
      <p:sp>
        <p:nvSpPr>
          <p:cNvPr id="8" name="icon-bg-251"/>
          <p:cNvSpPr/>
          <p:nvPr/>
        </p:nvSpPr>
        <p:spPr>
          <a:xfrm>
            <a:off x="6675120" y="1645920"/>
            <a:ext cx="502920" cy="502920"/>
          </a:xfrm>
          <a:prstGeom prst="ellipse">
            <a:avLst/>
          </a:prstGeom>
          <a:solidFill>
            <a:schemeClr val="bg2"/>
          </a:solidFill>
          <a:ln w="12700">
            <a:solidFill>
              <a:schemeClr val="bg2"/>
            </a:solidFill>
            <a:prstDash val="solid"/>
          </a:ln>
        </p:spPr>
      </p:sp>
      <p:pic>
        <p:nvPicPr>
          <p:cNvPr id="9" name="icon-252" descr="preencoded.png"/>
          <p:cNvPicPr>
            <a:picLocks noChangeAspect="1"/>
          </p:cNvPicPr>
          <p:nvPr/>
        </p:nvPicPr>
        <p:blipFill>
          <a:blip r:embed="rId5"/>
          <a:stretch>
            <a:fillRect/>
          </a:stretch>
        </p:blipFill>
        <p:spPr>
          <a:xfrm>
            <a:off x="6795821" y="1766621"/>
            <a:ext cx="261518" cy="261518"/>
          </a:xfrm>
          <a:prstGeom prst="rect">
            <a:avLst/>
          </a:prstGeom>
        </p:spPr>
      </p:pic>
      <p:sp>
        <p:nvSpPr>
          <p:cNvPr id="10" name="text-253"/>
          <p:cNvSpPr txBox="1"/>
          <p:nvPr/>
        </p:nvSpPr>
        <p:spPr>
          <a:xfrm>
            <a:off x="7360920" y="1645920"/>
            <a:ext cx="4279392" cy="292608"/>
          </a:xfrm>
          <a:prstGeom prst="rect">
            <a:avLst/>
          </a:prstGeom>
          <a:noFill/>
          <a:ln/>
        </p:spPr>
        <p:txBody>
          <a:bodyPr wrap="square" lIns="0" tIns="0" rIns="0" bIns="0" rtlCol="0" anchor="ctr"/>
          <a:lstStyle/>
          <a:p>
            <a:pPr marL="0" indent="0">
              <a:buNone/>
            </a:pPr>
            <a:r>
              <a:rPr lang="en-US" sz="1600" b="1" dirty="0">
                <a:solidFill>
                  <a:schemeClr val="tx1"/>
                </a:solidFill>
                <a:latin typeface="Calibri" pitchFamily="34" charset="0"/>
                <a:ea typeface="Calibri" pitchFamily="34" charset="-122"/>
                <a:cs typeface="Calibri" pitchFamily="34" charset="-120"/>
              </a:rPr>
              <a:t>Find anything</a:t>
            </a:r>
            <a:endParaRPr lang="en-US" sz="1600" dirty="0"/>
          </a:p>
        </p:txBody>
      </p:sp>
      <p:sp>
        <p:nvSpPr>
          <p:cNvPr id="11" name="text-254"/>
          <p:cNvSpPr txBox="1"/>
          <p:nvPr/>
        </p:nvSpPr>
        <p:spPr>
          <a:xfrm>
            <a:off x="7360920" y="1956816"/>
            <a:ext cx="4279392" cy="658368"/>
          </a:xfrm>
          <a:prstGeom prst="rect">
            <a:avLst/>
          </a:prstGeom>
          <a:noFill/>
          <a:ln/>
        </p:spPr>
        <p:txBody>
          <a:bodyPr wrap="square" lIns="0" tIns="0" rIns="0" bIns="0" rtlCol="0" anchor="t"/>
          <a:lstStyle/>
          <a:p>
            <a:pPr marL="0" indent="0">
              <a:buNone/>
            </a:pPr>
            <a:r>
              <a:rPr lang="en-US" sz="1300" dirty="0">
                <a:solidFill>
                  <a:schemeClr val="tx2"/>
                </a:solidFill>
                <a:latin typeface="Calibri" pitchFamily="34" charset="0"/>
                <a:ea typeface="Calibri" pitchFamily="34" charset="-122"/>
                <a:cs typeface="Calibri" pitchFamily="34" charset="-120"/>
              </a:rPr>
              <a:t>Search by ID, name, category or room; filter by status, category and location.</a:t>
            </a:r>
            <a:endParaRPr lang="en-US" sz="1300" dirty="0"/>
          </a:p>
        </p:txBody>
      </p:sp>
      <p:sp>
        <p:nvSpPr>
          <p:cNvPr id="12" name="icon-bg-255"/>
          <p:cNvSpPr/>
          <p:nvPr/>
        </p:nvSpPr>
        <p:spPr>
          <a:xfrm>
            <a:off x="6675120" y="2697480"/>
            <a:ext cx="502920" cy="502920"/>
          </a:xfrm>
          <a:prstGeom prst="ellipse">
            <a:avLst/>
          </a:prstGeom>
          <a:solidFill>
            <a:schemeClr val="bg2"/>
          </a:solidFill>
          <a:ln w="12700">
            <a:solidFill>
              <a:schemeClr val="bg2"/>
            </a:solidFill>
            <a:prstDash val="solid"/>
          </a:ln>
        </p:spPr>
      </p:sp>
      <p:pic>
        <p:nvPicPr>
          <p:cNvPr id="13" name="icon-256" descr="preencoded.png"/>
          <p:cNvPicPr>
            <a:picLocks noChangeAspect="1"/>
          </p:cNvPicPr>
          <p:nvPr/>
        </p:nvPicPr>
        <p:blipFill>
          <a:blip r:embed="rId6"/>
          <a:stretch>
            <a:fillRect/>
          </a:stretch>
        </p:blipFill>
        <p:spPr>
          <a:xfrm>
            <a:off x="6795821" y="2818181"/>
            <a:ext cx="261518" cy="261518"/>
          </a:xfrm>
          <a:prstGeom prst="rect">
            <a:avLst/>
          </a:prstGeom>
        </p:spPr>
      </p:pic>
      <p:sp>
        <p:nvSpPr>
          <p:cNvPr id="14" name="text-257"/>
          <p:cNvSpPr txBox="1"/>
          <p:nvPr/>
        </p:nvSpPr>
        <p:spPr>
          <a:xfrm>
            <a:off x="7360920" y="2697480"/>
            <a:ext cx="4279392" cy="292608"/>
          </a:xfrm>
          <a:prstGeom prst="rect">
            <a:avLst/>
          </a:prstGeom>
          <a:noFill/>
          <a:ln/>
        </p:spPr>
        <p:txBody>
          <a:bodyPr wrap="square" lIns="0" tIns="0" rIns="0" bIns="0" rtlCol="0" anchor="ctr"/>
          <a:lstStyle/>
          <a:p>
            <a:pPr marL="0" indent="0">
              <a:buNone/>
            </a:pPr>
            <a:r>
              <a:rPr lang="en-US" sz="1600" b="1" dirty="0">
                <a:solidFill>
                  <a:schemeClr val="tx1"/>
                </a:solidFill>
                <a:latin typeface="Calibri" pitchFamily="34" charset="0"/>
                <a:ea typeface="Calibri" pitchFamily="34" charset="-122"/>
                <a:cs typeface="Calibri" pitchFamily="34" charset="-120"/>
              </a:rPr>
              <a:t>Edit with guardrails</a:t>
            </a:r>
            <a:endParaRPr lang="en-US" sz="1600" dirty="0"/>
          </a:p>
        </p:txBody>
      </p:sp>
      <p:sp>
        <p:nvSpPr>
          <p:cNvPr id="15" name="text-258"/>
          <p:cNvSpPr txBox="1"/>
          <p:nvPr/>
        </p:nvSpPr>
        <p:spPr>
          <a:xfrm>
            <a:off x="7360920" y="3008376"/>
            <a:ext cx="4279392" cy="658368"/>
          </a:xfrm>
          <a:prstGeom prst="rect">
            <a:avLst/>
          </a:prstGeom>
          <a:noFill/>
          <a:ln/>
        </p:spPr>
        <p:txBody>
          <a:bodyPr wrap="square" lIns="0" tIns="0" rIns="0" bIns="0" rtlCol="0" anchor="t"/>
          <a:lstStyle/>
          <a:p>
            <a:pPr marL="0" indent="0">
              <a:buNone/>
            </a:pPr>
            <a:r>
              <a:rPr lang="en-US" sz="1300" dirty="0">
                <a:solidFill>
                  <a:schemeClr val="tx2"/>
                </a:solidFill>
                <a:latin typeface="Calibri" pitchFamily="34" charset="0"/>
                <a:ea typeface="Calibri" pitchFamily="34" charset="-122"/>
                <a:cs typeface="Calibri" pitchFamily="34" charset="-120"/>
              </a:rPr>
              <a:t>Create, edit and delete assets. Duplicate IDs or markers get a clear 409, not a crash.</a:t>
            </a:r>
            <a:endParaRPr lang="en-US" sz="1300" dirty="0"/>
          </a:p>
        </p:txBody>
      </p:sp>
      <p:sp>
        <p:nvSpPr>
          <p:cNvPr id="16" name="icon-bg-259"/>
          <p:cNvSpPr/>
          <p:nvPr/>
        </p:nvSpPr>
        <p:spPr>
          <a:xfrm>
            <a:off x="6675120" y="3749040"/>
            <a:ext cx="502920" cy="502920"/>
          </a:xfrm>
          <a:prstGeom prst="ellipse">
            <a:avLst/>
          </a:prstGeom>
          <a:solidFill>
            <a:schemeClr val="bg2"/>
          </a:solidFill>
          <a:ln w="12700">
            <a:solidFill>
              <a:schemeClr val="bg2"/>
            </a:solidFill>
            <a:prstDash val="solid"/>
          </a:ln>
        </p:spPr>
      </p:sp>
      <p:pic>
        <p:nvPicPr>
          <p:cNvPr id="17" name="icon-260" descr="preencoded.png"/>
          <p:cNvPicPr>
            <a:picLocks noChangeAspect="1"/>
          </p:cNvPicPr>
          <p:nvPr/>
        </p:nvPicPr>
        <p:blipFill>
          <a:blip r:embed="rId7"/>
          <a:stretch>
            <a:fillRect/>
          </a:stretch>
        </p:blipFill>
        <p:spPr>
          <a:xfrm>
            <a:off x="6795821" y="3869741"/>
            <a:ext cx="261518" cy="261518"/>
          </a:xfrm>
          <a:prstGeom prst="rect">
            <a:avLst/>
          </a:prstGeom>
        </p:spPr>
      </p:pic>
      <p:sp>
        <p:nvSpPr>
          <p:cNvPr id="18" name="text-261"/>
          <p:cNvSpPr txBox="1"/>
          <p:nvPr/>
        </p:nvSpPr>
        <p:spPr>
          <a:xfrm>
            <a:off x="7360920" y="3749040"/>
            <a:ext cx="4279392" cy="292608"/>
          </a:xfrm>
          <a:prstGeom prst="rect">
            <a:avLst/>
          </a:prstGeom>
          <a:noFill/>
          <a:ln/>
        </p:spPr>
        <p:txBody>
          <a:bodyPr wrap="square" lIns="0" tIns="0" rIns="0" bIns="0" rtlCol="0" anchor="ctr"/>
          <a:lstStyle/>
          <a:p>
            <a:pPr marL="0" indent="0">
              <a:buNone/>
            </a:pPr>
            <a:r>
              <a:rPr lang="en-US" sz="1600" b="1" dirty="0">
                <a:solidFill>
                  <a:schemeClr val="tx1"/>
                </a:solidFill>
                <a:latin typeface="Calibri" pitchFamily="34" charset="0"/>
                <a:ea typeface="Calibri" pitchFamily="34" charset="-122"/>
                <a:cs typeface="Calibri" pitchFamily="34" charset="-120"/>
              </a:rPr>
              <a:t>Issue workflow</a:t>
            </a:r>
            <a:endParaRPr lang="en-US" sz="1600" dirty="0"/>
          </a:p>
        </p:txBody>
      </p:sp>
      <p:sp>
        <p:nvSpPr>
          <p:cNvPr id="19" name="text-262"/>
          <p:cNvSpPr txBox="1"/>
          <p:nvPr/>
        </p:nvSpPr>
        <p:spPr>
          <a:xfrm>
            <a:off x="7360920" y="4059936"/>
            <a:ext cx="4279392" cy="658368"/>
          </a:xfrm>
          <a:prstGeom prst="rect">
            <a:avLst/>
          </a:prstGeom>
          <a:noFill/>
          <a:ln/>
        </p:spPr>
        <p:txBody>
          <a:bodyPr wrap="square" lIns="0" tIns="0" rIns="0" bIns="0" rtlCol="0" anchor="t"/>
          <a:lstStyle/>
          <a:p>
            <a:pPr marL="0" indent="0">
              <a:buNone/>
            </a:pPr>
            <a:r>
              <a:rPr lang="en-US" sz="1300" dirty="0">
                <a:solidFill>
                  <a:schemeClr val="tx2"/>
                </a:solidFill>
                <a:latin typeface="Calibri" pitchFamily="34" charset="0"/>
                <a:ea typeface="Calibri" pitchFamily="34" charset="-122"/>
                <a:cs typeface="Calibri" pitchFamily="34" charset="-120"/>
              </a:rPr>
              <a:t>open → in progress → resolved or rejected. The new state survives a refresh.</a:t>
            </a:r>
            <a:endParaRPr lang="en-US" sz="1300" dirty="0"/>
          </a:p>
        </p:txBody>
      </p:sp>
      <p:sp>
        <p:nvSpPr>
          <p:cNvPr id="20" name="icon-bg-263"/>
          <p:cNvSpPr/>
          <p:nvPr/>
        </p:nvSpPr>
        <p:spPr>
          <a:xfrm>
            <a:off x="6675120" y="4800600"/>
            <a:ext cx="502920" cy="502920"/>
          </a:xfrm>
          <a:prstGeom prst="ellipse">
            <a:avLst/>
          </a:prstGeom>
          <a:solidFill>
            <a:schemeClr val="bg2"/>
          </a:solidFill>
          <a:ln w="12700">
            <a:solidFill>
              <a:schemeClr val="bg2"/>
            </a:solidFill>
            <a:prstDash val="solid"/>
          </a:ln>
        </p:spPr>
      </p:sp>
      <p:pic>
        <p:nvPicPr>
          <p:cNvPr id="21" name="icon-264" descr="preencoded.png"/>
          <p:cNvPicPr>
            <a:picLocks noChangeAspect="1"/>
          </p:cNvPicPr>
          <p:nvPr/>
        </p:nvPicPr>
        <p:blipFill>
          <a:blip r:embed="rId8"/>
          <a:stretch>
            <a:fillRect/>
          </a:stretch>
        </p:blipFill>
        <p:spPr>
          <a:xfrm>
            <a:off x="6795821" y="4921301"/>
            <a:ext cx="261518" cy="261518"/>
          </a:xfrm>
          <a:prstGeom prst="rect">
            <a:avLst/>
          </a:prstGeom>
        </p:spPr>
      </p:pic>
      <p:sp>
        <p:nvSpPr>
          <p:cNvPr id="22" name="text-265"/>
          <p:cNvSpPr txBox="1"/>
          <p:nvPr/>
        </p:nvSpPr>
        <p:spPr>
          <a:xfrm>
            <a:off x="7360920" y="4800600"/>
            <a:ext cx="4279392" cy="292608"/>
          </a:xfrm>
          <a:prstGeom prst="rect">
            <a:avLst/>
          </a:prstGeom>
          <a:noFill/>
          <a:ln/>
        </p:spPr>
        <p:txBody>
          <a:bodyPr wrap="square" lIns="0" tIns="0" rIns="0" bIns="0" rtlCol="0" anchor="ctr"/>
          <a:lstStyle/>
          <a:p>
            <a:pPr marL="0" indent="0">
              <a:buNone/>
            </a:pPr>
            <a:r>
              <a:rPr lang="en-US" sz="1600" b="1" dirty="0">
                <a:solidFill>
                  <a:schemeClr val="tx1"/>
                </a:solidFill>
                <a:latin typeface="Calibri" pitchFamily="34" charset="0"/>
                <a:ea typeface="Calibri" pitchFamily="34" charset="-122"/>
                <a:cs typeface="Calibri" pitchFamily="34" charset="-120"/>
              </a:rPr>
              <a:t>Honest offline mode</a:t>
            </a:r>
            <a:endParaRPr lang="en-US" sz="1600" dirty="0"/>
          </a:p>
        </p:txBody>
      </p:sp>
      <p:sp>
        <p:nvSpPr>
          <p:cNvPr id="23" name="text-266"/>
          <p:cNvSpPr txBox="1"/>
          <p:nvPr/>
        </p:nvSpPr>
        <p:spPr>
          <a:xfrm>
            <a:off x="7360920" y="5111496"/>
            <a:ext cx="4279392" cy="658368"/>
          </a:xfrm>
          <a:prstGeom prst="rect">
            <a:avLst/>
          </a:prstGeom>
          <a:noFill/>
          <a:ln/>
        </p:spPr>
        <p:txBody>
          <a:bodyPr wrap="square" lIns="0" tIns="0" rIns="0" bIns="0" rtlCol="0" anchor="t"/>
          <a:lstStyle/>
          <a:p>
            <a:pPr marL="0" indent="0">
              <a:buNone/>
            </a:pPr>
            <a:r>
              <a:rPr lang="en-US" sz="1300" dirty="0">
                <a:solidFill>
                  <a:schemeClr val="tx2"/>
                </a:solidFill>
                <a:latin typeface="Calibri" pitchFamily="34" charset="0"/>
                <a:ea typeface="Calibri" pitchFamily="34" charset="-122"/>
                <a:cs typeface="Calibri" pitchFamily="34" charset="-120"/>
              </a:rPr>
              <a:t>If the API is down: a banner, sample data, and editing disabled until Retry.</a:t>
            </a:r>
            <a:endParaRPr lang="en-US" sz="1300" dirty="0"/>
          </a:p>
        </p:txBody>
      </p:sp>
      <p:sp>
        <p:nvSpPr>
          <p:cNvPr id="24" name="text-267"/>
          <p:cNvSpPr txBox="1"/>
          <p:nvPr/>
        </p:nvSpPr>
        <p:spPr>
          <a:xfrm>
            <a:off x="6675120" y="5852160"/>
            <a:ext cx="4965192" cy="274320"/>
          </a:xfrm>
          <a:prstGeom prst="rect">
            <a:avLst/>
          </a:prstGeom>
          <a:noFill/>
          <a:ln/>
        </p:spPr>
        <p:txBody>
          <a:bodyPr wrap="square" lIns="0" tIns="0" rIns="0" bIns="0" rtlCol="0" anchor="ctr"/>
          <a:lstStyle/>
          <a:p>
            <a:pPr marL="0" indent="0">
              <a:buNone/>
            </a:pPr>
            <a:r>
              <a:rPr lang="en-US" sz="1200" i="1" dirty="0">
                <a:solidFill>
                  <a:schemeClr val="tx2"/>
                </a:solidFill>
                <a:latin typeface="Calibri" pitchFamily="34" charset="0"/>
                <a:ea typeface="Calibri" pitchFamily="34" charset="-122"/>
                <a:cs typeface="Calibri" pitchFamily="34" charset="-120"/>
              </a:rPr>
              <a:t>Plain HTML, CSS and JS: no framework, no build step to break.</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47472"/>
            <a:ext cx="8229600" cy="274320"/>
          </a:xfrm>
          <a:prstGeom prst="rect">
            <a:avLst/>
          </a:prstGeom>
          <a:noFill/>
          <a:ln/>
        </p:spPr>
        <p:txBody>
          <a:bodyPr wrap="square" lIns="0" tIns="0" rIns="0" bIns="0" rtlCol="0" anchor="ctr"/>
          <a:lstStyle/>
          <a:p>
            <a:pPr marL="0" indent="0">
              <a:buNone/>
            </a:pPr>
            <a:r>
              <a:rPr lang="en-US" sz="1200" b="1" kern="0" spc="200" dirty="0">
                <a:solidFill>
                  <a:schemeClr val="accent1"/>
                </a:solidFill>
              </a:rPr>
              <a:t>BACKEND · REST API</a:t>
            </a:r>
            <a:endParaRPr lang="en-US" sz="1200" dirty="0"/>
          </a:p>
        </p:txBody>
      </p:sp>
      <p:sp>
        <p:nvSpPr>
          <p:cNvPr id="3" name="Text 0"/>
          <p:cNvSpPr>
            <a:spLocks noGrp="1"/>
          </p:cNvSpPr>
          <p:nvPr>
            <p:ph type="title" idx="101" hasCustomPrompt="1"/>
          </p:nvPr>
        </p:nvSpPr>
        <p:spPr>
          <a:xfrm>
            <a:off x="548640" y="621792"/>
            <a:ext cx="11094415"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A strict API contract with predictable errors</a:t>
            </a:r>
            <a:endParaRPr lang="en-US" sz="3000" dirty="0"/>
          </a:p>
        </p:txBody>
      </p:sp>
      <p:graphicFrame>
        <p:nvGraphicFramePr>
          <p:cNvPr id="11" name="table-endpoints"/>
          <p:cNvGraphicFramePr>
            <a:graphicFrameLocks noGrp="1"/>
          </p:cNvGraphicFramePr>
          <p:nvPr>
            <p:extLst>
              <p:ext uri="{D42A27DB-BD31-4B8C-83A1-F6EECF244321}">
                <p14:modId xmlns:p14="http://schemas.microsoft.com/office/powerpoint/2010/main" val="1579011935"/>
              </p:ext>
            </p:extLst>
          </p:nvPr>
        </p:nvGraphicFramePr>
        <p:xfrm>
          <a:off x="548640" y="1600200"/>
          <a:ext cx="6766560" cy="4219956"/>
        </p:xfrm>
        <a:graphic>
          <a:graphicData uri="http://schemas.openxmlformats.org/drawingml/2006/table">
            <a:tbl>
              <a:tblPr/>
              <a:tblGrid>
                <a:gridCol w="868680">
                  <a:extLst>
                    <a:ext uri="{9D8B030D-6E8A-4147-A177-3AD203B41FA5}">
                      <a16:colId xmlns:a16="http://schemas.microsoft.com/office/drawing/2014/main" val="20000"/>
                    </a:ext>
                  </a:extLst>
                </a:gridCol>
                <a:gridCol w="3063240">
                  <a:extLst>
                    <a:ext uri="{9D8B030D-6E8A-4147-A177-3AD203B41FA5}">
                      <a16:colId xmlns:a16="http://schemas.microsoft.com/office/drawing/2014/main" val="20001"/>
                    </a:ext>
                  </a:extLst>
                </a:gridCol>
                <a:gridCol w="2834640">
                  <a:extLst>
                    <a:ext uri="{9D8B030D-6E8A-4147-A177-3AD203B41FA5}">
                      <a16:colId xmlns:a16="http://schemas.microsoft.com/office/drawing/2014/main" val="20002"/>
                    </a:ext>
                  </a:extLst>
                </a:gridCol>
              </a:tblGrid>
              <a:tr h="324612">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Method</a:t>
                      </a:r>
                      <a:endParaRPr lang="en-US" sz="1200" dirty="0">
                        <a:latin typeface="Calibri" charset="0"/>
                        <a:ea typeface="Calibri" charset="0"/>
                        <a:cs typeface="Calibri" charset="0"/>
                      </a:endParaRPr>
                    </a:p>
                  </a:txBody>
                  <a:tcPr marT="0" marB="0" anchor="ctr">
                    <a:lnL w="0" cap="flat" cmpd="sng" algn="ctr">
                      <a:noFill/>
                    </a:lnL>
                    <a:lnR w="0" cap="flat" cmpd="sng" algn="ctr">
                      <a:noFill/>
                    </a:lnR>
                    <a:lnT w="0" cap="flat" cmpd="sng" algn="ctr">
                      <a:noFill/>
                    </a:lnT>
                    <a:lnB w="0" cap="flat" cmpd="sng" algn="ctr">
                      <a:noFill/>
                    </a:lnB>
                    <a:solidFill>
                      <a:srgbClr val="0B1220"/>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Route</a:t>
                      </a:r>
                      <a:endParaRPr lang="en-US" sz="1200" dirty="0">
                        <a:latin typeface="Calibri" charset="0"/>
                        <a:ea typeface="Calibri" charset="0"/>
                        <a:cs typeface="Calibri" charset="0"/>
                      </a:endParaRPr>
                    </a:p>
                  </a:txBody>
                  <a:tcPr marT="0" marB="0" anchor="ctr">
                    <a:lnL w="0" cap="flat" cmpd="sng" algn="ctr">
                      <a:noFill/>
                    </a:lnL>
                    <a:lnR w="0" cap="flat" cmpd="sng" algn="ctr">
                      <a:noFill/>
                    </a:lnR>
                    <a:lnT w="0" cap="flat" cmpd="sng" algn="ctr">
                      <a:noFill/>
                    </a:lnT>
                    <a:lnB w="0" cap="flat" cmpd="sng" algn="ctr">
                      <a:noFill/>
                    </a:lnB>
                    <a:solidFill>
                      <a:srgbClr val="0B1220"/>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Purpose</a:t>
                      </a:r>
                      <a:endParaRPr lang="en-US" sz="1200" dirty="0">
                        <a:latin typeface="Calibri" charset="0"/>
                        <a:ea typeface="Calibri" charset="0"/>
                        <a:cs typeface="Calibri" charset="0"/>
                      </a:endParaRPr>
                    </a:p>
                  </a:txBody>
                  <a:tcPr marT="0" marB="0" anchor="ctr">
                    <a:lnL w="0" cap="flat" cmpd="sng" algn="ctr">
                      <a:noFill/>
                    </a:lnL>
                    <a:lnR w="0" cap="flat" cmpd="sng" algn="ctr">
                      <a:noFill/>
                    </a:lnR>
                    <a:lnT w="0" cap="flat" cmpd="sng" algn="ctr">
                      <a:noFill/>
                    </a:lnT>
                    <a:lnB w="0" cap="flat" cmpd="sng" algn="ctr">
                      <a:noFill/>
                    </a:lnB>
                    <a:solidFill>
                      <a:srgbClr val="0B1220"/>
                    </a:solidFill>
                  </a:tcPr>
                </a:tc>
                <a:extLst>
                  <a:ext uri="{0D108BD9-81ED-4DB2-BD59-A6C34878D82A}">
                    <a16:rowId xmlns:a16="http://schemas.microsoft.com/office/drawing/2014/main" val="10000"/>
                  </a:ext>
                </a:extLst>
              </a:tr>
              <a:tr h="324612">
                <a:tc>
                  <a:txBody>
                    <a:bodyPr/>
                    <a:lstStyle/>
                    <a:p>
                      <a:pPr marL="0" indent="0">
                        <a:buNone/>
                      </a:pPr>
                      <a:r>
                        <a:rPr lang="en-US" sz="1200" b="1" dirty="0">
                          <a:solidFill>
                            <a:srgbClr val="0D9488"/>
                          </a:solidFill>
                          <a:latin typeface="Courier New" pitchFamily="34" charset="0"/>
                          <a:ea typeface="Courier New" pitchFamily="34" charset="-122"/>
                          <a:cs typeface="Courier New" pitchFamily="34" charset="-120"/>
                        </a:rPr>
                        <a:t>GET</a:t>
                      </a:r>
                      <a:endParaRPr lang="en-US" sz="1200" dirty="0">
                        <a:latin typeface="Courier New" charset="0"/>
                        <a:ea typeface="Courier New" charset="0"/>
                        <a:cs typeface="Courier New" charset="0"/>
                      </a:endParaRPr>
                    </a:p>
                  </a:txBody>
                  <a:tcPr marT="0" marB="0"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1200" dirty="0">
                          <a:solidFill>
                            <a:srgbClr val="0B1220"/>
                          </a:solidFill>
                          <a:latin typeface="Courier New" pitchFamily="34" charset="0"/>
                          <a:ea typeface="Courier New" pitchFamily="34" charset="-122"/>
                          <a:cs typeface="Courier New" pitchFamily="34" charset="-120"/>
                        </a:rPr>
                        <a:t>/api/assets/marker/:markerId</a:t>
                      </a:r>
                      <a:endParaRPr lang="en-US" sz="1200" dirty="0">
                        <a:latin typeface="Courier New" charset="0"/>
                        <a:ea typeface="Courier New" charset="0"/>
                        <a:cs typeface="Courier New" charset="0"/>
                      </a:endParaRPr>
                    </a:p>
                  </a:txBody>
                  <a:tcPr marT="0" marB="0"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Marker → asset (the scan)</a:t>
                      </a:r>
                      <a:endParaRPr lang="en-US" sz="1200" dirty="0">
                        <a:latin typeface="Calibri" charset="0"/>
                        <a:ea typeface="Calibri" charset="0"/>
                        <a:cs typeface="Calibri" charset="0"/>
                      </a:endParaRPr>
                    </a:p>
                  </a:txBody>
                  <a:tcPr marT="0" marB="0" anchor="ctr">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1"/>
                  </a:ext>
                </a:extLst>
              </a:tr>
              <a:tr h="324612">
                <a:tc>
                  <a:txBody>
                    <a:bodyPr/>
                    <a:lstStyle/>
                    <a:p>
                      <a:pPr marL="0" indent="0">
                        <a:buNone/>
                      </a:pPr>
                      <a:r>
                        <a:rPr lang="en-US" sz="1200" b="1" dirty="0">
                          <a:solidFill>
                            <a:srgbClr val="0D9488"/>
                          </a:solidFill>
                          <a:latin typeface="Courier New" pitchFamily="34" charset="0"/>
                          <a:ea typeface="Courier New" pitchFamily="34" charset="-122"/>
                          <a:cs typeface="Courier New" pitchFamily="34" charset="-120"/>
                        </a:rPr>
                        <a:t>GET</a:t>
                      </a:r>
                      <a:endParaRPr lang="en-US" sz="1200" dirty="0">
                        <a:latin typeface="Courier New" charset="0"/>
                        <a:ea typeface="Courier New" charset="0"/>
                        <a:cs typeface="Courier New" charset="0"/>
                      </a:endParaRPr>
                    </a:p>
                  </a:txBody>
                  <a:tcPr marT="0" marB="0" anchor="ctr">
                    <a:lnL w="0" cap="flat" cmpd="sng" algn="ctr">
                      <a:noFill/>
                    </a:lnL>
                    <a:lnR w="0" cap="flat" cmpd="sng" algn="ctr">
                      <a:noFill/>
                    </a:lnR>
                    <a:lnT w="0" cap="flat" cmpd="sng" algn="ctr">
                      <a:noFill/>
                    </a:lnT>
                    <a:lnB w="0" cap="flat" cmpd="sng" algn="ctr">
                      <a:noFill/>
                    </a:lnB>
                    <a:solidFill>
                      <a:srgbClr val="F1F5F9"/>
                    </a:solidFill>
                  </a:tcPr>
                </a:tc>
                <a:tc>
                  <a:txBody>
                    <a:bodyPr/>
                    <a:lstStyle/>
                    <a:p>
                      <a:pPr marL="0" indent="0">
                        <a:buNone/>
                      </a:pPr>
                      <a:r>
                        <a:rPr lang="en-US" sz="1200" dirty="0">
                          <a:solidFill>
                            <a:srgbClr val="0B1220"/>
                          </a:solidFill>
                          <a:latin typeface="Courier New" pitchFamily="34" charset="0"/>
                          <a:ea typeface="Courier New" pitchFamily="34" charset="-122"/>
                          <a:cs typeface="Courier New" pitchFamily="34" charset="-120"/>
                        </a:rPr>
                        <a:t>/api/assets</a:t>
                      </a:r>
                      <a:endParaRPr lang="en-US" sz="1200" dirty="0">
                        <a:latin typeface="Courier New" charset="0"/>
                        <a:ea typeface="Courier New" charset="0"/>
                        <a:cs typeface="Courier New" charset="0"/>
                      </a:endParaRPr>
                    </a:p>
                  </a:txBody>
                  <a:tcPr marT="0" marB="0" anchor="ctr">
                    <a:lnL w="0" cap="flat" cmpd="sng" algn="ctr">
                      <a:noFill/>
                    </a:lnL>
                    <a:lnR w="0" cap="flat" cmpd="sng" algn="ctr">
                      <a:noFill/>
                    </a:lnR>
                    <a:lnT w="0" cap="flat" cmpd="sng" algn="ctr">
                      <a:noFill/>
                    </a:lnT>
                    <a:lnB w="0" cap="flat" cmpd="sng" algn="ctr">
                      <a:noFill/>
                    </a:lnB>
                    <a:solidFill>
                      <a:srgbClr val="F1F5F9"/>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List with status / room / category filters</a:t>
                      </a:r>
                      <a:endParaRPr lang="en-US" sz="1200" dirty="0">
                        <a:latin typeface="Calibri" charset="0"/>
                        <a:ea typeface="Calibri" charset="0"/>
                        <a:cs typeface="Calibri" charset="0"/>
                      </a:endParaRPr>
                    </a:p>
                  </a:txBody>
                  <a:tcPr marT="0" marB="0" anchor="ctr">
                    <a:lnL w="0" cap="flat" cmpd="sng" algn="ctr">
                      <a:noFill/>
                    </a:lnL>
                    <a:lnR w="0" cap="flat" cmpd="sng" algn="ctr">
                      <a:noFill/>
                    </a:lnR>
                    <a:lnT w="0" cap="flat" cmpd="sng" algn="ctr">
                      <a:noFill/>
                    </a:lnT>
                    <a:lnB w="0" cap="flat" cmpd="sng" algn="ctr">
                      <a:noFill/>
                    </a:lnB>
                    <a:solidFill>
                      <a:srgbClr val="F1F5F9"/>
                    </a:solidFill>
                  </a:tcPr>
                </a:tc>
                <a:extLst>
                  <a:ext uri="{0D108BD9-81ED-4DB2-BD59-A6C34878D82A}">
                    <a16:rowId xmlns:a16="http://schemas.microsoft.com/office/drawing/2014/main" val="10002"/>
                  </a:ext>
                </a:extLst>
              </a:tr>
              <a:tr h="324612">
                <a:tc>
                  <a:txBody>
                    <a:bodyPr/>
                    <a:lstStyle/>
                    <a:p>
                      <a:pPr marL="0" indent="0">
                        <a:buNone/>
                      </a:pPr>
                      <a:r>
                        <a:rPr lang="en-US" sz="1200" b="1" dirty="0">
                          <a:solidFill>
                            <a:srgbClr val="0D9488"/>
                          </a:solidFill>
                          <a:latin typeface="Courier New" pitchFamily="34" charset="0"/>
                          <a:ea typeface="Courier New" pitchFamily="34" charset="-122"/>
                          <a:cs typeface="Courier New" pitchFamily="34" charset="-120"/>
                        </a:rPr>
                        <a:t>GET</a:t>
                      </a:r>
                      <a:endParaRPr lang="en-US" sz="1200" dirty="0">
                        <a:latin typeface="Courier New" charset="0"/>
                        <a:ea typeface="Courier New" charset="0"/>
                        <a:cs typeface="Courier New" charset="0"/>
                      </a:endParaRPr>
                    </a:p>
                  </a:txBody>
                  <a:tcPr marT="0" marB="0"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1200" dirty="0">
                          <a:solidFill>
                            <a:srgbClr val="0B1220"/>
                          </a:solidFill>
                          <a:latin typeface="Courier New" pitchFamily="34" charset="0"/>
                          <a:ea typeface="Courier New" pitchFamily="34" charset="-122"/>
                          <a:cs typeface="Courier New" pitchFamily="34" charset="-120"/>
                        </a:rPr>
                        <a:t>/api/assets/:id</a:t>
                      </a:r>
                      <a:endParaRPr lang="en-US" sz="1200" dirty="0">
                        <a:latin typeface="Courier New" charset="0"/>
                        <a:ea typeface="Courier New" charset="0"/>
                        <a:cs typeface="Courier New" charset="0"/>
                      </a:endParaRPr>
                    </a:p>
                  </a:txBody>
                  <a:tcPr marT="0" marB="0"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One asset</a:t>
                      </a:r>
                      <a:endParaRPr lang="en-US" sz="1200" dirty="0">
                        <a:latin typeface="Calibri" charset="0"/>
                        <a:ea typeface="Calibri" charset="0"/>
                        <a:cs typeface="Calibri" charset="0"/>
                      </a:endParaRPr>
                    </a:p>
                  </a:txBody>
                  <a:tcPr marT="0" marB="0" anchor="ctr">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3"/>
                  </a:ext>
                </a:extLst>
              </a:tr>
              <a:tr h="324612">
                <a:tc>
                  <a:txBody>
                    <a:bodyPr/>
                    <a:lstStyle/>
                    <a:p>
                      <a:pPr marL="0" indent="0">
                        <a:buNone/>
                      </a:pPr>
                      <a:r>
                        <a:rPr lang="en-US" sz="1200" b="1" dirty="0">
                          <a:solidFill>
                            <a:srgbClr val="0D9488"/>
                          </a:solidFill>
                          <a:latin typeface="Courier New" pitchFamily="34" charset="0"/>
                          <a:ea typeface="Courier New" pitchFamily="34" charset="-122"/>
                          <a:cs typeface="Courier New" pitchFamily="34" charset="-120"/>
                        </a:rPr>
                        <a:t>GET</a:t>
                      </a:r>
                      <a:endParaRPr lang="en-US" sz="1200" dirty="0">
                        <a:latin typeface="Courier New" charset="0"/>
                        <a:ea typeface="Courier New" charset="0"/>
                        <a:cs typeface="Courier New" charset="0"/>
                      </a:endParaRPr>
                    </a:p>
                  </a:txBody>
                  <a:tcPr marT="0" marB="0" anchor="ctr">
                    <a:lnL w="0" cap="flat" cmpd="sng" algn="ctr">
                      <a:noFill/>
                    </a:lnL>
                    <a:lnR w="0" cap="flat" cmpd="sng" algn="ctr">
                      <a:noFill/>
                    </a:lnR>
                    <a:lnT w="0" cap="flat" cmpd="sng" algn="ctr">
                      <a:noFill/>
                    </a:lnT>
                    <a:lnB w="0" cap="flat" cmpd="sng" algn="ctr">
                      <a:noFill/>
                    </a:lnB>
                    <a:solidFill>
                      <a:srgbClr val="F1F5F9"/>
                    </a:solidFill>
                  </a:tcPr>
                </a:tc>
                <a:tc>
                  <a:txBody>
                    <a:bodyPr/>
                    <a:lstStyle/>
                    <a:p>
                      <a:pPr marL="0" indent="0">
                        <a:buNone/>
                      </a:pPr>
                      <a:r>
                        <a:rPr lang="en-US" sz="1200" dirty="0">
                          <a:solidFill>
                            <a:srgbClr val="0B1220"/>
                          </a:solidFill>
                          <a:latin typeface="Courier New" pitchFamily="34" charset="0"/>
                          <a:ea typeface="Courier New" pitchFamily="34" charset="-122"/>
                          <a:cs typeface="Courier New" pitchFamily="34" charset="-120"/>
                        </a:rPr>
                        <a:t>/api/assets/:id/maintenance</a:t>
                      </a:r>
                      <a:endParaRPr lang="en-US" sz="1200" dirty="0">
                        <a:latin typeface="Courier New" charset="0"/>
                        <a:ea typeface="Courier New" charset="0"/>
                        <a:cs typeface="Courier New" charset="0"/>
                      </a:endParaRPr>
                    </a:p>
                  </a:txBody>
                  <a:tcPr marT="0" marB="0" anchor="ctr">
                    <a:lnL w="0" cap="flat" cmpd="sng" algn="ctr">
                      <a:noFill/>
                    </a:lnL>
                    <a:lnR w="0" cap="flat" cmpd="sng" algn="ctr">
                      <a:noFill/>
                    </a:lnR>
                    <a:lnT w="0" cap="flat" cmpd="sng" algn="ctr">
                      <a:noFill/>
                    </a:lnT>
                    <a:lnB w="0" cap="flat" cmpd="sng" algn="ctr">
                      <a:noFill/>
                    </a:lnB>
                    <a:solidFill>
                      <a:srgbClr val="F1F5F9"/>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Service history</a:t>
                      </a:r>
                      <a:endParaRPr lang="en-US" sz="1200" dirty="0">
                        <a:latin typeface="Calibri" charset="0"/>
                        <a:ea typeface="Calibri" charset="0"/>
                        <a:cs typeface="Calibri" charset="0"/>
                      </a:endParaRPr>
                    </a:p>
                  </a:txBody>
                  <a:tcPr marT="0" marB="0" anchor="ctr">
                    <a:lnL w="0" cap="flat" cmpd="sng" algn="ctr">
                      <a:noFill/>
                    </a:lnL>
                    <a:lnR w="0" cap="flat" cmpd="sng" algn="ctr">
                      <a:noFill/>
                    </a:lnR>
                    <a:lnT w="0" cap="flat" cmpd="sng" algn="ctr">
                      <a:noFill/>
                    </a:lnT>
                    <a:lnB w="0" cap="flat" cmpd="sng" algn="ctr">
                      <a:noFill/>
                    </a:lnB>
                    <a:solidFill>
                      <a:srgbClr val="F1F5F9"/>
                    </a:solidFill>
                  </a:tcPr>
                </a:tc>
                <a:extLst>
                  <a:ext uri="{0D108BD9-81ED-4DB2-BD59-A6C34878D82A}">
                    <a16:rowId xmlns:a16="http://schemas.microsoft.com/office/drawing/2014/main" val="10004"/>
                  </a:ext>
                </a:extLst>
              </a:tr>
              <a:tr h="324612">
                <a:tc>
                  <a:txBody>
                    <a:bodyPr/>
                    <a:lstStyle/>
                    <a:p>
                      <a:pPr marL="0" indent="0">
                        <a:buNone/>
                      </a:pPr>
                      <a:r>
                        <a:rPr lang="en-US" sz="1200" b="1" dirty="0">
                          <a:solidFill>
                            <a:srgbClr val="4F46E5"/>
                          </a:solidFill>
                          <a:latin typeface="Courier New" pitchFamily="34" charset="0"/>
                          <a:ea typeface="Courier New" pitchFamily="34" charset="-122"/>
                          <a:cs typeface="Courier New" pitchFamily="34" charset="-120"/>
                        </a:rPr>
                        <a:t>POST</a:t>
                      </a:r>
                      <a:endParaRPr lang="en-US" sz="1200" dirty="0">
                        <a:latin typeface="Courier New" charset="0"/>
                        <a:ea typeface="Courier New" charset="0"/>
                        <a:cs typeface="Courier New" charset="0"/>
                      </a:endParaRPr>
                    </a:p>
                  </a:txBody>
                  <a:tcPr marT="0" marB="0"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1200" dirty="0">
                          <a:solidFill>
                            <a:srgbClr val="0B1220"/>
                          </a:solidFill>
                          <a:latin typeface="Courier New" pitchFamily="34" charset="0"/>
                          <a:ea typeface="Courier New" pitchFamily="34" charset="-122"/>
                          <a:cs typeface="Courier New" pitchFamily="34" charset="-120"/>
                        </a:rPr>
                        <a:t>/api/assets</a:t>
                      </a:r>
                      <a:endParaRPr lang="en-US" sz="1200" dirty="0">
                        <a:latin typeface="Courier New" charset="0"/>
                        <a:ea typeface="Courier New" charset="0"/>
                        <a:cs typeface="Courier New" charset="0"/>
                      </a:endParaRPr>
                    </a:p>
                  </a:txBody>
                  <a:tcPr marT="0" marB="0"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Create asset + link marker</a:t>
                      </a:r>
                      <a:endParaRPr lang="en-US" sz="1200" dirty="0">
                        <a:latin typeface="Calibri" charset="0"/>
                        <a:ea typeface="Calibri" charset="0"/>
                        <a:cs typeface="Calibri" charset="0"/>
                      </a:endParaRPr>
                    </a:p>
                  </a:txBody>
                  <a:tcPr marT="0" marB="0" anchor="ctr">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5"/>
                  </a:ext>
                </a:extLst>
              </a:tr>
              <a:tr h="324612">
                <a:tc>
                  <a:txBody>
                    <a:bodyPr/>
                    <a:lstStyle/>
                    <a:p>
                      <a:pPr marL="0" indent="0">
                        <a:buNone/>
                      </a:pPr>
                      <a:r>
                        <a:rPr lang="en-US" sz="1200" b="1" dirty="0">
                          <a:solidFill>
                            <a:srgbClr val="B45309"/>
                          </a:solidFill>
                          <a:latin typeface="Courier New" pitchFamily="34" charset="0"/>
                          <a:ea typeface="Courier New" pitchFamily="34" charset="-122"/>
                          <a:cs typeface="Courier New" pitchFamily="34" charset="-120"/>
                        </a:rPr>
                        <a:t>PATCH</a:t>
                      </a:r>
                      <a:endParaRPr lang="en-US" sz="1200" dirty="0">
                        <a:latin typeface="Courier New" charset="0"/>
                        <a:ea typeface="Courier New" charset="0"/>
                        <a:cs typeface="Courier New" charset="0"/>
                      </a:endParaRPr>
                    </a:p>
                  </a:txBody>
                  <a:tcPr marT="0" marB="0" anchor="ctr">
                    <a:lnL w="0" cap="flat" cmpd="sng" algn="ctr">
                      <a:noFill/>
                    </a:lnL>
                    <a:lnR w="0" cap="flat" cmpd="sng" algn="ctr">
                      <a:noFill/>
                    </a:lnR>
                    <a:lnT w="0" cap="flat" cmpd="sng" algn="ctr">
                      <a:noFill/>
                    </a:lnT>
                    <a:lnB w="0" cap="flat" cmpd="sng" algn="ctr">
                      <a:noFill/>
                    </a:lnB>
                    <a:solidFill>
                      <a:srgbClr val="F1F5F9"/>
                    </a:solidFill>
                  </a:tcPr>
                </a:tc>
                <a:tc>
                  <a:txBody>
                    <a:bodyPr/>
                    <a:lstStyle/>
                    <a:p>
                      <a:pPr marL="0" indent="0">
                        <a:buNone/>
                      </a:pPr>
                      <a:r>
                        <a:rPr lang="en-US" sz="1200" dirty="0">
                          <a:solidFill>
                            <a:srgbClr val="0B1220"/>
                          </a:solidFill>
                          <a:latin typeface="Courier New" pitchFamily="34" charset="0"/>
                          <a:ea typeface="Courier New" pitchFamily="34" charset="-122"/>
                          <a:cs typeface="Courier New" pitchFamily="34" charset="-120"/>
                        </a:rPr>
                        <a:t>/api/assets/:id</a:t>
                      </a:r>
                      <a:endParaRPr lang="en-US" sz="1200" dirty="0">
                        <a:latin typeface="Courier New" charset="0"/>
                        <a:ea typeface="Courier New" charset="0"/>
                        <a:cs typeface="Courier New" charset="0"/>
                      </a:endParaRPr>
                    </a:p>
                  </a:txBody>
                  <a:tcPr marT="0" marB="0" anchor="ctr">
                    <a:lnL w="0" cap="flat" cmpd="sng" algn="ctr">
                      <a:noFill/>
                    </a:lnL>
                    <a:lnR w="0" cap="flat" cmpd="sng" algn="ctr">
                      <a:noFill/>
                    </a:lnR>
                    <a:lnT w="0" cap="flat" cmpd="sng" algn="ctr">
                      <a:noFill/>
                    </a:lnT>
                    <a:lnB w="0" cap="flat" cmpd="sng" algn="ctr">
                      <a:noFill/>
                    </a:lnB>
                    <a:solidFill>
                      <a:srgbClr val="F1F5F9"/>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Update asset</a:t>
                      </a:r>
                      <a:endParaRPr lang="en-US" sz="1200" dirty="0">
                        <a:latin typeface="Calibri" charset="0"/>
                        <a:ea typeface="Calibri" charset="0"/>
                        <a:cs typeface="Calibri" charset="0"/>
                      </a:endParaRPr>
                    </a:p>
                  </a:txBody>
                  <a:tcPr marT="0" marB="0" anchor="ctr">
                    <a:lnL w="0" cap="flat" cmpd="sng" algn="ctr">
                      <a:noFill/>
                    </a:lnL>
                    <a:lnR w="0" cap="flat" cmpd="sng" algn="ctr">
                      <a:noFill/>
                    </a:lnR>
                    <a:lnT w="0" cap="flat" cmpd="sng" algn="ctr">
                      <a:noFill/>
                    </a:lnT>
                    <a:lnB w="0" cap="flat" cmpd="sng" algn="ctr">
                      <a:noFill/>
                    </a:lnB>
                    <a:solidFill>
                      <a:srgbClr val="F1F5F9"/>
                    </a:solidFill>
                  </a:tcPr>
                </a:tc>
                <a:extLst>
                  <a:ext uri="{0D108BD9-81ED-4DB2-BD59-A6C34878D82A}">
                    <a16:rowId xmlns:a16="http://schemas.microsoft.com/office/drawing/2014/main" val="10006"/>
                  </a:ext>
                </a:extLst>
              </a:tr>
              <a:tr h="324612">
                <a:tc>
                  <a:txBody>
                    <a:bodyPr/>
                    <a:lstStyle/>
                    <a:p>
                      <a:pPr marL="0" indent="0">
                        <a:buNone/>
                      </a:pPr>
                      <a:r>
                        <a:rPr lang="en-US" sz="1200" b="1" dirty="0">
                          <a:solidFill>
                            <a:srgbClr val="DC2626"/>
                          </a:solidFill>
                          <a:latin typeface="Courier New" pitchFamily="34" charset="0"/>
                          <a:ea typeface="Courier New" pitchFamily="34" charset="-122"/>
                          <a:cs typeface="Courier New" pitchFamily="34" charset="-120"/>
                        </a:rPr>
                        <a:t>DELETE</a:t>
                      </a:r>
                      <a:endParaRPr lang="en-US" sz="1200" dirty="0">
                        <a:latin typeface="Courier New" charset="0"/>
                        <a:ea typeface="Courier New" charset="0"/>
                        <a:cs typeface="Courier New" charset="0"/>
                      </a:endParaRPr>
                    </a:p>
                  </a:txBody>
                  <a:tcPr marT="0" marB="0"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1200" dirty="0">
                          <a:solidFill>
                            <a:srgbClr val="0B1220"/>
                          </a:solidFill>
                          <a:latin typeface="Courier New" pitchFamily="34" charset="0"/>
                          <a:ea typeface="Courier New" pitchFamily="34" charset="-122"/>
                          <a:cs typeface="Courier New" pitchFamily="34" charset="-120"/>
                        </a:rPr>
                        <a:t>/api/assets/:id</a:t>
                      </a:r>
                      <a:endParaRPr lang="en-US" sz="1200" dirty="0">
                        <a:latin typeface="Courier New" charset="0"/>
                        <a:ea typeface="Courier New" charset="0"/>
                        <a:cs typeface="Courier New" charset="0"/>
                      </a:endParaRPr>
                    </a:p>
                  </a:txBody>
                  <a:tcPr marT="0" marB="0"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Delete, history cascades</a:t>
                      </a:r>
                      <a:endParaRPr lang="en-US" sz="1200" dirty="0">
                        <a:latin typeface="Calibri" charset="0"/>
                        <a:ea typeface="Calibri" charset="0"/>
                        <a:cs typeface="Calibri" charset="0"/>
                      </a:endParaRPr>
                    </a:p>
                  </a:txBody>
                  <a:tcPr marT="0" marB="0" anchor="ctr">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7"/>
                  </a:ext>
                </a:extLst>
              </a:tr>
              <a:tr h="324612">
                <a:tc>
                  <a:txBody>
                    <a:bodyPr/>
                    <a:lstStyle/>
                    <a:p>
                      <a:pPr marL="0" indent="0">
                        <a:buNone/>
                      </a:pPr>
                      <a:r>
                        <a:rPr lang="en-US" sz="1200" b="1" dirty="0">
                          <a:solidFill>
                            <a:srgbClr val="0D9488"/>
                          </a:solidFill>
                          <a:latin typeface="Courier New" pitchFamily="34" charset="0"/>
                          <a:ea typeface="Courier New" pitchFamily="34" charset="-122"/>
                          <a:cs typeface="Courier New" pitchFamily="34" charset="-120"/>
                        </a:rPr>
                        <a:t>GET</a:t>
                      </a:r>
                      <a:endParaRPr lang="en-US" sz="1200" dirty="0">
                        <a:latin typeface="Courier New" charset="0"/>
                        <a:ea typeface="Courier New" charset="0"/>
                        <a:cs typeface="Courier New" charset="0"/>
                      </a:endParaRPr>
                    </a:p>
                  </a:txBody>
                  <a:tcPr marT="0" marB="0" anchor="ctr">
                    <a:lnL w="0" cap="flat" cmpd="sng" algn="ctr">
                      <a:noFill/>
                    </a:lnL>
                    <a:lnR w="0" cap="flat" cmpd="sng" algn="ctr">
                      <a:noFill/>
                    </a:lnR>
                    <a:lnT w="0" cap="flat" cmpd="sng" algn="ctr">
                      <a:noFill/>
                    </a:lnT>
                    <a:lnB w="0" cap="flat" cmpd="sng" algn="ctr">
                      <a:noFill/>
                    </a:lnB>
                    <a:solidFill>
                      <a:srgbClr val="F1F5F9"/>
                    </a:solidFill>
                  </a:tcPr>
                </a:tc>
                <a:tc>
                  <a:txBody>
                    <a:bodyPr/>
                    <a:lstStyle/>
                    <a:p>
                      <a:pPr marL="0" indent="0">
                        <a:buNone/>
                      </a:pPr>
                      <a:r>
                        <a:rPr lang="en-US" sz="1200" dirty="0">
                          <a:solidFill>
                            <a:srgbClr val="0B1220"/>
                          </a:solidFill>
                          <a:latin typeface="Courier New" pitchFamily="34" charset="0"/>
                          <a:ea typeface="Courier New" pitchFamily="34" charset="-122"/>
                          <a:cs typeface="Courier New" pitchFamily="34" charset="-120"/>
                        </a:rPr>
                        <a:t>/api/issues</a:t>
                      </a:r>
                      <a:endParaRPr lang="en-US" sz="1200" dirty="0">
                        <a:latin typeface="Courier New" charset="0"/>
                        <a:ea typeface="Courier New" charset="0"/>
                        <a:cs typeface="Courier New" charset="0"/>
                      </a:endParaRPr>
                    </a:p>
                  </a:txBody>
                  <a:tcPr marT="0" marB="0" anchor="ctr">
                    <a:lnL w="0" cap="flat" cmpd="sng" algn="ctr">
                      <a:noFill/>
                    </a:lnL>
                    <a:lnR w="0" cap="flat" cmpd="sng" algn="ctr">
                      <a:noFill/>
                    </a:lnR>
                    <a:lnT w="0" cap="flat" cmpd="sng" algn="ctr">
                      <a:noFill/>
                    </a:lnT>
                    <a:lnB w="0" cap="flat" cmpd="sng" algn="ctr">
                      <a:noFill/>
                    </a:lnB>
                    <a:solidFill>
                      <a:srgbClr val="F1F5F9"/>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List, filter by asset / status</a:t>
                      </a:r>
                      <a:endParaRPr lang="en-US" sz="1200" dirty="0">
                        <a:latin typeface="Calibri" charset="0"/>
                        <a:ea typeface="Calibri" charset="0"/>
                        <a:cs typeface="Calibri" charset="0"/>
                      </a:endParaRPr>
                    </a:p>
                  </a:txBody>
                  <a:tcPr marT="0" marB="0" anchor="ctr">
                    <a:lnL w="0" cap="flat" cmpd="sng" algn="ctr">
                      <a:noFill/>
                    </a:lnL>
                    <a:lnR w="0" cap="flat" cmpd="sng" algn="ctr">
                      <a:noFill/>
                    </a:lnR>
                    <a:lnT w="0" cap="flat" cmpd="sng" algn="ctr">
                      <a:noFill/>
                    </a:lnT>
                    <a:lnB w="0" cap="flat" cmpd="sng" algn="ctr">
                      <a:noFill/>
                    </a:lnB>
                    <a:solidFill>
                      <a:srgbClr val="F1F5F9"/>
                    </a:solidFill>
                  </a:tcPr>
                </a:tc>
                <a:extLst>
                  <a:ext uri="{0D108BD9-81ED-4DB2-BD59-A6C34878D82A}">
                    <a16:rowId xmlns:a16="http://schemas.microsoft.com/office/drawing/2014/main" val="10008"/>
                  </a:ext>
                </a:extLst>
              </a:tr>
              <a:tr h="324612">
                <a:tc>
                  <a:txBody>
                    <a:bodyPr/>
                    <a:lstStyle/>
                    <a:p>
                      <a:pPr marL="0" indent="0">
                        <a:buNone/>
                      </a:pPr>
                      <a:r>
                        <a:rPr lang="en-US" sz="1200" b="1" dirty="0">
                          <a:solidFill>
                            <a:srgbClr val="4F46E5"/>
                          </a:solidFill>
                          <a:latin typeface="Courier New" pitchFamily="34" charset="0"/>
                          <a:ea typeface="Courier New" pitchFamily="34" charset="-122"/>
                          <a:cs typeface="Courier New" pitchFamily="34" charset="-120"/>
                        </a:rPr>
                        <a:t>POST</a:t>
                      </a:r>
                      <a:endParaRPr lang="en-US" sz="1200" dirty="0">
                        <a:latin typeface="Courier New" charset="0"/>
                        <a:ea typeface="Courier New" charset="0"/>
                        <a:cs typeface="Courier New" charset="0"/>
                      </a:endParaRPr>
                    </a:p>
                  </a:txBody>
                  <a:tcPr marT="0" marB="0"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1200" dirty="0">
                          <a:solidFill>
                            <a:srgbClr val="0B1220"/>
                          </a:solidFill>
                          <a:latin typeface="Courier New" pitchFamily="34" charset="0"/>
                          <a:ea typeface="Courier New" pitchFamily="34" charset="-122"/>
                          <a:cs typeface="Courier New" pitchFamily="34" charset="-120"/>
                        </a:rPr>
                        <a:t>/api/issues</a:t>
                      </a:r>
                      <a:endParaRPr lang="en-US" sz="1200" dirty="0">
                        <a:latin typeface="Courier New" charset="0"/>
                        <a:ea typeface="Courier New" charset="0"/>
                        <a:cs typeface="Courier New" charset="0"/>
                      </a:endParaRPr>
                    </a:p>
                  </a:txBody>
                  <a:tcPr marT="0" marB="0"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Report a fault from the phone</a:t>
                      </a:r>
                      <a:endParaRPr lang="en-US" sz="1200" dirty="0">
                        <a:latin typeface="Calibri" charset="0"/>
                        <a:ea typeface="Calibri" charset="0"/>
                        <a:cs typeface="Calibri" charset="0"/>
                      </a:endParaRPr>
                    </a:p>
                  </a:txBody>
                  <a:tcPr marT="0" marB="0" anchor="ctr">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9"/>
                  </a:ext>
                </a:extLst>
              </a:tr>
              <a:tr h="324612">
                <a:tc>
                  <a:txBody>
                    <a:bodyPr/>
                    <a:lstStyle/>
                    <a:p>
                      <a:pPr marL="0" indent="0">
                        <a:buNone/>
                      </a:pPr>
                      <a:r>
                        <a:rPr lang="en-US" sz="1200" b="1" dirty="0">
                          <a:solidFill>
                            <a:srgbClr val="B45309"/>
                          </a:solidFill>
                          <a:latin typeface="Courier New" pitchFamily="34" charset="0"/>
                          <a:ea typeface="Courier New" pitchFamily="34" charset="-122"/>
                          <a:cs typeface="Courier New" pitchFamily="34" charset="-120"/>
                        </a:rPr>
                        <a:t>PATCH</a:t>
                      </a:r>
                      <a:endParaRPr lang="en-US" sz="1200" dirty="0">
                        <a:latin typeface="Courier New" charset="0"/>
                        <a:ea typeface="Courier New" charset="0"/>
                        <a:cs typeface="Courier New" charset="0"/>
                      </a:endParaRPr>
                    </a:p>
                  </a:txBody>
                  <a:tcPr marT="0" marB="0" anchor="ctr">
                    <a:lnL w="0" cap="flat" cmpd="sng" algn="ctr">
                      <a:noFill/>
                    </a:lnL>
                    <a:lnR w="0" cap="flat" cmpd="sng" algn="ctr">
                      <a:noFill/>
                    </a:lnR>
                    <a:lnT w="0" cap="flat" cmpd="sng" algn="ctr">
                      <a:noFill/>
                    </a:lnT>
                    <a:lnB w="0" cap="flat" cmpd="sng" algn="ctr">
                      <a:noFill/>
                    </a:lnB>
                    <a:solidFill>
                      <a:srgbClr val="F1F5F9"/>
                    </a:solidFill>
                  </a:tcPr>
                </a:tc>
                <a:tc>
                  <a:txBody>
                    <a:bodyPr/>
                    <a:lstStyle/>
                    <a:p>
                      <a:pPr marL="0" indent="0">
                        <a:buNone/>
                      </a:pPr>
                      <a:r>
                        <a:rPr lang="en-US" sz="1200" dirty="0">
                          <a:solidFill>
                            <a:srgbClr val="0B1220"/>
                          </a:solidFill>
                          <a:latin typeface="Courier New" pitchFamily="34" charset="0"/>
                          <a:ea typeface="Courier New" pitchFamily="34" charset="-122"/>
                          <a:cs typeface="Courier New" pitchFamily="34" charset="-120"/>
                        </a:rPr>
                        <a:t>/api/issues/:id/status</a:t>
                      </a:r>
                      <a:endParaRPr lang="en-US" sz="1200" dirty="0">
                        <a:latin typeface="Courier New" charset="0"/>
                        <a:ea typeface="Courier New" charset="0"/>
                        <a:cs typeface="Courier New" charset="0"/>
                      </a:endParaRPr>
                    </a:p>
                  </a:txBody>
                  <a:tcPr marT="0" marB="0" anchor="ctr">
                    <a:lnL w="0" cap="flat" cmpd="sng" algn="ctr">
                      <a:noFill/>
                    </a:lnL>
                    <a:lnR w="0" cap="flat" cmpd="sng" algn="ctr">
                      <a:noFill/>
                    </a:lnR>
                    <a:lnT w="0" cap="flat" cmpd="sng" algn="ctr">
                      <a:noFill/>
                    </a:lnT>
                    <a:lnB w="0" cap="flat" cmpd="sng" algn="ctr">
                      <a:noFill/>
                    </a:lnB>
                    <a:solidFill>
                      <a:srgbClr val="F1F5F9"/>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Move through the workflow</a:t>
                      </a:r>
                      <a:endParaRPr lang="en-US" sz="1200" dirty="0">
                        <a:latin typeface="Calibri" charset="0"/>
                        <a:ea typeface="Calibri" charset="0"/>
                        <a:cs typeface="Calibri" charset="0"/>
                      </a:endParaRPr>
                    </a:p>
                  </a:txBody>
                  <a:tcPr marT="0" marB="0" anchor="ctr">
                    <a:lnL w="0" cap="flat" cmpd="sng" algn="ctr">
                      <a:noFill/>
                    </a:lnL>
                    <a:lnR w="0" cap="flat" cmpd="sng" algn="ctr">
                      <a:noFill/>
                    </a:lnR>
                    <a:lnT w="0" cap="flat" cmpd="sng" algn="ctr">
                      <a:noFill/>
                    </a:lnT>
                    <a:lnB w="0" cap="flat" cmpd="sng" algn="ctr">
                      <a:noFill/>
                    </a:lnB>
                    <a:solidFill>
                      <a:srgbClr val="F1F5F9"/>
                    </a:solidFill>
                  </a:tcPr>
                </a:tc>
                <a:extLst>
                  <a:ext uri="{0D108BD9-81ED-4DB2-BD59-A6C34878D82A}">
                    <a16:rowId xmlns:a16="http://schemas.microsoft.com/office/drawing/2014/main" val="10010"/>
                  </a:ext>
                </a:extLst>
              </a:tr>
              <a:tr h="324612">
                <a:tc>
                  <a:txBody>
                    <a:bodyPr/>
                    <a:lstStyle/>
                    <a:p>
                      <a:pPr marL="0" indent="0">
                        <a:buNone/>
                      </a:pPr>
                      <a:r>
                        <a:rPr lang="en-US" sz="1200" b="1" dirty="0">
                          <a:solidFill>
                            <a:srgbClr val="0D9488"/>
                          </a:solidFill>
                          <a:latin typeface="Courier New" pitchFamily="34" charset="0"/>
                          <a:ea typeface="Courier New" pitchFamily="34" charset="-122"/>
                          <a:cs typeface="Courier New" pitchFamily="34" charset="-120"/>
                        </a:rPr>
                        <a:t>GET</a:t>
                      </a:r>
                      <a:endParaRPr lang="en-US" sz="1200" dirty="0">
                        <a:latin typeface="Courier New" charset="0"/>
                        <a:ea typeface="Courier New" charset="0"/>
                        <a:cs typeface="Courier New" charset="0"/>
                      </a:endParaRPr>
                    </a:p>
                  </a:txBody>
                  <a:tcPr marT="0" marB="0"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1200" dirty="0">
                          <a:solidFill>
                            <a:srgbClr val="0B1220"/>
                          </a:solidFill>
                          <a:latin typeface="Courier New" pitchFamily="34" charset="0"/>
                          <a:ea typeface="Courier New" pitchFamily="34" charset="-122"/>
                          <a:cs typeface="Courier New" pitchFamily="34" charset="-120"/>
                        </a:rPr>
                        <a:t>/api/locations</a:t>
                      </a:r>
                      <a:endParaRPr lang="en-US" sz="1200" dirty="0">
                        <a:latin typeface="Courier New" charset="0"/>
                        <a:ea typeface="Courier New" charset="0"/>
                        <a:cs typeface="Courier New" charset="0"/>
                      </a:endParaRPr>
                    </a:p>
                  </a:txBody>
                  <a:tcPr marT="0" marB="0"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Rooms</a:t>
                      </a:r>
                      <a:endParaRPr lang="en-US" sz="1200" dirty="0">
                        <a:latin typeface="Calibri" charset="0"/>
                        <a:ea typeface="Calibri" charset="0"/>
                        <a:cs typeface="Calibri" charset="0"/>
                      </a:endParaRPr>
                    </a:p>
                  </a:txBody>
                  <a:tcPr marT="0" marB="0" anchor="ctr">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11"/>
                  </a:ext>
                </a:extLst>
              </a:tr>
              <a:tr h="324612">
                <a:tc>
                  <a:txBody>
                    <a:bodyPr/>
                    <a:lstStyle/>
                    <a:p>
                      <a:pPr marL="0" indent="0">
                        <a:buNone/>
                      </a:pPr>
                      <a:r>
                        <a:rPr lang="en-US" sz="1200" b="1" dirty="0">
                          <a:solidFill>
                            <a:srgbClr val="0D9488"/>
                          </a:solidFill>
                          <a:latin typeface="Courier New" pitchFamily="34" charset="0"/>
                          <a:ea typeface="Courier New" pitchFamily="34" charset="-122"/>
                          <a:cs typeface="Courier New" pitchFamily="34" charset="-120"/>
                        </a:rPr>
                        <a:t>GET</a:t>
                      </a:r>
                      <a:endParaRPr lang="en-US" sz="1200" dirty="0">
                        <a:latin typeface="Courier New" charset="0"/>
                        <a:ea typeface="Courier New" charset="0"/>
                        <a:cs typeface="Courier New" charset="0"/>
                      </a:endParaRPr>
                    </a:p>
                  </a:txBody>
                  <a:tcPr marT="0" marB="0" anchor="ctr">
                    <a:lnL w="0" cap="flat" cmpd="sng" algn="ctr">
                      <a:noFill/>
                    </a:lnL>
                    <a:lnR w="0" cap="flat" cmpd="sng" algn="ctr">
                      <a:noFill/>
                    </a:lnR>
                    <a:lnT w="0" cap="flat" cmpd="sng" algn="ctr">
                      <a:noFill/>
                    </a:lnT>
                    <a:lnB w="0" cap="flat" cmpd="sng" algn="ctr">
                      <a:noFill/>
                    </a:lnB>
                    <a:solidFill>
                      <a:srgbClr val="F1F5F9"/>
                    </a:solidFill>
                  </a:tcPr>
                </a:tc>
                <a:tc>
                  <a:txBody>
                    <a:bodyPr/>
                    <a:lstStyle/>
                    <a:p>
                      <a:pPr marL="0" indent="0">
                        <a:buNone/>
                      </a:pPr>
                      <a:r>
                        <a:rPr lang="en-US" sz="1200" dirty="0">
                          <a:solidFill>
                            <a:srgbClr val="0B1220"/>
                          </a:solidFill>
                          <a:latin typeface="Courier New" pitchFamily="34" charset="0"/>
                          <a:ea typeface="Courier New" pitchFamily="34" charset="-122"/>
                          <a:cs typeface="Courier New" pitchFamily="34" charset="-120"/>
                        </a:rPr>
                        <a:t>/health</a:t>
                      </a:r>
                      <a:endParaRPr lang="en-US" sz="1200" dirty="0">
                        <a:latin typeface="Courier New" charset="0"/>
                        <a:ea typeface="Courier New" charset="0"/>
                        <a:cs typeface="Courier New" charset="0"/>
                      </a:endParaRPr>
                    </a:p>
                  </a:txBody>
                  <a:tcPr marT="0" marB="0" anchor="ctr">
                    <a:lnL w="0" cap="flat" cmpd="sng" algn="ctr">
                      <a:noFill/>
                    </a:lnL>
                    <a:lnR w="0" cap="flat" cmpd="sng" algn="ctr">
                      <a:noFill/>
                    </a:lnR>
                    <a:lnT w="0" cap="flat" cmpd="sng" algn="ctr">
                      <a:noFill/>
                    </a:lnT>
                    <a:lnB w="0" cap="flat" cmpd="sng" algn="ctr">
                      <a:noFill/>
                    </a:lnB>
                    <a:solidFill>
                      <a:srgbClr val="F1F5F9"/>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Liveness + DB up / down</a:t>
                      </a:r>
                      <a:endParaRPr lang="en-US" sz="1200" dirty="0">
                        <a:latin typeface="Calibri" charset="0"/>
                        <a:ea typeface="Calibri" charset="0"/>
                        <a:cs typeface="Calibri" charset="0"/>
                      </a:endParaRPr>
                    </a:p>
                  </a:txBody>
                  <a:tcPr marT="0" marB="0" anchor="ctr">
                    <a:lnL w="0" cap="flat" cmpd="sng" algn="ctr">
                      <a:noFill/>
                    </a:lnL>
                    <a:lnR w="0" cap="flat" cmpd="sng" algn="ctr">
                      <a:noFill/>
                    </a:lnR>
                    <a:lnT w="0" cap="flat" cmpd="sng" algn="ctr">
                      <a:noFill/>
                    </a:lnT>
                    <a:lnB w="0" cap="flat" cmpd="sng" algn="ctr">
                      <a:noFill/>
                    </a:lnB>
                    <a:solidFill>
                      <a:srgbClr val="F1F5F9"/>
                    </a:solidFill>
                  </a:tcPr>
                </a:tc>
                <a:extLst>
                  <a:ext uri="{0D108BD9-81ED-4DB2-BD59-A6C34878D82A}">
                    <a16:rowId xmlns:a16="http://schemas.microsoft.com/office/drawing/2014/main" val="10012"/>
                  </a:ext>
                </a:extLst>
              </a:tr>
            </a:tbl>
          </a:graphicData>
        </a:graphic>
      </p:graphicFrame>
      <p:sp>
        <p:nvSpPr>
          <p:cNvPr id="5" name="card-268"/>
          <p:cNvSpPr/>
          <p:nvPr/>
        </p:nvSpPr>
        <p:spPr>
          <a:xfrm>
            <a:off x="7680960" y="1600200"/>
            <a:ext cx="3959352" cy="1600200"/>
          </a:xfrm>
          <a:prstGeom prst="roundRect">
            <a:avLst>
              <a:gd name="adj" fmla="val 4571"/>
            </a:avLst>
          </a:prstGeom>
          <a:solidFill>
            <a:schemeClr val="tx1"/>
          </a:solidFill>
          <a:ln w="12700">
            <a:solidFill>
              <a:schemeClr val="tx1"/>
            </a:solidFill>
            <a:prstDash val="solid"/>
          </a:ln>
        </p:spPr>
      </p:sp>
      <p:sp>
        <p:nvSpPr>
          <p:cNvPr id="6" name="text-269"/>
          <p:cNvSpPr txBox="1"/>
          <p:nvPr/>
        </p:nvSpPr>
        <p:spPr>
          <a:xfrm>
            <a:off x="7909560" y="1737360"/>
            <a:ext cx="3566160" cy="256032"/>
          </a:xfrm>
          <a:prstGeom prst="rect">
            <a:avLst/>
          </a:prstGeom>
          <a:noFill/>
          <a:ln/>
        </p:spPr>
        <p:txBody>
          <a:bodyPr wrap="square" lIns="0" tIns="0" rIns="0" bIns="0" rtlCol="0" anchor="ctr"/>
          <a:lstStyle/>
          <a:p>
            <a:pPr marL="0" indent="0">
              <a:buNone/>
            </a:pPr>
            <a:r>
              <a:rPr lang="en-US" sz="1100" b="1" kern="0" spc="100" dirty="0">
                <a:solidFill>
                  <a:schemeClr val="accent2"/>
                </a:solidFill>
                <a:latin typeface="Calibri" pitchFamily="34" charset="0"/>
                <a:ea typeface="Calibri" pitchFamily="34" charset="-122"/>
                <a:cs typeface="Calibri" pitchFamily="34" charset="-120"/>
              </a:rPr>
              <a:t>EVERY ERROR, ONE SHAPE</a:t>
            </a:r>
            <a:endParaRPr lang="en-US" sz="1100" dirty="0"/>
          </a:p>
        </p:txBody>
      </p:sp>
      <p:sp>
        <p:nvSpPr>
          <p:cNvPr id="7" name="text-270"/>
          <p:cNvSpPr txBox="1"/>
          <p:nvPr/>
        </p:nvSpPr>
        <p:spPr>
          <a:xfrm>
            <a:off x="7909560" y="2057400"/>
            <a:ext cx="3611880" cy="1005840"/>
          </a:xfrm>
          <a:prstGeom prst="rect">
            <a:avLst/>
          </a:prstGeom>
          <a:noFill/>
          <a:ln/>
        </p:spPr>
        <p:txBody>
          <a:bodyPr wrap="square" lIns="0" tIns="0" rIns="0" bIns="0" rtlCol="0" anchor="t"/>
          <a:lstStyle/>
          <a:p>
            <a:pPr marL="0" indent="0">
              <a:buNone/>
            </a:pPr>
            <a:r>
              <a:rPr lang="en-US" sz="1150" dirty="0">
                <a:solidFill>
                  <a:schemeClr val="bg1"/>
                </a:solidFill>
                <a:latin typeface="Courier New" pitchFamily="34" charset="0"/>
                <a:ea typeface="Courier New" pitchFamily="34" charset="-122"/>
                <a:cs typeface="Courier New" pitchFamily="34" charset="-120"/>
              </a:rPr>
              <a:t>{ "error": {</a:t>
            </a:r>
            <a:endParaRPr lang="en-US" sz="1150" dirty="0"/>
          </a:p>
          <a:p>
            <a:pPr marL="0" indent="0">
              <a:buNone/>
            </a:pPr>
            <a:r>
              <a:rPr lang="en-US" sz="1150" dirty="0">
                <a:solidFill>
                  <a:schemeClr val="bg1"/>
                </a:solidFill>
                <a:latin typeface="Courier New" pitchFamily="34" charset="0"/>
                <a:ea typeface="Courier New" pitchFamily="34" charset="-122"/>
                <a:cs typeface="Courier New" pitchFamily="34" charset="-120"/>
              </a:rPr>
              <a:t>    "code": "MARKER_CONFLICT",</a:t>
            </a:r>
            <a:endParaRPr lang="en-US" sz="1150" dirty="0"/>
          </a:p>
          <a:p>
            <a:pPr marL="0" indent="0">
              <a:buNone/>
            </a:pPr>
            <a:r>
              <a:rPr lang="en-US" sz="1150" dirty="0">
                <a:solidFill>
                  <a:schemeClr val="bg1"/>
                </a:solidFill>
                <a:latin typeface="Courier New" pitchFamily="34" charset="0"/>
                <a:ea typeface="Courier New" pitchFamily="34" charset="-122"/>
                <a:cs typeface="Courier New" pitchFamily="34" charset="-120"/>
              </a:rPr>
              <a:t>    "message": "Marker already</a:t>
            </a:r>
            <a:endParaRPr lang="en-US" sz="1150" dirty="0"/>
          </a:p>
          <a:p>
            <a:pPr marL="0" indent="0">
              <a:buNone/>
            </a:pPr>
            <a:r>
              <a:rPr lang="en-US" sz="1150" dirty="0">
                <a:solidFill>
                  <a:schemeClr val="bg1"/>
                </a:solidFill>
                <a:latin typeface="Courier New" pitchFamily="34" charset="0"/>
                <a:ea typeface="Courier New" pitchFamily="34" charset="-122"/>
                <a:cs typeface="Courier New" pitchFamily="34" charset="-120"/>
              </a:rPr>
              <a:t>      linked to another asset." } }</a:t>
            </a:r>
            <a:endParaRPr lang="en-US" sz="1150" dirty="0"/>
          </a:p>
        </p:txBody>
      </p:sp>
      <p:sp>
        <p:nvSpPr>
          <p:cNvPr id="8" name="chip-271"/>
          <p:cNvSpPr txBox="1"/>
          <p:nvPr/>
        </p:nvSpPr>
        <p:spPr>
          <a:xfrm>
            <a:off x="7680960" y="3383280"/>
            <a:ext cx="914400" cy="384048"/>
          </a:xfrm>
          <a:prstGeom prst="roundRect">
            <a:avLst>
              <a:gd name="adj" fmla="val 14286"/>
            </a:avLst>
          </a:prstGeom>
          <a:solidFill>
            <a:schemeClr val="accent2"/>
          </a:solidFill>
          <a:ln>
            <a:solidFill>
              <a:schemeClr val="accent2"/>
            </a:solidFill>
          </a:ln>
        </p:spPr>
        <p:txBody>
          <a:bodyPr wrap="square" lIns="0" tIns="0" rIns="0" bIns="0" rtlCol="0" anchor="ctr"/>
          <a:lstStyle/>
          <a:p>
            <a:pPr marL="0" indent="0" algn="ctr">
              <a:buNone/>
            </a:pPr>
            <a:r>
              <a:rPr lang="en-US" sz="1400" b="1" dirty="0">
                <a:solidFill>
                  <a:schemeClr val="tx1"/>
                </a:solidFill>
                <a:latin typeface="Courier New" pitchFamily="34" charset="0"/>
                <a:ea typeface="Courier New" pitchFamily="34" charset="-122"/>
                <a:cs typeface="Courier New" pitchFamily="34" charset="-120"/>
              </a:rPr>
              <a:t>400</a:t>
            </a:r>
            <a:endParaRPr lang="en-US" sz="1400" dirty="0"/>
          </a:p>
        </p:txBody>
      </p:sp>
      <p:sp>
        <p:nvSpPr>
          <p:cNvPr id="9" name="text-272"/>
          <p:cNvSpPr txBox="1"/>
          <p:nvPr/>
        </p:nvSpPr>
        <p:spPr>
          <a:xfrm>
            <a:off x="7680960" y="3803904"/>
            <a:ext cx="914400" cy="256032"/>
          </a:xfrm>
          <a:prstGeom prst="rect">
            <a:avLst/>
          </a:prstGeom>
          <a:noFill/>
          <a:ln/>
        </p:spPr>
        <p:txBody>
          <a:bodyPr wrap="square" lIns="0" tIns="0" rIns="0" bIns="0" rtlCol="0" anchor="ctr"/>
          <a:lstStyle/>
          <a:p>
            <a:pPr marL="0" indent="0" algn="ctr">
              <a:buNone/>
            </a:pPr>
            <a:r>
              <a:rPr lang="en-US" sz="1150" dirty="0">
                <a:solidFill>
                  <a:schemeClr val="tx2"/>
                </a:solidFill>
                <a:latin typeface="Calibri" pitchFamily="34" charset="0"/>
                <a:ea typeface="Calibri" pitchFamily="34" charset="-122"/>
                <a:cs typeface="Calibri" pitchFamily="34" charset="-120"/>
              </a:rPr>
              <a:t>Bad input</a:t>
            </a:r>
            <a:endParaRPr lang="en-US" sz="1150" dirty="0"/>
          </a:p>
        </p:txBody>
      </p:sp>
      <p:sp>
        <p:nvSpPr>
          <p:cNvPr id="10" name="chip-273"/>
          <p:cNvSpPr txBox="1"/>
          <p:nvPr/>
        </p:nvSpPr>
        <p:spPr>
          <a:xfrm>
            <a:off x="8695944" y="3383280"/>
            <a:ext cx="914400" cy="384048"/>
          </a:xfrm>
          <a:prstGeom prst="roundRect">
            <a:avLst>
              <a:gd name="adj" fmla="val 14286"/>
            </a:avLst>
          </a:prstGeom>
          <a:solidFill>
            <a:schemeClr val="accent5"/>
          </a:solidFill>
          <a:ln>
            <a:solidFill>
              <a:schemeClr val="accent5"/>
            </a:solidFill>
          </a:ln>
        </p:spPr>
        <p:txBody>
          <a:bodyPr wrap="square" lIns="0" tIns="0" rIns="0" bIns="0" rtlCol="0" anchor="ctr"/>
          <a:lstStyle/>
          <a:p>
            <a:pPr marL="0" indent="0" algn="ctr">
              <a:buNone/>
            </a:pPr>
            <a:r>
              <a:rPr lang="en-US" sz="1400" b="1" dirty="0">
                <a:solidFill>
                  <a:schemeClr val="tx1"/>
                </a:solidFill>
                <a:latin typeface="Courier New" pitchFamily="34" charset="0"/>
                <a:ea typeface="Courier New" pitchFamily="34" charset="-122"/>
                <a:cs typeface="Courier New" pitchFamily="34" charset="-120"/>
              </a:rPr>
              <a:t>404</a:t>
            </a:r>
            <a:endParaRPr lang="en-US" sz="1400" dirty="0"/>
          </a:p>
        </p:txBody>
      </p:sp>
      <p:sp>
        <p:nvSpPr>
          <p:cNvPr id="4" name="text-274"/>
          <p:cNvSpPr txBox="1"/>
          <p:nvPr/>
        </p:nvSpPr>
        <p:spPr>
          <a:xfrm>
            <a:off x="8695944" y="3803904"/>
            <a:ext cx="914400" cy="256032"/>
          </a:xfrm>
          <a:prstGeom prst="rect">
            <a:avLst/>
          </a:prstGeom>
          <a:noFill/>
          <a:ln/>
        </p:spPr>
        <p:txBody>
          <a:bodyPr wrap="square" lIns="0" tIns="0" rIns="0" bIns="0" rtlCol="0" anchor="ctr"/>
          <a:lstStyle/>
          <a:p>
            <a:pPr marL="0" indent="0" algn="ctr">
              <a:buNone/>
            </a:pPr>
            <a:r>
              <a:rPr lang="en-US" sz="1150" dirty="0">
                <a:solidFill>
                  <a:schemeClr val="tx2"/>
                </a:solidFill>
                <a:latin typeface="Calibri" pitchFamily="34" charset="0"/>
                <a:ea typeface="Calibri" pitchFamily="34" charset="-122"/>
                <a:cs typeface="Calibri" pitchFamily="34" charset="-120"/>
              </a:rPr>
              <a:t>Not found</a:t>
            </a:r>
            <a:endParaRPr lang="en-US" sz="1150" dirty="0"/>
          </a:p>
        </p:txBody>
      </p:sp>
      <p:sp>
        <p:nvSpPr>
          <p:cNvPr id="12" name="chip-275"/>
          <p:cNvSpPr txBox="1"/>
          <p:nvPr/>
        </p:nvSpPr>
        <p:spPr>
          <a:xfrm>
            <a:off x="9710928" y="3383280"/>
            <a:ext cx="914400" cy="384048"/>
          </a:xfrm>
          <a:prstGeom prst="roundRect">
            <a:avLst>
              <a:gd name="adj" fmla="val 14286"/>
            </a:avLst>
          </a:prstGeom>
          <a:solidFill>
            <a:schemeClr val="accent3"/>
          </a:solidFill>
          <a:ln>
            <a:solidFill>
              <a:schemeClr val="accent3"/>
            </a:solidFill>
          </a:ln>
        </p:spPr>
        <p:txBody>
          <a:bodyPr wrap="square" lIns="0" tIns="0" rIns="0" bIns="0" rtlCol="0" anchor="ctr"/>
          <a:lstStyle/>
          <a:p>
            <a:pPr marL="0" indent="0" algn="ctr">
              <a:buNone/>
            </a:pPr>
            <a:r>
              <a:rPr lang="en-US" sz="1400" b="1" dirty="0">
                <a:solidFill>
                  <a:schemeClr val="bg1"/>
                </a:solidFill>
                <a:latin typeface="Courier New" pitchFamily="34" charset="0"/>
                <a:ea typeface="Courier New" pitchFamily="34" charset="-122"/>
                <a:cs typeface="Courier New" pitchFamily="34" charset="-120"/>
              </a:rPr>
              <a:t>409</a:t>
            </a:r>
            <a:endParaRPr lang="en-US" sz="1400" dirty="0"/>
          </a:p>
        </p:txBody>
      </p:sp>
      <p:sp>
        <p:nvSpPr>
          <p:cNvPr id="13" name="text-276"/>
          <p:cNvSpPr txBox="1"/>
          <p:nvPr/>
        </p:nvSpPr>
        <p:spPr>
          <a:xfrm>
            <a:off x="9710928" y="3803904"/>
            <a:ext cx="914400" cy="256032"/>
          </a:xfrm>
          <a:prstGeom prst="rect">
            <a:avLst/>
          </a:prstGeom>
          <a:noFill/>
          <a:ln/>
        </p:spPr>
        <p:txBody>
          <a:bodyPr wrap="square" lIns="0" tIns="0" rIns="0" bIns="0" rtlCol="0" anchor="ctr"/>
          <a:lstStyle/>
          <a:p>
            <a:pPr marL="0" indent="0" algn="ctr">
              <a:buNone/>
            </a:pPr>
            <a:r>
              <a:rPr lang="en-US" sz="1150" dirty="0">
                <a:solidFill>
                  <a:schemeClr val="tx2"/>
                </a:solidFill>
                <a:latin typeface="Calibri" pitchFamily="34" charset="0"/>
                <a:ea typeface="Calibri" pitchFamily="34" charset="-122"/>
                <a:cs typeface="Calibri" pitchFamily="34" charset="-120"/>
              </a:rPr>
              <a:t>Duplicate</a:t>
            </a:r>
            <a:endParaRPr lang="en-US" sz="1150" dirty="0"/>
          </a:p>
        </p:txBody>
      </p:sp>
      <p:sp>
        <p:nvSpPr>
          <p:cNvPr id="14" name="chip-277"/>
          <p:cNvSpPr txBox="1"/>
          <p:nvPr/>
        </p:nvSpPr>
        <p:spPr>
          <a:xfrm>
            <a:off x="10725912" y="3383280"/>
            <a:ext cx="914400" cy="384048"/>
          </a:xfrm>
          <a:prstGeom prst="roundRect">
            <a:avLst>
              <a:gd name="adj" fmla="val 14286"/>
            </a:avLst>
          </a:prstGeom>
          <a:solidFill>
            <a:schemeClr val="accent4"/>
          </a:solidFill>
          <a:ln>
            <a:solidFill>
              <a:schemeClr val="accent4"/>
            </a:solidFill>
          </a:ln>
        </p:spPr>
        <p:txBody>
          <a:bodyPr wrap="square" lIns="0" tIns="0" rIns="0" bIns="0" rtlCol="0" anchor="ctr"/>
          <a:lstStyle/>
          <a:p>
            <a:pPr marL="0" indent="0" algn="ctr">
              <a:buNone/>
            </a:pPr>
            <a:r>
              <a:rPr lang="en-US" sz="1400" b="1" dirty="0">
                <a:solidFill>
                  <a:schemeClr val="bg1"/>
                </a:solidFill>
                <a:latin typeface="Courier New" pitchFamily="34" charset="0"/>
                <a:ea typeface="Courier New" pitchFamily="34" charset="-122"/>
                <a:cs typeface="Courier New" pitchFamily="34" charset="-120"/>
              </a:rPr>
              <a:t>503</a:t>
            </a:r>
            <a:endParaRPr lang="en-US" sz="1400" dirty="0"/>
          </a:p>
        </p:txBody>
      </p:sp>
      <p:sp>
        <p:nvSpPr>
          <p:cNvPr id="15" name="text-278"/>
          <p:cNvSpPr txBox="1"/>
          <p:nvPr/>
        </p:nvSpPr>
        <p:spPr>
          <a:xfrm>
            <a:off x="10725912" y="3803904"/>
            <a:ext cx="914400" cy="256032"/>
          </a:xfrm>
          <a:prstGeom prst="rect">
            <a:avLst/>
          </a:prstGeom>
          <a:noFill/>
          <a:ln/>
        </p:spPr>
        <p:txBody>
          <a:bodyPr wrap="square" lIns="0" tIns="0" rIns="0" bIns="0" rtlCol="0" anchor="ctr"/>
          <a:lstStyle/>
          <a:p>
            <a:pPr marL="0" indent="0" algn="ctr">
              <a:buNone/>
            </a:pPr>
            <a:r>
              <a:rPr lang="en-US" sz="1150" dirty="0">
                <a:solidFill>
                  <a:schemeClr val="tx2"/>
                </a:solidFill>
                <a:latin typeface="Calibri" pitchFamily="34" charset="0"/>
                <a:ea typeface="Calibri" pitchFamily="34" charset="-122"/>
                <a:cs typeface="Calibri" pitchFamily="34" charset="-120"/>
              </a:rPr>
              <a:t>DB down</a:t>
            </a:r>
            <a:endParaRPr lang="en-US" sz="1150" dirty="0"/>
          </a:p>
        </p:txBody>
      </p:sp>
      <p:sp>
        <p:nvSpPr>
          <p:cNvPr id="16" name="text-279"/>
          <p:cNvSpPr txBox="1"/>
          <p:nvPr/>
        </p:nvSpPr>
        <p:spPr>
          <a:xfrm>
            <a:off x="7680960" y="4297680"/>
            <a:ext cx="3959352" cy="274320"/>
          </a:xfrm>
          <a:prstGeom prst="rect">
            <a:avLst/>
          </a:prstGeom>
          <a:noFill/>
          <a:ln/>
        </p:spPr>
        <p:txBody>
          <a:bodyPr wrap="square" lIns="0" tIns="0" rIns="0" bIns="0" rtlCol="0" anchor="ctr"/>
          <a:lstStyle/>
          <a:p>
            <a:pPr marL="0" indent="0">
              <a:buNone/>
            </a:pPr>
            <a:r>
              <a:rPr lang="en-US" sz="1400" b="1" dirty="0">
                <a:solidFill>
                  <a:schemeClr val="tx1"/>
                </a:solidFill>
                <a:latin typeface="Calibri" pitchFamily="34" charset="0"/>
                <a:ea typeface="Calibri" pitchFamily="34" charset="-122"/>
                <a:cs typeface="Calibri" pitchFamily="34" charset="-120"/>
              </a:rPr>
              <a:t>Validated before the database is touched</a:t>
            </a:r>
            <a:endParaRPr lang="en-US" sz="1400" dirty="0"/>
          </a:p>
        </p:txBody>
      </p:sp>
      <p:sp>
        <p:nvSpPr>
          <p:cNvPr id="17" name="text-280"/>
          <p:cNvSpPr txBox="1"/>
          <p:nvPr/>
        </p:nvSpPr>
        <p:spPr>
          <a:xfrm>
            <a:off x="7680960" y="4617720"/>
            <a:ext cx="3959352" cy="123444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2"/>
                </a:solidFill>
                <a:latin typeface="Calibri" pitchFamily="34" charset="0"/>
                <a:ea typeface="Calibri" pitchFamily="34" charset="-122"/>
                <a:cs typeface="Calibri" pitchFamily="34" charset="-120"/>
              </a:rPr>
              <a:t>IDs have a shape: AST-001 passes, ast001 does not</a:t>
            </a:r>
            <a:endParaRPr lang="en-US" sz="1300" dirty="0"/>
          </a:p>
          <a:p>
            <a:pPr marL="342900" indent="-342900">
              <a:spcAft>
                <a:spcPts val="300"/>
              </a:spcAft>
              <a:buSzPct val="100000"/>
              <a:buChar char="•"/>
            </a:pPr>
            <a:r>
              <a:rPr lang="en-US" sz="1300" dirty="0">
                <a:solidFill>
                  <a:schemeClr val="tx2"/>
                </a:solidFill>
                <a:latin typeface="Calibri" pitchFamily="34" charset="0"/>
                <a:ea typeface="Calibri" pitchFamily="34" charset="-122"/>
                <a:cs typeface="Calibri" pitchFamily="34" charset="-120"/>
              </a:rPr>
              <a:t>Status is a closed set of four values</a:t>
            </a:r>
            <a:endParaRPr lang="en-US" sz="1300" dirty="0"/>
          </a:p>
          <a:p>
            <a:pPr marL="342900" indent="-342900">
              <a:spcAft>
                <a:spcPts val="300"/>
              </a:spcAft>
              <a:buSzPct val="100000"/>
              <a:buChar char="•"/>
            </a:pPr>
            <a:r>
              <a:rPr lang="en-US" sz="1300" dirty="0">
                <a:solidFill>
                  <a:schemeClr val="tx2"/>
                </a:solidFill>
                <a:latin typeface="Calibri" pitchFamily="34" charset="0"/>
                <a:ea typeface="Calibri" pitchFamily="34" charset="-122"/>
                <a:cs typeface="Calibri" pitchFamily="34" charset="-120"/>
              </a:rPr>
              <a:t>An issue title needs 3+ characters</a:t>
            </a:r>
            <a:endParaRPr lang="en-US" sz="1300" dirty="0"/>
          </a:p>
          <a:p>
            <a:pPr marL="342900" indent="-342900">
              <a:spcAft>
                <a:spcPts val="300"/>
              </a:spcAft>
              <a:buSzPct val="100000"/>
              <a:buChar char="•"/>
            </a:pPr>
            <a:r>
              <a:rPr lang="en-US" sz="1300" dirty="0">
                <a:solidFill>
                  <a:schemeClr val="tx2"/>
                </a:solidFill>
                <a:latin typeface="Calibri" pitchFamily="34" charset="0"/>
                <a:ea typeface="Calibri" pitchFamily="34" charset="-122"/>
                <a:cs typeface="Calibri" pitchFamily="34" charset="-120"/>
              </a:rPr>
              <a:t>DB connect times out at 10 s → 503</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47472"/>
            <a:ext cx="8229600" cy="274320"/>
          </a:xfrm>
          <a:prstGeom prst="rect">
            <a:avLst/>
          </a:prstGeom>
          <a:noFill/>
          <a:ln/>
        </p:spPr>
        <p:txBody>
          <a:bodyPr wrap="square" lIns="0" tIns="0" rIns="0" bIns="0" rtlCol="0" anchor="ctr"/>
          <a:lstStyle/>
          <a:p>
            <a:pPr marL="0" indent="0">
              <a:buNone/>
            </a:pPr>
            <a:r>
              <a:rPr lang="en-US" sz="1200" b="1" kern="0" spc="200" dirty="0">
                <a:solidFill>
                  <a:schemeClr val="accent1"/>
                </a:solidFill>
              </a:rPr>
              <a:t>DATA MODEL</a:t>
            </a:r>
            <a:endParaRPr lang="en-US" sz="1200" dirty="0"/>
          </a:p>
        </p:txBody>
      </p:sp>
      <p:sp>
        <p:nvSpPr>
          <p:cNvPr id="3" name="Text 0"/>
          <p:cNvSpPr>
            <a:spLocks noGrp="1"/>
          </p:cNvSpPr>
          <p:nvPr>
            <p:ph type="title" idx="101" hasCustomPrompt="1"/>
          </p:nvPr>
        </p:nvSpPr>
        <p:spPr>
          <a:xfrm>
            <a:off x="548640" y="621792"/>
            <a:ext cx="11094415"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Five normalised tables, with integrity enforced by Postgres</a:t>
            </a:r>
            <a:endParaRPr lang="en-US" sz="3000" dirty="0"/>
          </a:p>
        </p:txBody>
      </p:sp>
      <p:sp>
        <p:nvSpPr>
          <p:cNvPr id="4" name="card-281"/>
          <p:cNvSpPr/>
          <p:nvPr/>
        </p:nvSpPr>
        <p:spPr>
          <a:xfrm>
            <a:off x="548640" y="2148840"/>
            <a:ext cx="2057400" cy="1316736"/>
          </a:xfrm>
          <a:prstGeom prst="roundRect">
            <a:avLst>
              <a:gd name="adj" fmla="val 5556"/>
            </a:avLst>
          </a:prstGeom>
          <a:solidFill>
            <a:schemeClr val="bg2"/>
          </a:solidFill>
          <a:ln w="12700">
            <a:solidFill>
              <a:schemeClr val="bg2"/>
            </a:solidFill>
            <a:prstDash val="solid"/>
          </a:ln>
        </p:spPr>
      </p:sp>
      <p:sp>
        <p:nvSpPr>
          <p:cNvPr id="5" name="tbl-head-282"/>
          <p:cNvSpPr/>
          <p:nvPr/>
        </p:nvSpPr>
        <p:spPr>
          <a:xfrm>
            <a:off x="548640" y="2148840"/>
            <a:ext cx="2057400" cy="384048"/>
          </a:xfrm>
          <a:prstGeom prst="roundRect">
            <a:avLst>
              <a:gd name="adj" fmla="val 19048"/>
            </a:avLst>
          </a:prstGeom>
          <a:solidFill>
            <a:schemeClr val="tx1"/>
          </a:solidFill>
          <a:ln w="12700">
            <a:solidFill>
              <a:schemeClr val="tx1"/>
            </a:solidFill>
            <a:prstDash val="solid"/>
          </a:ln>
        </p:spPr>
      </p:sp>
      <p:sp>
        <p:nvSpPr>
          <p:cNvPr id="6" name="text-283"/>
          <p:cNvSpPr txBox="1"/>
          <p:nvPr/>
        </p:nvSpPr>
        <p:spPr>
          <a:xfrm>
            <a:off x="685800" y="2148840"/>
            <a:ext cx="1188720" cy="384048"/>
          </a:xfrm>
          <a:prstGeom prst="rect">
            <a:avLst/>
          </a:prstGeom>
          <a:noFill/>
          <a:ln/>
        </p:spPr>
        <p:txBody>
          <a:bodyPr wrap="square" lIns="0" tIns="0" rIns="0" bIns="0" rtlCol="0" anchor="ctr"/>
          <a:lstStyle/>
          <a:p>
            <a:pPr marL="0" indent="0">
              <a:buNone/>
            </a:pPr>
            <a:r>
              <a:rPr lang="en-US" sz="1250" b="1" dirty="0">
                <a:solidFill>
                  <a:schemeClr val="bg1"/>
                </a:solidFill>
                <a:latin typeface="Courier New" pitchFamily="34" charset="0"/>
                <a:ea typeface="Courier New" pitchFamily="34" charset="-122"/>
                <a:cs typeface="Courier New" pitchFamily="34" charset="-120"/>
              </a:rPr>
              <a:t>locations</a:t>
            </a:r>
            <a:endParaRPr lang="en-US" sz="1250" dirty="0"/>
          </a:p>
        </p:txBody>
      </p:sp>
      <p:sp>
        <p:nvSpPr>
          <p:cNvPr id="7" name="text-284"/>
          <p:cNvSpPr txBox="1"/>
          <p:nvPr/>
        </p:nvSpPr>
        <p:spPr>
          <a:xfrm>
            <a:off x="1874520" y="2148840"/>
            <a:ext cx="594360" cy="384048"/>
          </a:xfrm>
          <a:prstGeom prst="rect">
            <a:avLst/>
          </a:prstGeom>
          <a:noFill/>
          <a:ln/>
        </p:spPr>
        <p:txBody>
          <a:bodyPr wrap="square" lIns="0" tIns="0" rIns="0" bIns="0" rtlCol="0" anchor="ctr"/>
          <a:lstStyle/>
          <a:p>
            <a:pPr marL="0" indent="0" algn="r">
              <a:buNone/>
            </a:pPr>
            <a:r>
              <a:rPr lang="en-US" sz="1050" dirty="0">
                <a:solidFill>
                  <a:schemeClr val="accent5"/>
                </a:solidFill>
                <a:latin typeface="Calibri" pitchFamily="34" charset="0"/>
                <a:ea typeface="Calibri" pitchFamily="34" charset="-122"/>
                <a:cs typeface="Calibri" pitchFamily="34" charset="-120"/>
              </a:rPr>
              <a:t>3 rows</a:t>
            </a:r>
            <a:endParaRPr lang="en-US" sz="1050" dirty="0"/>
          </a:p>
        </p:txBody>
      </p:sp>
      <p:sp>
        <p:nvSpPr>
          <p:cNvPr id="8" name="text-285"/>
          <p:cNvSpPr txBox="1"/>
          <p:nvPr/>
        </p:nvSpPr>
        <p:spPr>
          <a:xfrm>
            <a:off x="685800" y="2606040"/>
            <a:ext cx="1783080" cy="246888"/>
          </a:xfrm>
          <a:prstGeom prst="rect">
            <a:avLst/>
          </a:prstGeom>
          <a:noFill/>
          <a:ln/>
        </p:spPr>
        <p:txBody>
          <a:bodyPr wrap="square" lIns="0" tIns="0" rIns="0" bIns="0" rtlCol="0" anchor="ctr"/>
          <a:lstStyle/>
          <a:p>
            <a:pPr marL="0" indent="0">
              <a:buNone/>
            </a:pPr>
            <a:r>
              <a:rPr lang="en-US" sz="1100" b="1" dirty="0">
                <a:solidFill>
                  <a:schemeClr val="tx1"/>
                </a:solidFill>
                <a:latin typeface="Courier New" pitchFamily="34" charset="0"/>
                <a:ea typeface="Courier New" pitchFamily="34" charset="-122"/>
                <a:cs typeface="Courier New" pitchFamily="34" charset="-120"/>
              </a:rPr>
              <a:t>id  PK</a:t>
            </a:r>
            <a:endParaRPr lang="en-US" sz="1100" dirty="0"/>
          </a:p>
        </p:txBody>
      </p:sp>
      <p:sp>
        <p:nvSpPr>
          <p:cNvPr id="9" name="text-286"/>
          <p:cNvSpPr txBox="1"/>
          <p:nvPr/>
        </p:nvSpPr>
        <p:spPr>
          <a:xfrm>
            <a:off x="685800" y="2871216"/>
            <a:ext cx="1783080" cy="246888"/>
          </a:xfrm>
          <a:prstGeom prst="rect">
            <a:avLst/>
          </a:prstGeom>
          <a:noFill/>
          <a:ln/>
        </p:spPr>
        <p:txBody>
          <a:bodyPr wrap="square" lIns="0" tIns="0" rIns="0" bIns="0" rtlCol="0" anchor="ctr"/>
          <a:lstStyle/>
          <a:p>
            <a:pPr marL="0" indent="0">
              <a:buNone/>
            </a:pPr>
            <a:r>
              <a:rPr lang="en-US" sz="1100" dirty="0">
                <a:solidFill>
                  <a:schemeClr val="tx2"/>
                </a:solidFill>
                <a:latin typeface="Courier New" pitchFamily="34" charset="0"/>
                <a:ea typeface="Courier New" pitchFamily="34" charset="-122"/>
                <a:cs typeface="Courier New" pitchFamily="34" charset="-120"/>
              </a:rPr>
              <a:t>name, floor</a:t>
            </a:r>
            <a:endParaRPr lang="en-US" sz="1100" dirty="0"/>
          </a:p>
        </p:txBody>
      </p:sp>
      <p:sp>
        <p:nvSpPr>
          <p:cNvPr id="10" name="text-287"/>
          <p:cNvSpPr txBox="1"/>
          <p:nvPr/>
        </p:nvSpPr>
        <p:spPr>
          <a:xfrm>
            <a:off x="685800" y="3136392"/>
            <a:ext cx="1783080" cy="246888"/>
          </a:xfrm>
          <a:prstGeom prst="rect">
            <a:avLst/>
          </a:prstGeom>
          <a:noFill/>
          <a:ln/>
        </p:spPr>
        <p:txBody>
          <a:bodyPr wrap="square" lIns="0" tIns="0" rIns="0" bIns="0" rtlCol="0" anchor="ctr"/>
          <a:lstStyle/>
          <a:p>
            <a:pPr marL="0" indent="0">
              <a:buNone/>
            </a:pPr>
            <a:r>
              <a:rPr lang="en-US" sz="1100" dirty="0">
                <a:solidFill>
                  <a:schemeClr val="tx2"/>
                </a:solidFill>
                <a:latin typeface="Courier New" pitchFamily="34" charset="0"/>
                <a:ea typeface="Courier New" pitchFamily="34" charset="-122"/>
                <a:cs typeface="Courier New" pitchFamily="34" charset="-120"/>
              </a:rPr>
              <a:t>building</a:t>
            </a:r>
            <a:endParaRPr lang="en-US" sz="1100" dirty="0"/>
          </a:p>
        </p:txBody>
      </p:sp>
      <p:sp>
        <p:nvSpPr>
          <p:cNvPr id="11" name="card-288"/>
          <p:cNvSpPr/>
          <p:nvPr/>
        </p:nvSpPr>
        <p:spPr>
          <a:xfrm>
            <a:off x="3246120" y="1828800"/>
            <a:ext cx="2423160" cy="1847088"/>
          </a:xfrm>
          <a:prstGeom prst="roundRect">
            <a:avLst>
              <a:gd name="adj" fmla="val 3960"/>
            </a:avLst>
          </a:prstGeom>
          <a:solidFill>
            <a:schemeClr val="bg2"/>
          </a:solidFill>
          <a:ln w="12700">
            <a:solidFill>
              <a:schemeClr val="bg2"/>
            </a:solidFill>
            <a:prstDash val="solid"/>
          </a:ln>
        </p:spPr>
      </p:sp>
      <p:sp>
        <p:nvSpPr>
          <p:cNvPr id="12" name="tbl-head-289"/>
          <p:cNvSpPr/>
          <p:nvPr/>
        </p:nvSpPr>
        <p:spPr>
          <a:xfrm>
            <a:off x="3246120" y="1828800"/>
            <a:ext cx="2423160" cy="384048"/>
          </a:xfrm>
          <a:prstGeom prst="roundRect">
            <a:avLst>
              <a:gd name="adj" fmla="val 19048"/>
            </a:avLst>
          </a:prstGeom>
          <a:solidFill>
            <a:schemeClr val="accent1"/>
          </a:solidFill>
          <a:ln w="12700">
            <a:solidFill>
              <a:schemeClr val="accent1"/>
            </a:solidFill>
            <a:prstDash val="solid"/>
          </a:ln>
        </p:spPr>
      </p:sp>
      <p:sp>
        <p:nvSpPr>
          <p:cNvPr id="13" name="text-290"/>
          <p:cNvSpPr txBox="1"/>
          <p:nvPr/>
        </p:nvSpPr>
        <p:spPr>
          <a:xfrm>
            <a:off x="3383280" y="1828800"/>
            <a:ext cx="1554480" cy="384048"/>
          </a:xfrm>
          <a:prstGeom prst="rect">
            <a:avLst/>
          </a:prstGeom>
          <a:noFill/>
          <a:ln/>
        </p:spPr>
        <p:txBody>
          <a:bodyPr wrap="square" lIns="0" tIns="0" rIns="0" bIns="0" rtlCol="0" anchor="ctr"/>
          <a:lstStyle/>
          <a:p>
            <a:pPr marL="0" indent="0">
              <a:buNone/>
            </a:pPr>
            <a:r>
              <a:rPr lang="en-US" sz="1250" b="1" dirty="0">
                <a:solidFill>
                  <a:schemeClr val="bg1"/>
                </a:solidFill>
                <a:latin typeface="Courier New" pitchFamily="34" charset="0"/>
                <a:ea typeface="Courier New" pitchFamily="34" charset="-122"/>
                <a:cs typeface="Courier New" pitchFamily="34" charset="-120"/>
              </a:rPr>
              <a:t>assets</a:t>
            </a:r>
            <a:endParaRPr lang="en-US" sz="1250" dirty="0"/>
          </a:p>
        </p:txBody>
      </p:sp>
      <p:sp>
        <p:nvSpPr>
          <p:cNvPr id="14" name="text-291"/>
          <p:cNvSpPr txBox="1"/>
          <p:nvPr/>
        </p:nvSpPr>
        <p:spPr>
          <a:xfrm>
            <a:off x="4937760" y="1828800"/>
            <a:ext cx="594360" cy="384048"/>
          </a:xfrm>
          <a:prstGeom prst="rect">
            <a:avLst/>
          </a:prstGeom>
          <a:noFill/>
          <a:ln/>
        </p:spPr>
        <p:txBody>
          <a:bodyPr wrap="square" lIns="0" tIns="0" rIns="0" bIns="0" rtlCol="0" anchor="ctr"/>
          <a:lstStyle/>
          <a:p>
            <a:pPr marL="0" indent="0" algn="r">
              <a:buNone/>
            </a:pPr>
            <a:r>
              <a:rPr lang="en-US" sz="1050" dirty="0">
                <a:solidFill>
                  <a:schemeClr val="bg1"/>
                </a:solidFill>
                <a:latin typeface="Calibri" pitchFamily="34" charset="0"/>
                <a:ea typeface="Calibri" pitchFamily="34" charset="-122"/>
                <a:cs typeface="Calibri" pitchFamily="34" charset="-120"/>
              </a:rPr>
              <a:t>5 rows</a:t>
            </a:r>
            <a:endParaRPr lang="en-US" sz="1050" dirty="0"/>
          </a:p>
        </p:txBody>
      </p:sp>
      <p:sp>
        <p:nvSpPr>
          <p:cNvPr id="15" name="text-292"/>
          <p:cNvSpPr txBox="1"/>
          <p:nvPr/>
        </p:nvSpPr>
        <p:spPr>
          <a:xfrm>
            <a:off x="3383280" y="2286000"/>
            <a:ext cx="2148840" cy="246888"/>
          </a:xfrm>
          <a:prstGeom prst="rect">
            <a:avLst/>
          </a:prstGeom>
          <a:noFill/>
          <a:ln/>
        </p:spPr>
        <p:txBody>
          <a:bodyPr wrap="square" lIns="0" tIns="0" rIns="0" bIns="0" rtlCol="0" anchor="ctr"/>
          <a:lstStyle/>
          <a:p>
            <a:pPr marL="0" indent="0">
              <a:buNone/>
            </a:pPr>
            <a:r>
              <a:rPr lang="en-US" sz="1100" b="1" dirty="0">
                <a:solidFill>
                  <a:schemeClr val="tx1"/>
                </a:solidFill>
                <a:latin typeface="Courier New" pitchFamily="34" charset="0"/>
                <a:ea typeface="Courier New" pitchFamily="34" charset="-122"/>
                <a:cs typeface="Courier New" pitchFamily="34" charset="-120"/>
              </a:rPr>
              <a:t>id  PK  'AST-%'</a:t>
            </a:r>
            <a:endParaRPr lang="en-US" sz="1100" dirty="0"/>
          </a:p>
        </p:txBody>
      </p:sp>
      <p:sp>
        <p:nvSpPr>
          <p:cNvPr id="16" name="text-293"/>
          <p:cNvSpPr txBox="1"/>
          <p:nvPr/>
        </p:nvSpPr>
        <p:spPr>
          <a:xfrm>
            <a:off x="3383280" y="2551176"/>
            <a:ext cx="2148840" cy="246888"/>
          </a:xfrm>
          <a:prstGeom prst="rect">
            <a:avLst/>
          </a:prstGeom>
          <a:noFill/>
          <a:ln/>
        </p:spPr>
        <p:txBody>
          <a:bodyPr wrap="square" lIns="0" tIns="0" rIns="0" bIns="0" rtlCol="0" anchor="ctr"/>
          <a:lstStyle/>
          <a:p>
            <a:pPr marL="0" indent="0">
              <a:buNone/>
            </a:pPr>
            <a:r>
              <a:rPr lang="en-US" sz="1100" dirty="0">
                <a:solidFill>
                  <a:schemeClr val="tx2"/>
                </a:solidFill>
                <a:latin typeface="Courier New" pitchFamily="34" charset="0"/>
                <a:ea typeface="Courier New" pitchFamily="34" charset="-122"/>
                <a:cs typeface="Courier New" pitchFamily="34" charset="-120"/>
              </a:rPr>
              <a:t>location_id  FK</a:t>
            </a:r>
            <a:endParaRPr lang="en-US" sz="1100" dirty="0"/>
          </a:p>
        </p:txBody>
      </p:sp>
      <p:sp>
        <p:nvSpPr>
          <p:cNvPr id="17" name="text-294"/>
          <p:cNvSpPr txBox="1"/>
          <p:nvPr/>
        </p:nvSpPr>
        <p:spPr>
          <a:xfrm>
            <a:off x="3383280" y="2816352"/>
            <a:ext cx="2148840" cy="246888"/>
          </a:xfrm>
          <a:prstGeom prst="rect">
            <a:avLst/>
          </a:prstGeom>
          <a:noFill/>
          <a:ln/>
        </p:spPr>
        <p:txBody>
          <a:bodyPr wrap="square" lIns="0" tIns="0" rIns="0" bIns="0" rtlCol="0" anchor="ctr"/>
          <a:lstStyle/>
          <a:p>
            <a:pPr marL="0" indent="0">
              <a:buNone/>
            </a:pPr>
            <a:r>
              <a:rPr lang="en-US" sz="1100" dirty="0">
                <a:solidFill>
                  <a:schemeClr val="tx2"/>
                </a:solidFill>
                <a:latin typeface="Courier New" pitchFamily="34" charset="0"/>
                <a:ea typeface="Courier New" pitchFamily="34" charset="-122"/>
                <a:cs typeface="Courier New" pitchFamily="34" charset="-120"/>
              </a:rPr>
              <a:t>status  CHECK</a:t>
            </a:r>
            <a:endParaRPr lang="en-US" sz="1100" dirty="0"/>
          </a:p>
        </p:txBody>
      </p:sp>
      <p:sp>
        <p:nvSpPr>
          <p:cNvPr id="18" name="text-295"/>
          <p:cNvSpPr txBox="1"/>
          <p:nvPr/>
        </p:nvSpPr>
        <p:spPr>
          <a:xfrm>
            <a:off x="3383280" y="3081528"/>
            <a:ext cx="2148840" cy="246888"/>
          </a:xfrm>
          <a:prstGeom prst="rect">
            <a:avLst/>
          </a:prstGeom>
          <a:noFill/>
          <a:ln/>
        </p:spPr>
        <p:txBody>
          <a:bodyPr wrap="square" lIns="0" tIns="0" rIns="0" bIns="0" rtlCol="0" anchor="ctr"/>
          <a:lstStyle/>
          <a:p>
            <a:pPr marL="0" indent="0">
              <a:buNone/>
            </a:pPr>
            <a:r>
              <a:rPr lang="en-US" sz="1100" dirty="0">
                <a:solidFill>
                  <a:schemeClr val="tx2"/>
                </a:solidFill>
                <a:latin typeface="Courier New" pitchFamily="34" charset="0"/>
                <a:ea typeface="Courier New" pitchFamily="34" charset="-122"/>
                <a:cs typeface="Courier New" pitchFamily="34" charset="-120"/>
              </a:rPr>
              <a:t>last / next_maint.</a:t>
            </a:r>
            <a:endParaRPr lang="en-US" sz="1100" dirty="0"/>
          </a:p>
        </p:txBody>
      </p:sp>
      <p:sp>
        <p:nvSpPr>
          <p:cNvPr id="19" name="text-296"/>
          <p:cNvSpPr txBox="1"/>
          <p:nvPr/>
        </p:nvSpPr>
        <p:spPr>
          <a:xfrm>
            <a:off x="3383280" y="3346704"/>
            <a:ext cx="2148840" cy="246888"/>
          </a:xfrm>
          <a:prstGeom prst="rect">
            <a:avLst/>
          </a:prstGeom>
          <a:noFill/>
          <a:ln/>
        </p:spPr>
        <p:txBody>
          <a:bodyPr wrap="square" lIns="0" tIns="0" rIns="0" bIns="0" rtlCol="0" anchor="ctr"/>
          <a:lstStyle/>
          <a:p>
            <a:pPr marL="0" indent="0">
              <a:buNone/>
            </a:pPr>
            <a:r>
              <a:rPr lang="en-US" sz="1100" dirty="0">
                <a:solidFill>
                  <a:schemeClr val="tx2"/>
                </a:solidFill>
                <a:latin typeface="Courier New" pitchFamily="34" charset="0"/>
                <a:ea typeface="Courier New" pitchFamily="34" charset="-122"/>
                <a:cs typeface="Courier New" pitchFamily="34" charset="-120"/>
              </a:rPr>
              <a:t>image_url</a:t>
            </a:r>
            <a:endParaRPr lang="en-US" sz="1100" dirty="0"/>
          </a:p>
        </p:txBody>
      </p:sp>
      <p:sp>
        <p:nvSpPr>
          <p:cNvPr id="20" name="card-297"/>
          <p:cNvSpPr/>
          <p:nvPr/>
        </p:nvSpPr>
        <p:spPr>
          <a:xfrm>
            <a:off x="6355080" y="1600200"/>
            <a:ext cx="2788920" cy="1051560"/>
          </a:xfrm>
          <a:prstGeom prst="roundRect">
            <a:avLst>
              <a:gd name="adj" fmla="val 6957"/>
            </a:avLst>
          </a:prstGeom>
          <a:solidFill>
            <a:schemeClr val="bg2"/>
          </a:solidFill>
          <a:ln w="12700">
            <a:solidFill>
              <a:schemeClr val="bg2"/>
            </a:solidFill>
            <a:prstDash val="solid"/>
          </a:ln>
        </p:spPr>
      </p:sp>
      <p:sp>
        <p:nvSpPr>
          <p:cNvPr id="21" name="tbl-head-298"/>
          <p:cNvSpPr/>
          <p:nvPr/>
        </p:nvSpPr>
        <p:spPr>
          <a:xfrm>
            <a:off x="6355080" y="1600200"/>
            <a:ext cx="2788920" cy="384048"/>
          </a:xfrm>
          <a:prstGeom prst="roundRect">
            <a:avLst>
              <a:gd name="adj" fmla="val 19048"/>
            </a:avLst>
          </a:prstGeom>
          <a:solidFill>
            <a:schemeClr val="tx1"/>
          </a:solidFill>
          <a:ln w="12700">
            <a:solidFill>
              <a:schemeClr val="tx1"/>
            </a:solidFill>
            <a:prstDash val="solid"/>
          </a:ln>
        </p:spPr>
      </p:sp>
      <p:sp>
        <p:nvSpPr>
          <p:cNvPr id="22" name="text-299"/>
          <p:cNvSpPr txBox="1"/>
          <p:nvPr/>
        </p:nvSpPr>
        <p:spPr>
          <a:xfrm>
            <a:off x="6492240" y="1600200"/>
            <a:ext cx="1920240" cy="384048"/>
          </a:xfrm>
          <a:prstGeom prst="rect">
            <a:avLst/>
          </a:prstGeom>
          <a:noFill/>
          <a:ln/>
        </p:spPr>
        <p:txBody>
          <a:bodyPr wrap="square" lIns="0" tIns="0" rIns="0" bIns="0" rtlCol="0" anchor="ctr"/>
          <a:lstStyle/>
          <a:p>
            <a:pPr marL="0" indent="0">
              <a:buNone/>
            </a:pPr>
            <a:r>
              <a:rPr lang="en-US" sz="1250" b="1" dirty="0">
                <a:solidFill>
                  <a:schemeClr val="bg1"/>
                </a:solidFill>
                <a:latin typeface="Courier New" pitchFamily="34" charset="0"/>
                <a:ea typeface="Courier New" pitchFamily="34" charset="-122"/>
                <a:cs typeface="Courier New" pitchFamily="34" charset="-120"/>
              </a:rPr>
              <a:t>asset_markers</a:t>
            </a:r>
            <a:endParaRPr lang="en-US" sz="1250" dirty="0"/>
          </a:p>
        </p:txBody>
      </p:sp>
      <p:sp>
        <p:nvSpPr>
          <p:cNvPr id="23" name="text-300"/>
          <p:cNvSpPr txBox="1"/>
          <p:nvPr/>
        </p:nvSpPr>
        <p:spPr>
          <a:xfrm>
            <a:off x="8412480" y="1600200"/>
            <a:ext cx="594360" cy="384048"/>
          </a:xfrm>
          <a:prstGeom prst="rect">
            <a:avLst/>
          </a:prstGeom>
          <a:noFill/>
          <a:ln/>
        </p:spPr>
        <p:txBody>
          <a:bodyPr wrap="square" lIns="0" tIns="0" rIns="0" bIns="0" rtlCol="0" anchor="ctr"/>
          <a:lstStyle/>
          <a:p>
            <a:pPr marL="0" indent="0" algn="r">
              <a:buNone/>
            </a:pPr>
            <a:r>
              <a:rPr lang="en-US" sz="1050" dirty="0">
                <a:solidFill>
                  <a:schemeClr val="accent5"/>
                </a:solidFill>
                <a:latin typeface="Calibri" pitchFamily="34" charset="0"/>
                <a:ea typeface="Calibri" pitchFamily="34" charset="-122"/>
                <a:cs typeface="Calibri" pitchFamily="34" charset="-120"/>
              </a:rPr>
              <a:t>5 rows</a:t>
            </a:r>
            <a:endParaRPr lang="en-US" sz="1050" dirty="0"/>
          </a:p>
        </p:txBody>
      </p:sp>
      <p:sp>
        <p:nvSpPr>
          <p:cNvPr id="24" name="text-301"/>
          <p:cNvSpPr txBox="1"/>
          <p:nvPr/>
        </p:nvSpPr>
        <p:spPr>
          <a:xfrm>
            <a:off x="6492240" y="2057400"/>
            <a:ext cx="2514600" cy="246888"/>
          </a:xfrm>
          <a:prstGeom prst="rect">
            <a:avLst/>
          </a:prstGeom>
          <a:noFill/>
          <a:ln/>
        </p:spPr>
        <p:txBody>
          <a:bodyPr wrap="square" lIns="0" tIns="0" rIns="0" bIns="0" rtlCol="0" anchor="ctr"/>
          <a:lstStyle/>
          <a:p>
            <a:pPr marL="0" indent="0">
              <a:buNone/>
            </a:pPr>
            <a:r>
              <a:rPr lang="en-US" sz="1100" b="1" dirty="0">
                <a:solidFill>
                  <a:schemeClr val="tx1"/>
                </a:solidFill>
                <a:latin typeface="Courier New" pitchFamily="34" charset="0"/>
                <a:ea typeface="Courier New" pitchFamily="34" charset="-122"/>
                <a:cs typeface="Courier New" pitchFamily="34" charset="-120"/>
              </a:rPr>
              <a:t>marker_id  PK  'MARK-%'</a:t>
            </a:r>
            <a:endParaRPr lang="en-US" sz="1100" dirty="0"/>
          </a:p>
        </p:txBody>
      </p:sp>
      <p:sp>
        <p:nvSpPr>
          <p:cNvPr id="25" name="text-302"/>
          <p:cNvSpPr txBox="1"/>
          <p:nvPr/>
        </p:nvSpPr>
        <p:spPr>
          <a:xfrm>
            <a:off x="6492240" y="2322576"/>
            <a:ext cx="2514600" cy="246888"/>
          </a:xfrm>
          <a:prstGeom prst="rect">
            <a:avLst/>
          </a:prstGeom>
          <a:noFill/>
          <a:ln/>
        </p:spPr>
        <p:txBody>
          <a:bodyPr wrap="square" lIns="0" tIns="0" rIns="0" bIns="0" rtlCol="0" anchor="ctr"/>
          <a:lstStyle/>
          <a:p>
            <a:pPr marL="0" indent="0">
              <a:buNone/>
            </a:pPr>
            <a:r>
              <a:rPr lang="en-US" sz="1100" dirty="0">
                <a:solidFill>
                  <a:schemeClr val="tx2"/>
                </a:solidFill>
                <a:latin typeface="Courier New" pitchFamily="34" charset="0"/>
                <a:ea typeface="Courier New" pitchFamily="34" charset="-122"/>
                <a:cs typeface="Courier New" pitchFamily="34" charset="-120"/>
              </a:rPr>
              <a:t>asset_id  FK UNIQUE</a:t>
            </a:r>
            <a:endParaRPr lang="en-US" sz="1100" dirty="0"/>
          </a:p>
        </p:txBody>
      </p:sp>
      <p:sp>
        <p:nvSpPr>
          <p:cNvPr id="26" name="card-303"/>
          <p:cNvSpPr/>
          <p:nvPr/>
        </p:nvSpPr>
        <p:spPr>
          <a:xfrm>
            <a:off x="6355080" y="3017520"/>
            <a:ext cx="2788920" cy="1316736"/>
          </a:xfrm>
          <a:prstGeom prst="roundRect">
            <a:avLst>
              <a:gd name="adj" fmla="val 5556"/>
            </a:avLst>
          </a:prstGeom>
          <a:solidFill>
            <a:schemeClr val="bg2"/>
          </a:solidFill>
          <a:ln w="12700">
            <a:solidFill>
              <a:schemeClr val="bg2"/>
            </a:solidFill>
            <a:prstDash val="solid"/>
          </a:ln>
        </p:spPr>
      </p:sp>
      <p:sp>
        <p:nvSpPr>
          <p:cNvPr id="27" name="tbl-head-304"/>
          <p:cNvSpPr/>
          <p:nvPr/>
        </p:nvSpPr>
        <p:spPr>
          <a:xfrm>
            <a:off x="6355080" y="3017520"/>
            <a:ext cx="2788920" cy="384048"/>
          </a:xfrm>
          <a:prstGeom prst="roundRect">
            <a:avLst>
              <a:gd name="adj" fmla="val 19048"/>
            </a:avLst>
          </a:prstGeom>
          <a:solidFill>
            <a:schemeClr val="tx1"/>
          </a:solidFill>
          <a:ln w="12700">
            <a:solidFill>
              <a:schemeClr val="tx1"/>
            </a:solidFill>
            <a:prstDash val="solid"/>
          </a:ln>
        </p:spPr>
      </p:sp>
      <p:sp>
        <p:nvSpPr>
          <p:cNvPr id="28" name="text-305"/>
          <p:cNvSpPr txBox="1"/>
          <p:nvPr/>
        </p:nvSpPr>
        <p:spPr>
          <a:xfrm>
            <a:off x="6492240" y="3017520"/>
            <a:ext cx="1920240" cy="384048"/>
          </a:xfrm>
          <a:prstGeom prst="rect">
            <a:avLst/>
          </a:prstGeom>
          <a:noFill/>
          <a:ln/>
        </p:spPr>
        <p:txBody>
          <a:bodyPr wrap="square" lIns="0" tIns="0" rIns="0" bIns="0" rtlCol="0" anchor="ctr"/>
          <a:lstStyle/>
          <a:p>
            <a:pPr marL="0" indent="0">
              <a:buNone/>
            </a:pPr>
            <a:r>
              <a:rPr lang="en-US" sz="1250" b="1" dirty="0">
                <a:solidFill>
                  <a:schemeClr val="bg1"/>
                </a:solidFill>
                <a:latin typeface="Courier New" pitchFamily="34" charset="0"/>
                <a:ea typeface="Courier New" pitchFamily="34" charset="-122"/>
                <a:cs typeface="Courier New" pitchFamily="34" charset="-120"/>
              </a:rPr>
              <a:t>maintenance_records</a:t>
            </a:r>
            <a:endParaRPr lang="en-US" sz="1250" dirty="0"/>
          </a:p>
        </p:txBody>
      </p:sp>
      <p:sp>
        <p:nvSpPr>
          <p:cNvPr id="29" name="text-306"/>
          <p:cNvSpPr txBox="1"/>
          <p:nvPr/>
        </p:nvSpPr>
        <p:spPr>
          <a:xfrm>
            <a:off x="8412480" y="3017520"/>
            <a:ext cx="594360" cy="384048"/>
          </a:xfrm>
          <a:prstGeom prst="rect">
            <a:avLst/>
          </a:prstGeom>
          <a:noFill/>
          <a:ln/>
        </p:spPr>
        <p:txBody>
          <a:bodyPr wrap="square" lIns="0" tIns="0" rIns="0" bIns="0" rtlCol="0" anchor="ctr"/>
          <a:lstStyle/>
          <a:p>
            <a:pPr marL="0" indent="0" algn="r">
              <a:buNone/>
            </a:pPr>
            <a:r>
              <a:rPr lang="en-US" sz="1050" dirty="0">
                <a:solidFill>
                  <a:schemeClr val="accent5"/>
                </a:solidFill>
                <a:latin typeface="Calibri" pitchFamily="34" charset="0"/>
                <a:ea typeface="Calibri" pitchFamily="34" charset="-122"/>
                <a:cs typeface="Calibri" pitchFamily="34" charset="-120"/>
              </a:rPr>
              <a:t>6 rows</a:t>
            </a:r>
            <a:endParaRPr lang="en-US" sz="1050" dirty="0"/>
          </a:p>
        </p:txBody>
      </p:sp>
      <p:sp>
        <p:nvSpPr>
          <p:cNvPr id="30" name="text-307"/>
          <p:cNvSpPr txBox="1"/>
          <p:nvPr/>
        </p:nvSpPr>
        <p:spPr>
          <a:xfrm>
            <a:off x="6492240" y="3474720"/>
            <a:ext cx="2514600" cy="246888"/>
          </a:xfrm>
          <a:prstGeom prst="rect">
            <a:avLst/>
          </a:prstGeom>
          <a:noFill/>
          <a:ln/>
        </p:spPr>
        <p:txBody>
          <a:bodyPr wrap="square" lIns="0" tIns="0" rIns="0" bIns="0" rtlCol="0" anchor="ctr"/>
          <a:lstStyle/>
          <a:p>
            <a:pPr marL="0" indent="0">
              <a:buNone/>
            </a:pPr>
            <a:r>
              <a:rPr lang="en-US" sz="1100" b="1" dirty="0">
                <a:solidFill>
                  <a:schemeClr val="tx1"/>
                </a:solidFill>
                <a:latin typeface="Courier New" pitchFamily="34" charset="0"/>
                <a:ea typeface="Courier New" pitchFamily="34" charset="-122"/>
                <a:cs typeface="Courier New" pitchFamily="34" charset="-120"/>
              </a:rPr>
              <a:t>id  PK  'MNT-%'</a:t>
            </a:r>
            <a:endParaRPr lang="en-US" sz="1100" dirty="0"/>
          </a:p>
        </p:txBody>
      </p:sp>
      <p:sp>
        <p:nvSpPr>
          <p:cNvPr id="31" name="text-308"/>
          <p:cNvSpPr txBox="1"/>
          <p:nvPr/>
        </p:nvSpPr>
        <p:spPr>
          <a:xfrm>
            <a:off x="6492240" y="3739896"/>
            <a:ext cx="2514600" cy="246888"/>
          </a:xfrm>
          <a:prstGeom prst="rect">
            <a:avLst/>
          </a:prstGeom>
          <a:noFill/>
          <a:ln/>
        </p:spPr>
        <p:txBody>
          <a:bodyPr wrap="square" lIns="0" tIns="0" rIns="0" bIns="0" rtlCol="0" anchor="ctr"/>
          <a:lstStyle/>
          <a:p>
            <a:pPr marL="0" indent="0">
              <a:buNone/>
            </a:pPr>
            <a:r>
              <a:rPr lang="en-US" sz="1100" dirty="0">
                <a:solidFill>
                  <a:schemeClr val="tx2"/>
                </a:solidFill>
                <a:latin typeface="Courier New" pitchFamily="34" charset="0"/>
                <a:ea typeface="Courier New" pitchFamily="34" charset="-122"/>
                <a:cs typeface="Courier New" pitchFamily="34" charset="-120"/>
              </a:rPr>
              <a:t>asset_id  FK</a:t>
            </a:r>
            <a:endParaRPr lang="en-US" sz="1100" dirty="0"/>
          </a:p>
        </p:txBody>
      </p:sp>
      <p:sp>
        <p:nvSpPr>
          <p:cNvPr id="32" name="text-309"/>
          <p:cNvSpPr txBox="1"/>
          <p:nvPr/>
        </p:nvSpPr>
        <p:spPr>
          <a:xfrm>
            <a:off x="6492240" y="4005072"/>
            <a:ext cx="2514600" cy="246888"/>
          </a:xfrm>
          <a:prstGeom prst="rect">
            <a:avLst/>
          </a:prstGeom>
          <a:noFill/>
          <a:ln/>
        </p:spPr>
        <p:txBody>
          <a:bodyPr wrap="square" lIns="0" tIns="0" rIns="0" bIns="0" rtlCol="0" anchor="ctr"/>
          <a:lstStyle/>
          <a:p>
            <a:pPr marL="0" indent="0">
              <a:buNone/>
            </a:pPr>
            <a:r>
              <a:rPr lang="en-US" sz="1100" dirty="0">
                <a:solidFill>
                  <a:schemeClr val="tx2"/>
                </a:solidFill>
                <a:latin typeface="Courier New" pitchFamily="34" charset="0"/>
                <a:ea typeface="Courier New" pitchFamily="34" charset="-122"/>
                <a:cs typeface="Courier New" pitchFamily="34" charset="-120"/>
              </a:rPr>
              <a:t>date, type, technician</a:t>
            </a:r>
            <a:endParaRPr lang="en-US" sz="1100" dirty="0"/>
          </a:p>
        </p:txBody>
      </p:sp>
      <p:sp>
        <p:nvSpPr>
          <p:cNvPr id="33" name="card-310"/>
          <p:cNvSpPr/>
          <p:nvPr/>
        </p:nvSpPr>
        <p:spPr>
          <a:xfrm>
            <a:off x="6355080" y="4526280"/>
            <a:ext cx="2788920" cy="1316736"/>
          </a:xfrm>
          <a:prstGeom prst="roundRect">
            <a:avLst>
              <a:gd name="adj" fmla="val 5556"/>
            </a:avLst>
          </a:prstGeom>
          <a:solidFill>
            <a:schemeClr val="bg2"/>
          </a:solidFill>
          <a:ln w="12700">
            <a:solidFill>
              <a:schemeClr val="bg2"/>
            </a:solidFill>
            <a:prstDash val="solid"/>
          </a:ln>
        </p:spPr>
      </p:sp>
      <p:sp>
        <p:nvSpPr>
          <p:cNvPr id="34" name="tbl-head-311"/>
          <p:cNvSpPr/>
          <p:nvPr/>
        </p:nvSpPr>
        <p:spPr>
          <a:xfrm>
            <a:off x="6355080" y="4526280"/>
            <a:ext cx="2788920" cy="384048"/>
          </a:xfrm>
          <a:prstGeom prst="roundRect">
            <a:avLst>
              <a:gd name="adj" fmla="val 19048"/>
            </a:avLst>
          </a:prstGeom>
          <a:solidFill>
            <a:schemeClr val="tx1"/>
          </a:solidFill>
          <a:ln w="12700">
            <a:solidFill>
              <a:schemeClr val="tx1"/>
            </a:solidFill>
            <a:prstDash val="solid"/>
          </a:ln>
        </p:spPr>
      </p:sp>
      <p:sp>
        <p:nvSpPr>
          <p:cNvPr id="35" name="text-312"/>
          <p:cNvSpPr txBox="1"/>
          <p:nvPr/>
        </p:nvSpPr>
        <p:spPr>
          <a:xfrm>
            <a:off x="6492240" y="4526280"/>
            <a:ext cx="1920240" cy="384048"/>
          </a:xfrm>
          <a:prstGeom prst="rect">
            <a:avLst/>
          </a:prstGeom>
          <a:noFill/>
          <a:ln/>
        </p:spPr>
        <p:txBody>
          <a:bodyPr wrap="square" lIns="0" tIns="0" rIns="0" bIns="0" rtlCol="0" anchor="ctr"/>
          <a:lstStyle/>
          <a:p>
            <a:pPr marL="0" indent="0">
              <a:buNone/>
            </a:pPr>
            <a:r>
              <a:rPr lang="en-US" sz="1250" b="1" dirty="0">
                <a:solidFill>
                  <a:schemeClr val="bg1"/>
                </a:solidFill>
                <a:latin typeface="Courier New" pitchFamily="34" charset="0"/>
                <a:ea typeface="Courier New" pitchFamily="34" charset="-122"/>
                <a:cs typeface="Courier New" pitchFamily="34" charset="-120"/>
              </a:rPr>
              <a:t>issues</a:t>
            </a:r>
            <a:endParaRPr lang="en-US" sz="1250" dirty="0"/>
          </a:p>
        </p:txBody>
      </p:sp>
      <p:sp>
        <p:nvSpPr>
          <p:cNvPr id="36" name="text-313"/>
          <p:cNvSpPr txBox="1"/>
          <p:nvPr/>
        </p:nvSpPr>
        <p:spPr>
          <a:xfrm>
            <a:off x="8412480" y="4526280"/>
            <a:ext cx="594360" cy="384048"/>
          </a:xfrm>
          <a:prstGeom prst="rect">
            <a:avLst/>
          </a:prstGeom>
          <a:noFill/>
          <a:ln/>
        </p:spPr>
        <p:txBody>
          <a:bodyPr wrap="square" lIns="0" tIns="0" rIns="0" bIns="0" rtlCol="0" anchor="ctr"/>
          <a:lstStyle/>
          <a:p>
            <a:pPr marL="0" indent="0" algn="r">
              <a:buNone/>
            </a:pPr>
            <a:r>
              <a:rPr lang="en-US" sz="1050" dirty="0">
                <a:solidFill>
                  <a:schemeClr val="accent5"/>
                </a:solidFill>
                <a:latin typeface="Calibri" pitchFamily="34" charset="0"/>
                <a:ea typeface="Calibri" pitchFamily="34" charset="-122"/>
                <a:cs typeface="Calibri" pitchFamily="34" charset="-120"/>
              </a:rPr>
              <a:t>3 rows</a:t>
            </a:r>
            <a:endParaRPr lang="en-US" sz="1050" dirty="0"/>
          </a:p>
        </p:txBody>
      </p:sp>
      <p:sp>
        <p:nvSpPr>
          <p:cNvPr id="37" name="text-314"/>
          <p:cNvSpPr txBox="1"/>
          <p:nvPr/>
        </p:nvSpPr>
        <p:spPr>
          <a:xfrm>
            <a:off x="6492240" y="4983480"/>
            <a:ext cx="2514600" cy="246888"/>
          </a:xfrm>
          <a:prstGeom prst="rect">
            <a:avLst/>
          </a:prstGeom>
          <a:noFill/>
          <a:ln/>
        </p:spPr>
        <p:txBody>
          <a:bodyPr wrap="square" lIns="0" tIns="0" rIns="0" bIns="0" rtlCol="0" anchor="ctr"/>
          <a:lstStyle/>
          <a:p>
            <a:pPr marL="0" indent="0">
              <a:buNone/>
            </a:pPr>
            <a:r>
              <a:rPr lang="en-US" sz="1100" b="1" dirty="0">
                <a:solidFill>
                  <a:schemeClr val="tx1"/>
                </a:solidFill>
                <a:latin typeface="Courier New" pitchFamily="34" charset="0"/>
                <a:ea typeface="Courier New" pitchFamily="34" charset="-122"/>
                <a:cs typeface="Courier New" pitchFamily="34" charset="-120"/>
              </a:rPr>
              <a:t>id  PK  'ISS-%'</a:t>
            </a:r>
            <a:endParaRPr lang="en-US" sz="1100" dirty="0"/>
          </a:p>
        </p:txBody>
      </p:sp>
      <p:sp>
        <p:nvSpPr>
          <p:cNvPr id="38" name="text-315"/>
          <p:cNvSpPr txBox="1"/>
          <p:nvPr/>
        </p:nvSpPr>
        <p:spPr>
          <a:xfrm>
            <a:off x="6492240" y="5248656"/>
            <a:ext cx="2514600" cy="246888"/>
          </a:xfrm>
          <a:prstGeom prst="rect">
            <a:avLst/>
          </a:prstGeom>
          <a:noFill/>
          <a:ln/>
        </p:spPr>
        <p:txBody>
          <a:bodyPr wrap="square" lIns="0" tIns="0" rIns="0" bIns="0" rtlCol="0" anchor="ctr"/>
          <a:lstStyle/>
          <a:p>
            <a:pPr marL="0" indent="0">
              <a:buNone/>
            </a:pPr>
            <a:r>
              <a:rPr lang="en-US" sz="1100" dirty="0">
                <a:solidFill>
                  <a:schemeClr val="tx2"/>
                </a:solidFill>
                <a:latin typeface="Courier New" pitchFamily="34" charset="0"/>
                <a:ea typeface="Courier New" pitchFamily="34" charset="-122"/>
                <a:cs typeface="Courier New" pitchFamily="34" charset="-120"/>
              </a:rPr>
              <a:t>asset_id  FK</a:t>
            </a:r>
            <a:endParaRPr lang="en-US" sz="1100" dirty="0"/>
          </a:p>
        </p:txBody>
      </p:sp>
      <p:sp>
        <p:nvSpPr>
          <p:cNvPr id="39" name="text-316"/>
          <p:cNvSpPr txBox="1"/>
          <p:nvPr/>
        </p:nvSpPr>
        <p:spPr>
          <a:xfrm>
            <a:off x="6492240" y="5513832"/>
            <a:ext cx="2514600" cy="246888"/>
          </a:xfrm>
          <a:prstGeom prst="rect">
            <a:avLst/>
          </a:prstGeom>
          <a:noFill/>
          <a:ln/>
        </p:spPr>
        <p:txBody>
          <a:bodyPr wrap="square" lIns="0" tIns="0" rIns="0" bIns="0" rtlCol="0" anchor="ctr"/>
          <a:lstStyle/>
          <a:p>
            <a:pPr marL="0" indent="0">
              <a:buNone/>
            </a:pPr>
            <a:r>
              <a:rPr lang="en-US" sz="1100" dirty="0">
                <a:solidFill>
                  <a:schemeClr val="tx2"/>
                </a:solidFill>
                <a:latin typeface="Courier New" pitchFamily="34" charset="0"/>
                <a:ea typeface="Courier New" pitchFamily="34" charset="-122"/>
                <a:cs typeface="Courier New" pitchFamily="34" charset="-120"/>
              </a:rPr>
              <a:t>title  ≥ 3 chars, status</a:t>
            </a:r>
            <a:endParaRPr lang="en-US" sz="1100" dirty="0"/>
          </a:p>
        </p:txBody>
      </p:sp>
      <p:sp>
        <p:nvSpPr>
          <p:cNvPr id="40" name="line-317"/>
          <p:cNvSpPr/>
          <p:nvPr/>
        </p:nvSpPr>
        <p:spPr>
          <a:xfrm>
            <a:off x="2606040" y="2606040"/>
            <a:ext cx="640080" cy="0"/>
          </a:xfrm>
          <a:prstGeom prst="line">
            <a:avLst/>
          </a:prstGeom>
          <a:noFill/>
          <a:ln w="19050">
            <a:solidFill>
              <a:schemeClr val="tx2"/>
            </a:solidFill>
            <a:prstDash val="solid"/>
            <a:tailEnd type="triangle"/>
          </a:ln>
        </p:spPr>
      </p:sp>
      <p:sp>
        <p:nvSpPr>
          <p:cNvPr id="41" name="text-318"/>
          <p:cNvSpPr txBox="1"/>
          <p:nvPr/>
        </p:nvSpPr>
        <p:spPr>
          <a:xfrm>
            <a:off x="2606040" y="2304288"/>
            <a:ext cx="640080" cy="228600"/>
          </a:xfrm>
          <a:prstGeom prst="rect">
            <a:avLst/>
          </a:prstGeom>
          <a:noFill/>
          <a:ln/>
        </p:spPr>
        <p:txBody>
          <a:bodyPr wrap="square" lIns="0" tIns="0" rIns="0" bIns="0" rtlCol="0" anchor="ctr"/>
          <a:lstStyle/>
          <a:p>
            <a:pPr marL="0" indent="0" algn="ctr">
              <a:buNone/>
            </a:pPr>
            <a:r>
              <a:rPr lang="en-US" sz="1100" b="1" dirty="0">
                <a:solidFill>
                  <a:schemeClr val="tx2"/>
                </a:solidFill>
                <a:latin typeface="Calibri" pitchFamily="34" charset="0"/>
                <a:ea typeface="Calibri" pitchFamily="34" charset="-122"/>
                <a:cs typeface="Calibri" pitchFamily="34" charset="-120"/>
              </a:rPr>
              <a:t>1 : N</a:t>
            </a:r>
            <a:endParaRPr lang="en-US" sz="1100" dirty="0"/>
          </a:p>
        </p:txBody>
      </p:sp>
      <p:sp>
        <p:nvSpPr>
          <p:cNvPr id="42" name="line-319"/>
          <p:cNvSpPr/>
          <p:nvPr/>
        </p:nvSpPr>
        <p:spPr>
          <a:xfrm flipV="1">
            <a:off x="5669280" y="1920240"/>
            <a:ext cx="685800" cy="182880"/>
          </a:xfrm>
          <a:prstGeom prst="line">
            <a:avLst/>
          </a:prstGeom>
          <a:noFill/>
          <a:ln w="19050">
            <a:solidFill>
              <a:schemeClr val="tx2"/>
            </a:solidFill>
            <a:prstDash val="solid"/>
            <a:tailEnd type="triangle"/>
          </a:ln>
        </p:spPr>
      </p:sp>
      <p:sp>
        <p:nvSpPr>
          <p:cNvPr id="43" name="text-320"/>
          <p:cNvSpPr txBox="1"/>
          <p:nvPr/>
        </p:nvSpPr>
        <p:spPr>
          <a:xfrm>
            <a:off x="5715000" y="1691640"/>
            <a:ext cx="640080" cy="228600"/>
          </a:xfrm>
          <a:prstGeom prst="rect">
            <a:avLst/>
          </a:prstGeom>
          <a:noFill/>
          <a:ln/>
        </p:spPr>
        <p:txBody>
          <a:bodyPr wrap="square" lIns="0" tIns="0" rIns="0" bIns="0" rtlCol="0" anchor="ctr"/>
          <a:lstStyle/>
          <a:p>
            <a:pPr marL="0" indent="0" algn="ctr">
              <a:buNone/>
            </a:pPr>
            <a:r>
              <a:rPr lang="en-US" sz="1100" b="1" dirty="0">
                <a:solidFill>
                  <a:schemeClr val="accent1"/>
                </a:solidFill>
                <a:latin typeface="Calibri" pitchFamily="34" charset="0"/>
                <a:ea typeface="Calibri" pitchFamily="34" charset="-122"/>
                <a:cs typeface="Calibri" pitchFamily="34" charset="-120"/>
              </a:rPr>
              <a:t>1 : 1</a:t>
            </a:r>
            <a:endParaRPr lang="en-US" sz="1100" dirty="0"/>
          </a:p>
        </p:txBody>
      </p:sp>
      <p:sp>
        <p:nvSpPr>
          <p:cNvPr id="44" name="line-321"/>
          <p:cNvSpPr/>
          <p:nvPr/>
        </p:nvSpPr>
        <p:spPr>
          <a:xfrm>
            <a:off x="5669280" y="3017520"/>
            <a:ext cx="685800" cy="411480"/>
          </a:xfrm>
          <a:prstGeom prst="line">
            <a:avLst/>
          </a:prstGeom>
          <a:noFill/>
          <a:ln w="19050">
            <a:solidFill>
              <a:schemeClr val="tx2"/>
            </a:solidFill>
            <a:prstDash val="solid"/>
            <a:tailEnd type="triangle"/>
          </a:ln>
        </p:spPr>
      </p:sp>
      <p:sp>
        <p:nvSpPr>
          <p:cNvPr id="45" name="text-322"/>
          <p:cNvSpPr txBox="1"/>
          <p:nvPr/>
        </p:nvSpPr>
        <p:spPr>
          <a:xfrm>
            <a:off x="5532120" y="3246120"/>
            <a:ext cx="640080" cy="228600"/>
          </a:xfrm>
          <a:prstGeom prst="rect">
            <a:avLst/>
          </a:prstGeom>
          <a:noFill/>
          <a:ln/>
        </p:spPr>
        <p:txBody>
          <a:bodyPr wrap="square" lIns="0" tIns="0" rIns="0" bIns="0" rtlCol="0" anchor="ctr"/>
          <a:lstStyle/>
          <a:p>
            <a:pPr marL="0" indent="0" algn="ctr">
              <a:buNone/>
            </a:pPr>
            <a:r>
              <a:rPr lang="en-US" sz="1100" b="1" dirty="0">
                <a:solidFill>
                  <a:schemeClr val="tx2"/>
                </a:solidFill>
                <a:latin typeface="Calibri" pitchFamily="34" charset="0"/>
                <a:ea typeface="Calibri" pitchFamily="34" charset="-122"/>
                <a:cs typeface="Calibri" pitchFamily="34" charset="-120"/>
              </a:rPr>
              <a:t>1 : N</a:t>
            </a:r>
            <a:endParaRPr lang="en-US" sz="1100" dirty="0"/>
          </a:p>
        </p:txBody>
      </p:sp>
      <p:sp>
        <p:nvSpPr>
          <p:cNvPr id="46" name="line-323"/>
          <p:cNvSpPr/>
          <p:nvPr/>
        </p:nvSpPr>
        <p:spPr>
          <a:xfrm>
            <a:off x="5669280" y="3566160"/>
            <a:ext cx="685800" cy="1371600"/>
          </a:xfrm>
          <a:prstGeom prst="line">
            <a:avLst/>
          </a:prstGeom>
          <a:noFill/>
          <a:ln w="19050">
            <a:solidFill>
              <a:schemeClr val="tx2"/>
            </a:solidFill>
            <a:prstDash val="solid"/>
            <a:tailEnd type="triangle"/>
          </a:ln>
        </p:spPr>
      </p:sp>
      <p:sp>
        <p:nvSpPr>
          <p:cNvPr id="47" name="text-324"/>
          <p:cNvSpPr txBox="1"/>
          <p:nvPr/>
        </p:nvSpPr>
        <p:spPr>
          <a:xfrm>
            <a:off x="5440680" y="4297680"/>
            <a:ext cx="640080" cy="228600"/>
          </a:xfrm>
          <a:prstGeom prst="rect">
            <a:avLst/>
          </a:prstGeom>
          <a:noFill/>
          <a:ln/>
        </p:spPr>
        <p:txBody>
          <a:bodyPr wrap="square" lIns="0" tIns="0" rIns="0" bIns="0" rtlCol="0" anchor="ctr"/>
          <a:lstStyle/>
          <a:p>
            <a:pPr marL="0" indent="0" algn="ctr">
              <a:buNone/>
            </a:pPr>
            <a:r>
              <a:rPr lang="en-US" sz="1100" b="1" dirty="0">
                <a:solidFill>
                  <a:schemeClr val="tx2"/>
                </a:solidFill>
                <a:latin typeface="Calibri" pitchFamily="34" charset="0"/>
                <a:ea typeface="Calibri" pitchFamily="34" charset="-122"/>
                <a:cs typeface="Calibri" pitchFamily="34" charset="-120"/>
              </a:rPr>
              <a:t>1 : N</a:t>
            </a:r>
            <a:endParaRPr lang="en-US" sz="1100" dirty="0"/>
          </a:p>
        </p:txBody>
      </p:sp>
      <p:sp>
        <p:nvSpPr>
          <p:cNvPr id="48" name="text-325"/>
          <p:cNvSpPr txBox="1"/>
          <p:nvPr/>
        </p:nvSpPr>
        <p:spPr>
          <a:xfrm>
            <a:off x="548640" y="3886200"/>
            <a:ext cx="2377440" cy="274320"/>
          </a:xfrm>
          <a:prstGeom prst="rect">
            <a:avLst/>
          </a:prstGeom>
          <a:noFill/>
          <a:ln/>
        </p:spPr>
        <p:txBody>
          <a:bodyPr wrap="square" lIns="0" tIns="0" rIns="0" bIns="0" rtlCol="0" anchor="ctr"/>
          <a:lstStyle/>
          <a:p>
            <a:pPr marL="0" indent="0">
              <a:buNone/>
            </a:pPr>
            <a:r>
              <a:rPr lang="en-US" sz="1100" i="1" dirty="0">
                <a:solidFill>
                  <a:schemeClr val="tx2"/>
                </a:solidFill>
                <a:latin typeface="Calibri" pitchFamily="34" charset="0"/>
                <a:ea typeface="Calibri" pitchFamily="34" charset="-122"/>
                <a:cs typeface="Calibri" pitchFamily="34" charset="-120"/>
              </a:rPr>
              <a:t>+ admins table reserved for auth</a:t>
            </a:r>
            <a:endParaRPr lang="en-US" sz="1100" dirty="0"/>
          </a:p>
        </p:txBody>
      </p:sp>
      <p:sp>
        <p:nvSpPr>
          <p:cNvPr id="49" name="card-326"/>
          <p:cNvSpPr/>
          <p:nvPr/>
        </p:nvSpPr>
        <p:spPr>
          <a:xfrm>
            <a:off x="9326880" y="1600200"/>
            <a:ext cx="2313432" cy="4206240"/>
          </a:xfrm>
          <a:prstGeom prst="roundRect">
            <a:avLst>
              <a:gd name="adj" fmla="val 3162"/>
            </a:avLst>
          </a:prstGeom>
          <a:solidFill>
            <a:schemeClr val="tx1"/>
          </a:solidFill>
          <a:ln w="12700">
            <a:solidFill>
              <a:schemeClr val="tx1"/>
            </a:solidFill>
            <a:prstDash val="solid"/>
          </a:ln>
        </p:spPr>
      </p:sp>
      <p:sp>
        <p:nvSpPr>
          <p:cNvPr id="50" name="text-327"/>
          <p:cNvSpPr txBox="1"/>
          <p:nvPr/>
        </p:nvSpPr>
        <p:spPr>
          <a:xfrm>
            <a:off x="9509760" y="1755648"/>
            <a:ext cx="2011680" cy="274320"/>
          </a:xfrm>
          <a:prstGeom prst="rect">
            <a:avLst/>
          </a:prstGeom>
          <a:noFill/>
          <a:ln/>
        </p:spPr>
        <p:txBody>
          <a:bodyPr wrap="square" lIns="0" tIns="0" rIns="0" bIns="0" rtlCol="0" anchor="ctr"/>
          <a:lstStyle/>
          <a:p>
            <a:pPr marL="0" indent="0">
              <a:buNone/>
            </a:pPr>
            <a:r>
              <a:rPr lang="en-US" sz="1100" b="1" kern="0" spc="100" dirty="0">
                <a:solidFill>
                  <a:schemeClr val="accent2"/>
                </a:solidFill>
                <a:latin typeface="Calibri" pitchFamily="34" charset="0"/>
                <a:ea typeface="Calibri" pitchFamily="34" charset="-122"/>
                <a:cs typeface="Calibri" pitchFamily="34" charset="-120"/>
              </a:rPr>
              <a:t>THE DATABASE SAYS NO</a:t>
            </a:r>
            <a:endParaRPr lang="en-US" sz="1100" dirty="0"/>
          </a:p>
        </p:txBody>
      </p:sp>
      <p:sp>
        <p:nvSpPr>
          <p:cNvPr id="51" name="text-328"/>
          <p:cNvSpPr txBox="1"/>
          <p:nvPr/>
        </p:nvSpPr>
        <p:spPr>
          <a:xfrm>
            <a:off x="9509760" y="2121408"/>
            <a:ext cx="2011680" cy="256032"/>
          </a:xfrm>
          <a:prstGeom prst="rect">
            <a:avLst/>
          </a:prstGeom>
          <a:noFill/>
          <a:ln/>
        </p:spPr>
        <p:txBody>
          <a:bodyPr wrap="square" lIns="0" tIns="0" rIns="0" bIns="0" rtlCol="0" anchor="ctr"/>
          <a:lstStyle/>
          <a:p>
            <a:pPr marL="0" indent="0">
              <a:buNone/>
            </a:pPr>
            <a:r>
              <a:rPr lang="en-US" sz="1300" b="1" dirty="0">
                <a:solidFill>
                  <a:schemeClr val="bg1"/>
                </a:solidFill>
                <a:latin typeface="Calibri" pitchFamily="34" charset="0"/>
                <a:ea typeface="Calibri" pitchFamily="34" charset="-122"/>
                <a:cs typeface="Calibri" pitchFamily="34" charset="-120"/>
              </a:rPr>
              <a:t>One marker per asset</a:t>
            </a:r>
            <a:endParaRPr lang="en-US" sz="1300" dirty="0"/>
          </a:p>
        </p:txBody>
      </p:sp>
      <p:sp>
        <p:nvSpPr>
          <p:cNvPr id="52" name="text-329"/>
          <p:cNvSpPr txBox="1"/>
          <p:nvPr/>
        </p:nvSpPr>
        <p:spPr>
          <a:xfrm>
            <a:off x="9509760" y="2386584"/>
            <a:ext cx="2011680" cy="411480"/>
          </a:xfrm>
          <a:prstGeom prst="rect">
            <a:avLst/>
          </a:prstGeom>
          <a:noFill/>
          <a:ln/>
        </p:spPr>
        <p:txBody>
          <a:bodyPr wrap="square" lIns="0" tIns="0" rIns="0" bIns="0" rtlCol="0" anchor="t"/>
          <a:lstStyle/>
          <a:p>
            <a:pPr marL="0" indent="0">
              <a:buNone/>
            </a:pPr>
            <a:r>
              <a:rPr lang="en-US" sz="1150" dirty="0">
                <a:solidFill>
                  <a:schemeClr val="accent5"/>
                </a:solidFill>
                <a:latin typeface="Calibri" pitchFamily="34" charset="0"/>
                <a:ea typeface="Calibri" pitchFamily="34" charset="-122"/>
                <a:cs typeface="Calibri" pitchFamily="34" charset="-120"/>
              </a:rPr>
              <a:t>UNIQUE on asset_id</a:t>
            </a:r>
            <a:endParaRPr lang="en-US" sz="1150" dirty="0"/>
          </a:p>
        </p:txBody>
      </p:sp>
      <p:sp>
        <p:nvSpPr>
          <p:cNvPr id="53" name="text-330"/>
          <p:cNvSpPr txBox="1"/>
          <p:nvPr/>
        </p:nvSpPr>
        <p:spPr>
          <a:xfrm>
            <a:off x="9509760" y="2852928"/>
            <a:ext cx="2011680" cy="256032"/>
          </a:xfrm>
          <a:prstGeom prst="rect">
            <a:avLst/>
          </a:prstGeom>
          <a:noFill/>
          <a:ln/>
        </p:spPr>
        <p:txBody>
          <a:bodyPr wrap="square" lIns="0" tIns="0" rIns="0" bIns="0" rtlCol="0" anchor="ctr"/>
          <a:lstStyle/>
          <a:p>
            <a:pPr marL="0" indent="0">
              <a:buNone/>
            </a:pPr>
            <a:r>
              <a:rPr lang="en-US" sz="1300" b="1" dirty="0">
                <a:solidFill>
                  <a:schemeClr val="bg1"/>
                </a:solidFill>
                <a:latin typeface="Calibri" pitchFamily="34" charset="0"/>
                <a:ea typeface="Calibri" pitchFamily="34" charset="-122"/>
                <a:cs typeface="Calibri" pitchFamily="34" charset="-120"/>
              </a:rPr>
              <a:t>No orphans</a:t>
            </a:r>
            <a:endParaRPr lang="en-US" sz="1300" dirty="0"/>
          </a:p>
        </p:txBody>
      </p:sp>
      <p:sp>
        <p:nvSpPr>
          <p:cNvPr id="54" name="text-331"/>
          <p:cNvSpPr txBox="1"/>
          <p:nvPr/>
        </p:nvSpPr>
        <p:spPr>
          <a:xfrm>
            <a:off x="9509760" y="3118104"/>
            <a:ext cx="2011680" cy="411480"/>
          </a:xfrm>
          <a:prstGeom prst="rect">
            <a:avLst/>
          </a:prstGeom>
          <a:noFill/>
          <a:ln/>
        </p:spPr>
        <p:txBody>
          <a:bodyPr wrap="square" lIns="0" tIns="0" rIns="0" bIns="0" rtlCol="0" anchor="t"/>
          <a:lstStyle/>
          <a:p>
            <a:pPr marL="0" indent="0">
              <a:buNone/>
            </a:pPr>
            <a:r>
              <a:rPr lang="en-US" sz="1150" dirty="0">
                <a:solidFill>
                  <a:schemeClr val="accent5"/>
                </a:solidFill>
                <a:latin typeface="Calibri" pitchFamily="34" charset="0"/>
                <a:ea typeface="Calibri" pitchFamily="34" charset="-122"/>
                <a:cs typeface="Calibri" pitchFamily="34" charset="-120"/>
              </a:rPr>
              <a:t>Foreign keys on every link</a:t>
            </a:r>
            <a:endParaRPr lang="en-US" sz="1150" dirty="0"/>
          </a:p>
        </p:txBody>
      </p:sp>
      <p:sp>
        <p:nvSpPr>
          <p:cNvPr id="55" name="text-332"/>
          <p:cNvSpPr txBox="1"/>
          <p:nvPr/>
        </p:nvSpPr>
        <p:spPr>
          <a:xfrm>
            <a:off x="9509760" y="3584448"/>
            <a:ext cx="2011680" cy="256032"/>
          </a:xfrm>
          <a:prstGeom prst="rect">
            <a:avLst/>
          </a:prstGeom>
          <a:noFill/>
          <a:ln/>
        </p:spPr>
        <p:txBody>
          <a:bodyPr wrap="square" lIns="0" tIns="0" rIns="0" bIns="0" rtlCol="0" anchor="ctr"/>
          <a:lstStyle/>
          <a:p>
            <a:pPr marL="0" indent="0">
              <a:buNone/>
            </a:pPr>
            <a:r>
              <a:rPr lang="en-US" sz="1300" b="1" dirty="0">
                <a:solidFill>
                  <a:schemeClr val="bg1"/>
                </a:solidFill>
                <a:latin typeface="Calibri" pitchFamily="34" charset="0"/>
                <a:ea typeface="Calibri" pitchFamily="34" charset="-122"/>
                <a:cs typeface="Calibri" pitchFamily="34" charset="-120"/>
              </a:rPr>
              <a:t>History follows</a:t>
            </a:r>
            <a:endParaRPr lang="en-US" sz="1300" dirty="0"/>
          </a:p>
        </p:txBody>
      </p:sp>
      <p:sp>
        <p:nvSpPr>
          <p:cNvPr id="56" name="text-333"/>
          <p:cNvSpPr txBox="1"/>
          <p:nvPr/>
        </p:nvSpPr>
        <p:spPr>
          <a:xfrm>
            <a:off x="9509760" y="3849624"/>
            <a:ext cx="2011680" cy="411480"/>
          </a:xfrm>
          <a:prstGeom prst="rect">
            <a:avLst/>
          </a:prstGeom>
          <a:noFill/>
          <a:ln/>
        </p:spPr>
        <p:txBody>
          <a:bodyPr wrap="square" lIns="0" tIns="0" rIns="0" bIns="0" rtlCol="0" anchor="t"/>
          <a:lstStyle/>
          <a:p>
            <a:pPr marL="0" indent="0">
              <a:buNone/>
            </a:pPr>
            <a:r>
              <a:rPr lang="en-US" sz="1150" dirty="0">
                <a:solidFill>
                  <a:schemeClr val="accent5"/>
                </a:solidFill>
                <a:latin typeface="Calibri" pitchFamily="34" charset="0"/>
                <a:ea typeface="Calibri" pitchFamily="34" charset="-122"/>
                <a:cs typeface="Calibri" pitchFamily="34" charset="-120"/>
              </a:rPr>
              <a:t>ON DELETE CASCADE</a:t>
            </a:r>
            <a:endParaRPr lang="en-US" sz="1150" dirty="0"/>
          </a:p>
        </p:txBody>
      </p:sp>
      <p:sp>
        <p:nvSpPr>
          <p:cNvPr id="57" name="text-334"/>
          <p:cNvSpPr txBox="1"/>
          <p:nvPr/>
        </p:nvSpPr>
        <p:spPr>
          <a:xfrm>
            <a:off x="9509760" y="4315968"/>
            <a:ext cx="2011680" cy="256032"/>
          </a:xfrm>
          <a:prstGeom prst="rect">
            <a:avLst/>
          </a:prstGeom>
          <a:noFill/>
          <a:ln/>
        </p:spPr>
        <p:txBody>
          <a:bodyPr wrap="square" lIns="0" tIns="0" rIns="0" bIns="0" rtlCol="0" anchor="ctr"/>
          <a:lstStyle/>
          <a:p>
            <a:pPr marL="0" indent="0">
              <a:buNone/>
            </a:pPr>
            <a:r>
              <a:rPr lang="en-US" sz="1300" b="1" dirty="0">
                <a:solidFill>
                  <a:schemeClr val="bg1"/>
                </a:solidFill>
                <a:latin typeface="Calibri" pitchFamily="34" charset="0"/>
                <a:ea typeface="Calibri" pitchFamily="34" charset="-122"/>
                <a:cs typeface="Calibri" pitchFamily="34" charset="-120"/>
              </a:rPr>
              <a:t>Sane dates</a:t>
            </a:r>
            <a:endParaRPr lang="en-US" sz="1300" dirty="0"/>
          </a:p>
        </p:txBody>
      </p:sp>
      <p:sp>
        <p:nvSpPr>
          <p:cNvPr id="58" name="text-335"/>
          <p:cNvSpPr txBox="1"/>
          <p:nvPr/>
        </p:nvSpPr>
        <p:spPr>
          <a:xfrm>
            <a:off x="9509760" y="4581144"/>
            <a:ext cx="2011680" cy="411480"/>
          </a:xfrm>
          <a:prstGeom prst="rect">
            <a:avLst/>
          </a:prstGeom>
          <a:noFill/>
          <a:ln/>
        </p:spPr>
        <p:txBody>
          <a:bodyPr wrap="square" lIns="0" tIns="0" rIns="0" bIns="0" rtlCol="0" anchor="t"/>
          <a:lstStyle/>
          <a:p>
            <a:pPr marL="0" indent="0">
              <a:buNone/>
            </a:pPr>
            <a:r>
              <a:rPr lang="en-US" sz="1150" dirty="0">
                <a:solidFill>
                  <a:schemeClr val="accent5"/>
                </a:solidFill>
                <a:latin typeface="Calibri" pitchFamily="34" charset="0"/>
                <a:ea typeface="Calibri" pitchFamily="34" charset="-122"/>
                <a:cs typeface="Calibri" pitchFamily="34" charset="-120"/>
              </a:rPr>
              <a:t>next ≥ last maintenance</a:t>
            </a:r>
            <a:endParaRPr lang="en-US" sz="1150" dirty="0"/>
          </a:p>
        </p:txBody>
      </p:sp>
      <p:sp>
        <p:nvSpPr>
          <p:cNvPr id="59" name="text-336"/>
          <p:cNvSpPr txBox="1"/>
          <p:nvPr/>
        </p:nvSpPr>
        <p:spPr>
          <a:xfrm>
            <a:off x="9509760" y="5047488"/>
            <a:ext cx="2011680" cy="256032"/>
          </a:xfrm>
          <a:prstGeom prst="rect">
            <a:avLst/>
          </a:prstGeom>
          <a:noFill/>
          <a:ln/>
        </p:spPr>
        <p:txBody>
          <a:bodyPr wrap="square" lIns="0" tIns="0" rIns="0" bIns="0" rtlCol="0" anchor="ctr"/>
          <a:lstStyle/>
          <a:p>
            <a:pPr marL="0" indent="0">
              <a:buNone/>
            </a:pPr>
            <a:r>
              <a:rPr lang="en-US" sz="1300" b="1" dirty="0">
                <a:solidFill>
                  <a:schemeClr val="bg1"/>
                </a:solidFill>
                <a:latin typeface="Calibri" pitchFamily="34" charset="0"/>
                <a:ea typeface="Calibri" pitchFamily="34" charset="-122"/>
                <a:cs typeface="Calibri" pitchFamily="34" charset="-120"/>
              </a:rPr>
              <a:t>Safe to re-run</a:t>
            </a:r>
            <a:endParaRPr lang="en-US" sz="1300" dirty="0"/>
          </a:p>
        </p:txBody>
      </p:sp>
      <p:sp>
        <p:nvSpPr>
          <p:cNvPr id="60" name="text-337"/>
          <p:cNvSpPr txBox="1"/>
          <p:nvPr/>
        </p:nvSpPr>
        <p:spPr>
          <a:xfrm>
            <a:off x="9509760" y="5312664"/>
            <a:ext cx="2011680" cy="411480"/>
          </a:xfrm>
          <a:prstGeom prst="rect">
            <a:avLst/>
          </a:prstGeom>
          <a:noFill/>
          <a:ln/>
        </p:spPr>
        <p:txBody>
          <a:bodyPr wrap="square" lIns="0" tIns="0" rIns="0" bIns="0" rtlCol="0" anchor="t"/>
          <a:lstStyle/>
          <a:p>
            <a:pPr marL="0" indent="0">
              <a:buNone/>
            </a:pPr>
            <a:r>
              <a:rPr lang="en-US" sz="1150" dirty="0">
                <a:solidFill>
                  <a:schemeClr val="accent5"/>
                </a:solidFill>
                <a:latin typeface="Calibri" pitchFamily="34" charset="0"/>
                <a:ea typeface="Calibri" pitchFamily="34" charset="-122"/>
                <a:cs typeface="Calibri" pitchFamily="34" charset="-120"/>
              </a:rPr>
              <a:t>Seed is idempotent, run twice in CI</a:t>
            </a:r>
            <a:endParaRPr lang="en-US" sz="1150" dirty="0"/>
          </a:p>
        </p:txBody>
      </p:sp>
      <p:sp>
        <p:nvSpPr>
          <p:cNvPr id="61"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47472"/>
            <a:ext cx="8229600" cy="274320"/>
          </a:xfrm>
          <a:prstGeom prst="rect">
            <a:avLst/>
          </a:prstGeom>
          <a:noFill/>
          <a:ln/>
        </p:spPr>
        <p:txBody>
          <a:bodyPr wrap="square" lIns="0" tIns="0" rIns="0" bIns="0" rtlCol="0" anchor="ctr"/>
          <a:lstStyle/>
          <a:p>
            <a:pPr marL="0" indent="0">
              <a:buNone/>
            </a:pPr>
            <a:r>
              <a:rPr lang="en-US" sz="1200" b="1" kern="0" spc="200" dirty="0">
                <a:solidFill>
                  <a:schemeClr val="accent1"/>
                </a:solidFill>
              </a:rPr>
              <a:t>INTEGRATION</a:t>
            </a:r>
            <a:endParaRPr lang="en-US" sz="1200" dirty="0"/>
          </a:p>
        </p:txBody>
      </p:sp>
      <p:sp>
        <p:nvSpPr>
          <p:cNvPr id="3" name="Text 0"/>
          <p:cNvSpPr>
            <a:spLocks noGrp="1"/>
          </p:cNvSpPr>
          <p:nvPr>
            <p:ph type="title" idx="101" hasCustomPrompt="1"/>
          </p:nvPr>
        </p:nvSpPr>
        <p:spPr>
          <a:xfrm>
            <a:off x="548640" y="621792"/>
            <a:ext cx="11094415"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Running the parts together exposed 7 bugs unit tests missed</a:t>
            </a:r>
            <a:endParaRPr lang="en-US" sz="3000" dirty="0"/>
          </a:p>
        </p:txBody>
      </p:sp>
      <p:sp>
        <p:nvSpPr>
          <p:cNvPr id="4" name="text-338"/>
          <p:cNvSpPr txBox="1"/>
          <p:nvPr/>
        </p:nvSpPr>
        <p:spPr>
          <a:xfrm>
            <a:off x="548640" y="1417320"/>
            <a:ext cx="11094415" cy="320040"/>
          </a:xfrm>
          <a:prstGeom prst="rect">
            <a:avLst/>
          </a:prstGeom>
          <a:noFill/>
          <a:ln/>
        </p:spPr>
        <p:txBody>
          <a:bodyPr wrap="square" lIns="0" tIns="0" rIns="0" bIns="0" rtlCol="0" anchor="ctr"/>
          <a:lstStyle/>
          <a:p>
            <a:pPr marL="0" indent="0">
              <a:buNone/>
            </a:pPr>
            <a:r>
              <a:rPr lang="en-US" sz="1400" i="1" dirty="0">
                <a:solidFill>
                  <a:schemeClr val="tx2"/>
                </a:solidFill>
                <a:latin typeface="Calibri" pitchFamily="34" charset="0"/>
                <a:ea typeface="Calibri" pitchFamily="34" charset="-122"/>
                <a:cs typeface="Calibri" pitchFamily="34" charset="-120"/>
              </a:rPr>
              <a:t>Unit tests passed on an in-memory store. The real journey on real Postgres and a real browser told a different story.</a:t>
            </a:r>
            <a:endParaRPr lang="en-US" sz="1400" dirty="0"/>
          </a:p>
        </p:txBody>
      </p:sp>
      <p:graphicFrame>
        <p:nvGraphicFramePr>
          <p:cNvPr id="13" name="table-bugs"/>
          <p:cNvGraphicFramePr>
            <a:graphicFrameLocks noGrp="1"/>
          </p:cNvGraphicFramePr>
          <p:nvPr>
            <p:extLst>
              <p:ext uri="{D42A27DB-BD31-4B8C-83A1-F6EECF244321}">
                <p14:modId xmlns:p14="http://schemas.microsoft.com/office/powerpoint/2010/main" val="1579011935"/>
              </p:ext>
            </p:extLst>
          </p:nvPr>
        </p:nvGraphicFramePr>
        <p:xfrm>
          <a:off x="548640" y="1874520"/>
          <a:ext cx="11091672" cy="3913632"/>
        </p:xfrm>
        <a:graphic>
          <a:graphicData uri="http://schemas.openxmlformats.org/drawingml/2006/table">
            <a:tbl>
              <a:tblPr/>
              <a:tblGrid>
                <a:gridCol w="141732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gridCol w="3063240">
                  <a:extLst>
                    <a:ext uri="{9D8B030D-6E8A-4147-A177-3AD203B41FA5}">
                      <a16:colId xmlns:a16="http://schemas.microsoft.com/office/drawing/2014/main" val="20002"/>
                    </a:ext>
                  </a:extLst>
                </a:gridCol>
                <a:gridCol w="3227832">
                  <a:extLst>
                    <a:ext uri="{9D8B030D-6E8A-4147-A177-3AD203B41FA5}">
                      <a16:colId xmlns:a16="http://schemas.microsoft.com/office/drawing/2014/main" val="20003"/>
                    </a:ext>
                  </a:extLst>
                </a:gridCol>
              </a:tblGrid>
              <a:tr h="329184">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Impact</a:t>
                      </a:r>
                      <a:endParaRPr lang="en-US" sz="1200" dirty="0">
                        <a:latin typeface="Calibri" charset="0"/>
                        <a:ea typeface="Calibri" charset="0"/>
                        <a:cs typeface="Calibri" charset="0"/>
                      </a:endParaRPr>
                    </a:p>
                  </a:txBody>
                  <a:tcPr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220"/>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users saw</a:t>
                      </a:r>
                      <a:endParaRPr lang="en-US" sz="1200" dirty="0">
                        <a:latin typeface="Calibri" charset="0"/>
                        <a:ea typeface="Calibri" charset="0"/>
                        <a:cs typeface="Calibri" charset="0"/>
                      </a:endParaRPr>
                    </a:p>
                  </a:txBody>
                  <a:tcPr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220"/>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Root cause</a:t>
                      </a:r>
                      <a:endParaRPr lang="en-US" sz="1200" dirty="0">
                        <a:latin typeface="Calibri" charset="0"/>
                        <a:ea typeface="Calibri" charset="0"/>
                        <a:cs typeface="Calibri" charset="0"/>
                      </a:endParaRPr>
                    </a:p>
                  </a:txBody>
                  <a:tcPr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220"/>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Fix</a:t>
                      </a:r>
                      <a:endParaRPr lang="en-US" sz="1200" dirty="0">
                        <a:latin typeface="Calibri" charset="0"/>
                        <a:ea typeface="Calibri" charset="0"/>
                        <a:cs typeface="Calibri" charset="0"/>
                      </a:endParaRPr>
                    </a:p>
                  </a:txBody>
                  <a:tcPr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220"/>
                    </a:solidFill>
                  </a:tcPr>
                </a:tc>
                <a:extLst>
                  <a:ext uri="{0D108BD9-81ED-4DB2-BD59-A6C34878D82A}">
                    <a16:rowId xmlns:a16="http://schemas.microsoft.com/office/drawing/2014/main" val="10000"/>
                  </a:ext>
                </a:extLst>
              </a:tr>
              <a:tr h="512064">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DEMO-BREAKING</a:t>
                      </a:r>
                      <a:endParaRPr lang="en-US" sz="1000" dirty="0">
                        <a:latin typeface="Calibri" charset="0"/>
                        <a:ea typeface="Calibri" charset="0"/>
                        <a:cs typeface="Calibri" charset="0"/>
                      </a:endParaRPr>
                    </a:p>
                  </a:txBody>
                  <a:tcPr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2626"/>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Loading overlay never cleared after a scan; buttons untappable</a:t>
                      </a:r>
                      <a:endParaRPr lang="en-US" sz="1200" dirty="0">
                        <a:latin typeface="Calibri" charset="0"/>
                        <a:ea typeface="Calibri" charset="0"/>
                        <a:cs typeface="Calibri" charset="0"/>
                      </a:endParaRPr>
                    </a:p>
                  </a:txBody>
                  <a:tcPr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CSS forced overlays visible, overriding the hidden flag</a:t>
                      </a:r>
                      <a:endParaRPr lang="en-US" sz="1200" dirty="0">
                        <a:latin typeface="Calibri" charset="0"/>
                        <a:ea typeface="Calibri" charset="0"/>
                        <a:cs typeface="Calibri" charset="0"/>
                      </a:endParaRPr>
                    </a:p>
                  </a:txBody>
                  <a:tcPr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One CSS rule; caught by the headless browser test</a:t>
                      </a:r>
                      <a:endParaRPr lang="en-US" sz="1200" dirty="0">
                        <a:latin typeface="Calibri" charset="0"/>
                        <a:ea typeface="Calibri" charset="0"/>
                        <a:cs typeface="Calibri" charset="0"/>
                      </a:endParaRPr>
                    </a:p>
                  </a:txBody>
                  <a:tcPr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512064">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DEMO-BREAKING</a:t>
                      </a:r>
                      <a:endParaRPr lang="en-US" sz="1000" dirty="0">
                        <a:latin typeface="Calibri" charset="0"/>
                        <a:ea typeface="Calibri" charset="0"/>
                        <a:cs typeface="Calibri" charset="0"/>
                      </a:endParaRPr>
                    </a:p>
                  </a:txBody>
                  <a:tcPr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2626"/>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Camera never recognised any marker</a:t>
                      </a:r>
                      <a:endParaRPr lang="en-US" sz="1200" dirty="0">
                        <a:latin typeface="Calibri" charset="0"/>
                        <a:ea typeface="Calibri" charset="0"/>
                        <a:cs typeface="Calibri" charset="0"/>
                      </a:endParaRPr>
                    </a:p>
                  </a:txBody>
                  <a:tcPr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targets.mind never compiled; 2 of 5 markers missing</a:t>
                      </a:r>
                      <a:endParaRPr lang="en-US" sz="1200" dirty="0">
                        <a:latin typeface="Calibri" charset="0"/>
                        <a:ea typeface="Calibri" charset="0"/>
                        <a:cs typeface="Calibri" charset="0"/>
                      </a:endParaRPr>
                    </a:p>
                  </a:txBody>
                  <a:tcPr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Built the compiler tool, made all 5 markers</a:t>
                      </a:r>
                      <a:endParaRPr lang="en-US" sz="1200" dirty="0">
                        <a:latin typeface="Calibri" charset="0"/>
                        <a:ea typeface="Calibri" charset="0"/>
                        <a:cs typeface="Calibri" charset="0"/>
                      </a:endParaRPr>
                    </a:p>
                  </a:txBody>
                  <a:tcPr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extLst>
                  <a:ext uri="{0D108BD9-81ED-4DB2-BD59-A6C34878D82A}">
                    <a16:rowId xmlns:a16="http://schemas.microsoft.com/office/drawing/2014/main" val="10002"/>
                  </a:ext>
                </a:extLst>
              </a:tr>
              <a:tr h="512064">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BREAKS ALL</a:t>
                      </a:r>
                      <a:endParaRPr lang="en-US" sz="1000" dirty="0">
                        <a:latin typeface="Calibri" charset="0"/>
                        <a:ea typeface="Calibri" charset="0"/>
                        <a:cs typeface="Calibri" charset="0"/>
                      </a:endParaRPr>
                    </a:p>
                  </a:txBody>
                  <a:tcPr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2626"/>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Every request failed on a real database</a:t>
                      </a:r>
                      <a:endParaRPr lang="en-US" sz="1200" dirty="0">
                        <a:latin typeface="Calibri" charset="0"/>
                        <a:ea typeface="Calibri" charset="0"/>
                        <a:cs typeface="Calibri" charset="0"/>
                      </a:endParaRPr>
                    </a:p>
                  </a:txBody>
                  <a:tcPr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SSL forced even for local Postgres</a:t>
                      </a:r>
                      <a:endParaRPr lang="en-US" sz="1200" dirty="0">
                        <a:latin typeface="Calibri" charset="0"/>
                        <a:ea typeface="Calibri" charset="0"/>
                        <a:cs typeface="Calibri" charset="0"/>
                      </a:endParaRPr>
                    </a:p>
                  </a:txBody>
                  <a:tcPr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SSL for hosted DBs only</a:t>
                      </a:r>
                      <a:endParaRPr lang="en-US" sz="1200" dirty="0">
                        <a:latin typeface="Calibri" charset="0"/>
                        <a:ea typeface="Calibri" charset="0"/>
                        <a:cs typeface="Calibri" charset="0"/>
                      </a:endParaRPr>
                    </a:p>
                  </a:txBody>
                  <a:tcPr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512064">
                <a:tc>
                  <a:txBody>
                    <a:bodyPr/>
                    <a:lstStyle/>
                    <a:p>
                      <a:pPr marL="0" indent="0" algn="ctr">
                        <a:buNone/>
                      </a:pPr>
                      <a:r>
                        <a:rPr lang="en-US" sz="1000" b="1" dirty="0">
                          <a:solidFill>
                            <a:srgbClr val="0B1220"/>
                          </a:solidFill>
                          <a:latin typeface="Calibri" pitchFamily="34" charset="0"/>
                          <a:ea typeface="Calibri" pitchFamily="34" charset="-122"/>
                          <a:cs typeface="Calibri" pitchFamily="34" charset="-120"/>
                        </a:rPr>
                        <a:t>DATA DAMAGE</a:t>
                      </a:r>
                      <a:endParaRPr lang="en-US" sz="1000" dirty="0">
                        <a:latin typeface="Calibri" charset="0"/>
                        <a:ea typeface="Calibri" charset="0"/>
                        <a:cs typeface="Calibri" charset="0"/>
                      </a:endParaRPr>
                    </a:p>
                  </a:txBody>
                  <a:tcPr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59E0B"/>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Editing asset B could steal MARK-001 from the projector</a:t>
                      </a:r>
                      <a:endParaRPr lang="en-US" sz="1200" dirty="0">
                        <a:latin typeface="Calibri" charset="0"/>
                        <a:ea typeface="Calibri" charset="0"/>
                        <a:cs typeface="Calibri" charset="0"/>
                      </a:endParaRPr>
                    </a:p>
                  </a:txBody>
                  <a:tcPr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Upsert overwrote existing marker links</a:t>
                      </a:r>
                      <a:endParaRPr lang="en-US" sz="1200" dirty="0">
                        <a:latin typeface="Calibri" charset="0"/>
                        <a:ea typeface="Calibri" charset="0"/>
                        <a:cs typeface="Calibri" charset="0"/>
                      </a:endParaRPr>
                    </a:p>
                  </a:txBody>
                  <a:tcPr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Transaction + 409 MARKER_CONFLICT</a:t>
                      </a:r>
                      <a:endParaRPr lang="en-US" sz="1200" dirty="0">
                        <a:latin typeface="Calibri" charset="0"/>
                        <a:ea typeface="Calibri" charset="0"/>
                        <a:cs typeface="Calibri" charset="0"/>
                      </a:endParaRPr>
                    </a:p>
                  </a:txBody>
                  <a:tcPr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extLst>
                  <a:ext uri="{0D108BD9-81ED-4DB2-BD59-A6C34878D82A}">
                    <a16:rowId xmlns:a16="http://schemas.microsoft.com/office/drawing/2014/main" val="10004"/>
                  </a:ext>
                </a:extLst>
              </a:tr>
              <a:tr h="512064">
                <a:tc>
                  <a:txBody>
                    <a:bodyPr/>
                    <a:lstStyle/>
                    <a:p>
                      <a:pPr marL="0" indent="0" algn="ctr">
                        <a:buNone/>
                      </a:pPr>
                      <a:r>
                        <a:rPr lang="en-US" sz="1000" b="1" dirty="0">
                          <a:solidFill>
                            <a:srgbClr val="0B1220"/>
                          </a:solidFill>
                          <a:latin typeface="Calibri" pitchFamily="34" charset="0"/>
                          <a:ea typeface="Calibri" pitchFamily="34" charset="-122"/>
                          <a:cs typeface="Calibri" pitchFamily="34" charset="-120"/>
                        </a:rPr>
                        <a:t>RELIABILITY</a:t>
                      </a:r>
                      <a:endParaRPr lang="en-US" sz="1000" dirty="0">
                        <a:latin typeface="Calibri" charset="0"/>
                        <a:ea typeface="Calibri" charset="0"/>
                        <a:cs typeface="Calibri" charset="0"/>
                      </a:endParaRPr>
                    </a:p>
                  </a:txBody>
                  <a:tcPr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59E0B"/>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Endless spinner when the DB was down</a:t>
                      </a:r>
                      <a:endParaRPr lang="en-US" sz="1200" dirty="0">
                        <a:latin typeface="Calibri" charset="0"/>
                        <a:ea typeface="Calibri" charset="0"/>
                        <a:cs typeface="Calibri" charset="0"/>
                      </a:endParaRPr>
                    </a:p>
                  </a:txBody>
                  <a:tcPr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 connection timeout</a:t>
                      </a:r>
                      <a:endParaRPr lang="en-US" sz="1200" dirty="0">
                        <a:latin typeface="Calibri" charset="0"/>
                        <a:ea typeface="Calibri" charset="0"/>
                        <a:cs typeface="Calibri" charset="0"/>
                      </a:endParaRPr>
                    </a:p>
                  </a:txBody>
                  <a:tcPr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10 s timeout → 503; /health reports DB</a:t>
                      </a:r>
                      <a:endParaRPr lang="en-US" sz="1200" dirty="0">
                        <a:latin typeface="Calibri" charset="0"/>
                        <a:ea typeface="Calibri" charset="0"/>
                        <a:cs typeface="Calibri" charset="0"/>
                      </a:endParaRPr>
                    </a:p>
                  </a:txBody>
                  <a:tcPr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r h="512064">
                <a:tc>
                  <a:txBody>
                    <a:bodyPr/>
                    <a:lstStyle/>
                    <a:p>
                      <a:pPr marL="0" indent="0" algn="ctr">
                        <a:buNone/>
                      </a:pPr>
                      <a:r>
                        <a:rPr lang="en-US" sz="1000" b="1" dirty="0">
                          <a:solidFill>
                            <a:srgbClr val="0B1220"/>
                          </a:solidFill>
                          <a:latin typeface="Calibri" pitchFamily="34" charset="0"/>
                          <a:ea typeface="Calibri" pitchFamily="34" charset="-122"/>
                          <a:cs typeface="Calibri" pitchFamily="34" charset="-120"/>
                        </a:rPr>
                        <a:t>SPEC GAP</a:t>
                      </a:r>
                      <a:endParaRPr lang="en-US" sz="1000" dirty="0">
                        <a:latin typeface="Calibri" charset="0"/>
                        <a:ea typeface="Calibri" charset="0"/>
                        <a:cs typeface="Calibri" charset="0"/>
                      </a:endParaRPr>
                    </a:p>
                  </a:txBody>
                  <a:tcPr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94A3B8"/>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“Rejected” issue showed as Resolved after refresh</a:t>
                      </a:r>
                      <a:endParaRPr lang="en-US" sz="1200" dirty="0">
                        <a:latin typeface="Calibri" charset="0"/>
                        <a:ea typeface="Calibri" charset="0"/>
                        <a:cs typeface="Calibri" charset="0"/>
                      </a:endParaRPr>
                    </a:p>
                  </a:txBody>
                  <a:tcPr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Status missing from server and DB</a:t>
                      </a:r>
                      <a:endParaRPr lang="en-US" sz="1200" dirty="0">
                        <a:latin typeface="Calibri" charset="0"/>
                        <a:ea typeface="Calibri" charset="0"/>
                        <a:cs typeface="Calibri" charset="0"/>
                      </a:endParaRPr>
                    </a:p>
                  </a:txBody>
                  <a:tcPr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Added everywhere, with a safe migration</a:t>
                      </a:r>
                      <a:endParaRPr lang="en-US" sz="1200" dirty="0">
                        <a:latin typeface="Calibri" charset="0"/>
                        <a:ea typeface="Calibri" charset="0"/>
                        <a:cs typeface="Calibri" charset="0"/>
                      </a:endParaRPr>
                    </a:p>
                  </a:txBody>
                  <a:tcPr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extLst>
                  <a:ext uri="{0D108BD9-81ED-4DB2-BD59-A6C34878D82A}">
                    <a16:rowId xmlns:a16="http://schemas.microsoft.com/office/drawing/2014/main" val="10006"/>
                  </a:ext>
                </a:extLst>
              </a:tr>
              <a:tr h="512064">
                <a:tc>
                  <a:txBody>
                    <a:bodyPr/>
                    <a:lstStyle/>
                    <a:p>
                      <a:pPr marL="0" indent="0" algn="ctr">
                        <a:buNone/>
                      </a:pPr>
                      <a:r>
                        <a:rPr lang="en-US" sz="1000" b="1" dirty="0">
                          <a:solidFill>
                            <a:srgbClr val="0B1220"/>
                          </a:solidFill>
                          <a:latin typeface="Calibri" pitchFamily="34" charset="0"/>
                          <a:ea typeface="Calibri" pitchFamily="34" charset="-122"/>
                          <a:cs typeface="Calibri" pitchFamily="34" charset="-120"/>
                        </a:rPr>
                        <a:t>ERRORS</a:t>
                      </a:r>
                      <a:endParaRPr lang="en-US" sz="1000" dirty="0">
                        <a:latin typeface="Calibri" charset="0"/>
                        <a:ea typeface="Calibri" charset="0"/>
                        <a:cs typeface="Calibri" charset="0"/>
                      </a:endParaRPr>
                    </a:p>
                  </a:txBody>
                  <a:tcPr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94A3B8"/>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Duplicate asset ID gave a generic 500</a:t>
                      </a:r>
                      <a:endParaRPr lang="en-US" sz="1200" dirty="0">
                        <a:latin typeface="Calibri" charset="0"/>
                        <a:ea typeface="Calibri" charset="0"/>
                        <a:cs typeface="Calibri" charset="0"/>
                      </a:endParaRPr>
                    </a:p>
                  </a:txBody>
                  <a:tcPr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DB unique error not translated</a:t>
                      </a:r>
                      <a:endParaRPr lang="en-US" sz="1200" dirty="0">
                        <a:latin typeface="Calibri" charset="0"/>
                        <a:ea typeface="Calibri" charset="0"/>
                        <a:cs typeface="Calibri" charset="0"/>
                      </a:endParaRPr>
                    </a:p>
                  </a:txBody>
                  <a:tcPr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409 ASSET_CONFLICT with a reason</a:t>
                      </a:r>
                      <a:endParaRPr lang="en-US" sz="1200" dirty="0">
                        <a:latin typeface="Calibri" charset="0"/>
                        <a:ea typeface="Calibri" charset="0"/>
                        <a:cs typeface="Calibri" charset="0"/>
                      </a:endParaRPr>
                    </a:p>
                  </a:txBody>
                  <a:tcPr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47472"/>
            <a:ext cx="8229600" cy="274320"/>
          </a:xfrm>
          <a:prstGeom prst="rect">
            <a:avLst/>
          </a:prstGeom>
          <a:noFill/>
          <a:ln/>
        </p:spPr>
        <p:txBody>
          <a:bodyPr wrap="square" lIns="0" tIns="0" rIns="0" bIns="0" rtlCol="0" anchor="ctr"/>
          <a:lstStyle/>
          <a:p>
            <a:pPr marL="0" indent="0">
              <a:buNone/>
            </a:pPr>
            <a:r>
              <a:rPr lang="en-US" sz="1200" b="1" kern="0" spc="200" dirty="0">
                <a:solidFill>
                  <a:schemeClr val="accent1"/>
                </a:solidFill>
              </a:rPr>
              <a:t>VALIDATION</a:t>
            </a:r>
            <a:endParaRPr lang="en-US" sz="1200" dirty="0"/>
          </a:p>
        </p:txBody>
      </p:sp>
      <p:sp>
        <p:nvSpPr>
          <p:cNvPr id="3" name="Text 0"/>
          <p:cNvSpPr>
            <a:spLocks noGrp="1"/>
          </p:cNvSpPr>
          <p:nvPr>
            <p:ph type="title" idx="101" hasCustomPrompt="1"/>
          </p:nvPr>
        </p:nvSpPr>
        <p:spPr>
          <a:xfrm>
            <a:off x="548640" y="621792"/>
            <a:ext cx="11094415"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Every layer is tested, and the suite re-runs on production</a:t>
            </a:r>
            <a:endParaRPr lang="en-US" sz="3000" dirty="0"/>
          </a:p>
        </p:txBody>
      </p:sp>
      <p:sp>
        <p:nvSpPr>
          <p:cNvPr id="4" name="card-339"/>
          <p:cNvSpPr/>
          <p:nvPr/>
        </p:nvSpPr>
        <p:spPr>
          <a:xfrm>
            <a:off x="548640" y="1600200"/>
            <a:ext cx="2606040" cy="1371600"/>
          </a:xfrm>
          <a:prstGeom prst="roundRect">
            <a:avLst>
              <a:gd name="adj" fmla="val 5333"/>
            </a:avLst>
          </a:prstGeom>
          <a:solidFill>
            <a:schemeClr val="bg2"/>
          </a:solidFill>
          <a:ln w="12700">
            <a:solidFill>
              <a:schemeClr val="bg2"/>
            </a:solidFill>
            <a:prstDash val="solid"/>
          </a:ln>
        </p:spPr>
      </p:sp>
      <p:sp>
        <p:nvSpPr>
          <p:cNvPr id="5" name="text-340"/>
          <p:cNvSpPr txBox="1"/>
          <p:nvPr/>
        </p:nvSpPr>
        <p:spPr>
          <a:xfrm>
            <a:off x="777240" y="1737360"/>
            <a:ext cx="2148840" cy="548640"/>
          </a:xfrm>
          <a:prstGeom prst="rect">
            <a:avLst/>
          </a:prstGeom>
          <a:noFill/>
          <a:ln/>
        </p:spPr>
        <p:txBody>
          <a:bodyPr wrap="square" lIns="0" tIns="0" rIns="0" bIns="0" rtlCol="0" anchor="ctr"/>
          <a:lstStyle/>
          <a:p>
            <a:pPr marL="0" indent="0">
              <a:buNone/>
            </a:pPr>
            <a:r>
              <a:rPr lang="en-US" sz="3000" b="1" dirty="0">
                <a:solidFill>
                  <a:schemeClr val="accent6"/>
                </a:solidFill>
                <a:latin typeface="Arial" pitchFamily="34" charset="0"/>
                <a:ea typeface="Arial" pitchFamily="34" charset="-122"/>
                <a:cs typeface="Arial" pitchFamily="34" charset="-120"/>
              </a:rPr>
              <a:t>10/10</a:t>
            </a:r>
            <a:endParaRPr lang="en-US" sz="3000" dirty="0"/>
          </a:p>
        </p:txBody>
      </p:sp>
      <p:sp>
        <p:nvSpPr>
          <p:cNvPr id="6" name="text-341"/>
          <p:cNvSpPr txBox="1"/>
          <p:nvPr/>
        </p:nvSpPr>
        <p:spPr>
          <a:xfrm>
            <a:off x="777240" y="2286000"/>
            <a:ext cx="2148840" cy="256032"/>
          </a:xfrm>
          <a:prstGeom prst="rect">
            <a:avLst/>
          </a:prstGeom>
          <a:noFill/>
          <a:ln/>
        </p:spPr>
        <p:txBody>
          <a:bodyPr wrap="square" lIns="0" tIns="0" rIns="0" bIns="0" rtlCol="0" anchor="ctr"/>
          <a:lstStyle/>
          <a:p>
            <a:pPr marL="0" indent="0">
              <a:buNone/>
            </a:pPr>
            <a:r>
              <a:rPr lang="en-US" sz="1400" b="1" dirty="0">
                <a:solidFill>
                  <a:schemeClr val="tx1"/>
                </a:solidFill>
                <a:latin typeface="Calibri" pitchFamily="34" charset="0"/>
                <a:ea typeface="Calibri" pitchFamily="34" charset="-122"/>
                <a:cs typeface="Calibri" pitchFamily="34" charset="-120"/>
              </a:rPr>
              <a:t>Unit + contract</a:t>
            </a:r>
            <a:endParaRPr lang="en-US" sz="1400" dirty="0"/>
          </a:p>
        </p:txBody>
      </p:sp>
      <p:sp>
        <p:nvSpPr>
          <p:cNvPr id="7" name="text-342"/>
          <p:cNvSpPr txBox="1"/>
          <p:nvPr/>
        </p:nvSpPr>
        <p:spPr>
          <a:xfrm>
            <a:off x="777240" y="2542032"/>
            <a:ext cx="2148840" cy="384048"/>
          </a:xfrm>
          <a:prstGeom prst="rect">
            <a:avLst/>
          </a:prstGeom>
          <a:noFill/>
          <a:ln/>
        </p:spPr>
        <p:txBody>
          <a:bodyPr wrap="square" lIns="0" tIns="0" rIns="0" bIns="0" rtlCol="0" anchor="t"/>
          <a:lstStyle/>
          <a:p>
            <a:pPr marL="0" indent="0">
              <a:buNone/>
            </a:pPr>
            <a:r>
              <a:rPr lang="en-US" sz="1150" dirty="0">
                <a:solidFill>
                  <a:schemeClr val="tx2"/>
                </a:solidFill>
                <a:latin typeface="Calibri" pitchFamily="34" charset="0"/>
                <a:ea typeface="Calibri" pitchFamily="34" charset="-122"/>
                <a:cs typeface="Calibri" pitchFamily="34" charset="-120"/>
              </a:rPr>
              <a:t>Jest + Supertest, no DB needed</a:t>
            </a:r>
            <a:endParaRPr lang="en-US" sz="1150" dirty="0"/>
          </a:p>
        </p:txBody>
      </p:sp>
      <p:sp>
        <p:nvSpPr>
          <p:cNvPr id="8" name="card-343"/>
          <p:cNvSpPr/>
          <p:nvPr/>
        </p:nvSpPr>
        <p:spPr>
          <a:xfrm>
            <a:off x="3383280" y="1600200"/>
            <a:ext cx="2606040" cy="1371600"/>
          </a:xfrm>
          <a:prstGeom prst="roundRect">
            <a:avLst>
              <a:gd name="adj" fmla="val 5333"/>
            </a:avLst>
          </a:prstGeom>
          <a:solidFill>
            <a:schemeClr val="bg2"/>
          </a:solidFill>
          <a:ln w="12700">
            <a:solidFill>
              <a:schemeClr val="bg2"/>
            </a:solidFill>
            <a:prstDash val="solid"/>
          </a:ln>
        </p:spPr>
      </p:sp>
      <p:sp>
        <p:nvSpPr>
          <p:cNvPr id="9" name="text-344"/>
          <p:cNvSpPr txBox="1"/>
          <p:nvPr/>
        </p:nvSpPr>
        <p:spPr>
          <a:xfrm>
            <a:off x="3611880" y="1737360"/>
            <a:ext cx="2148840" cy="548640"/>
          </a:xfrm>
          <a:prstGeom prst="rect">
            <a:avLst/>
          </a:prstGeom>
          <a:noFill/>
          <a:ln/>
        </p:spPr>
        <p:txBody>
          <a:bodyPr wrap="square" lIns="0" tIns="0" rIns="0" bIns="0" rtlCol="0" anchor="ctr"/>
          <a:lstStyle/>
          <a:p>
            <a:pPr marL="0" indent="0">
              <a:buNone/>
            </a:pPr>
            <a:r>
              <a:rPr lang="en-US" sz="3000" b="1" dirty="0">
                <a:solidFill>
                  <a:schemeClr val="accent6"/>
                </a:solidFill>
                <a:latin typeface="Arial" pitchFamily="34" charset="0"/>
                <a:ea typeface="Arial" pitchFamily="34" charset="-122"/>
                <a:cs typeface="Arial" pitchFamily="34" charset="-120"/>
              </a:rPr>
              <a:t>34/34</a:t>
            </a:r>
            <a:endParaRPr lang="en-US" sz="3000" dirty="0"/>
          </a:p>
        </p:txBody>
      </p:sp>
      <p:sp>
        <p:nvSpPr>
          <p:cNvPr id="10" name="text-345"/>
          <p:cNvSpPr txBox="1"/>
          <p:nvPr/>
        </p:nvSpPr>
        <p:spPr>
          <a:xfrm>
            <a:off x="3611880" y="2286000"/>
            <a:ext cx="2148840" cy="256032"/>
          </a:xfrm>
          <a:prstGeom prst="rect">
            <a:avLst/>
          </a:prstGeom>
          <a:noFill/>
          <a:ln/>
        </p:spPr>
        <p:txBody>
          <a:bodyPr wrap="square" lIns="0" tIns="0" rIns="0" bIns="0" rtlCol="0" anchor="ctr"/>
          <a:lstStyle/>
          <a:p>
            <a:pPr marL="0" indent="0">
              <a:buNone/>
            </a:pPr>
            <a:r>
              <a:rPr lang="en-US" sz="1400" b="1" dirty="0">
                <a:solidFill>
                  <a:schemeClr val="tx1"/>
                </a:solidFill>
                <a:latin typeface="Calibri" pitchFamily="34" charset="0"/>
                <a:ea typeface="Calibri" pitchFamily="34" charset="-122"/>
                <a:cs typeface="Calibri" pitchFamily="34" charset="-120"/>
              </a:rPr>
              <a:t>API end to end</a:t>
            </a:r>
            <a:endParaRPr lang="en-US" sz="1400" dirty="0"/>
          </a:p>
        </p:txBody>
      </p:sp>
      <p:sp>
        <p:nvSpPr>
          <p:cNvPr id="11" name="text-346"/>
          <p:cNvSpPr txBox="1"/>
          <p:nvPr/>
        </p:nvSpPr>
        <p:spPr>
          <a:xfrm>
            <a:off x="3611880" y="2542032"/>
            <a:ext cx="2148840" cy="384048"/>
          </a:xfrm>
          <a:prstGeom prst="rect">
            <a:avLst/>
          </a:prstGeom>
          <a:noFill/>
          <a:ln/>
        </p:spPr>
        <p:txBody>
          <a:bodyPr wrap="square" lIns="0" tIns="0" rIns="0" bIns="0" rtlCol="0" anchor="t"/>
          <a:lstStyle/>
          <a:p>
            <a:pPr marL="0" indent="0">
              <a:buNone/>
            </a:pPr>
            <a:r>
              <a:rPr lang="en-US" sz="1150" dirty="0">
                <a:solidFill>
                  <a:schemeClr val="tx2"/>
                </a:solidFill>
                <a:latin typeface="Calibri" pitchFamily="34" charset="0"/>
                <a:ea typeface="Calibri" pitchFamily="34" charset="-122"/>
                <a:cs typeface="Calibri" pitchFamily="34" charset="-120"/>
              </a:rPr>
              <a:t>e2e_flow.js: full journey + failure cases</a:t>
            </a:r>
            <a:endParaRPr lang="en-US" sz="1150" dirty="0"/>
          </a:p>
        </p:txBody>
      </p:sp>
      <p:sp>
        <p:nvSpPr>
          <p:cNvPr id="12" name="card-347"/>
          <p:cNvSpPr/>
          <p:nvPr/>
        </p:nvSpPr>
        <p:spPr>
          <a:xfrm>
            <a:off x="548640" y="3200400"/>
            <a:ext cx="2606040" cy="1371600"/>
          </a:xfrm>
          <a:prstGeom prst="roundRect">
            <a:avLst>
              <a:gd name="adj" fmla="val 5333"/>
            </a:avLst>
          </a:prstGeom>
          <a:solidFill>
            <a:schemeClr val="bg2"/>
          </a:solidFill>
          <a:ln w="12700">
            <a:solidFill>
              <a:schemeClr val="bg2"/>
            </a:solidFill>
            <a:prstDash val="solid"/>
          </a:ln>
        </p:spPr>
      </p:sp>
      <p:sp>
        <p:nvSpPr>
          <p:cNvPr id="13" name="text-348"/>
          <p:cNvSpPr txBox="1"/>
          <p:nvPr/>
        </p:nvSpPr>
        <p:spPr>
          <a:xfrm>
            <a:off x="777240" y="3337560"/>
            <a:ext cx="2148840" cy="548640"/>
          </a:xfrm>
          <a:prstGeom prst="rect">
            <a:avLst/>
          </a:prstGeom>
          <a:noFill/>
          <a:ln/>
        </p:spPr>
        <p:txBody>
          <a:bodyPr wrap="square" lIns="0" tIns="0" rIns="0" bIns="0" rtlCol="0" anchor="ctr"/>
          <a:lstStyle/>
          <a:p>
            <a:pPr marL="0" indent="0">
              <a:buNone/>
            </a:pPr>
            <a:r>
              <a:rPr lang="en-US" sz="3000" b="1" dirty="0">
                <a:solidFill>
                  <a:schemeClr val="accent6"/>
                </a:solidFill>
                <a:latin typeface="Arial" pitchFamily="34" charset="0"/>
                <a:ea typeface="Arial" pitchFamily="34" charset="-122"/>
                <a:cs typeface="Arial" pitchFamily="34" charset="-120"/>
              </a:rPr>
              <a:t>14/14</a:t>
            </a:r>
            <a:endParaRPr lang="en-US" sz="3000" dirty="0"/>
          </a:p>
        </p:txBody>
      </p:sp>
      <p:sp>
        <p:nvSpPr>
          <p:cNvPr id="14" name="text-349"/>
          <p:cNvSpPr txBox="1"/>
          <p:nvPr/>
        </p:nvSpPr>
        <p:spPr>
          <a:xfrm>
            <a:off x="777240" y="3886200"/>
            <a:ext cx="2148840" cy="256032"/>
          </a:xfrm>
          <a:prstGeom prst="rect">
            <a:avLst/>
          </a:prstGeom>
          <a:noFill/>
          <a:ln/>
        </p:spPr>
        <p:txBody>
          <a:bodyPr wrap="square" lIns="0" tIns="0" rIns="0" bIns="0" rtlCol="0" anchor="ctr"/>
          <a:lstStyle/>
          <a:p>
            <a:pPr marL="0" indent="0">
              <a:buNone/>
            </a:pPr>
            <a:r>
              <a:rPr lang="en-US" sz="1400" b="1" dirty="0">
                <a:solidFill>
                  <a:schemeClr val="tx1"/>
                </a:solidFill>
                <a:latin typeface="Calibri" pitchFamily="34" charset="0"/>
                <a:ea typeface="Calibri" pitchFamily="34" charset="-122"/>
                <a:cs typeface="Calibri" pitchFamily="34" charset="-120"/>
              </a:rPr>
              <a:t>Browser flow</a:t>
            </a:r>
            <a:endParaRPr lang="en-US" sz="1400" dirty="0"/>
          </a:p>
        </p:txBody>
      </p:sp>
      <p:sp>
        <p:nvSpPr>
          <p:cNvPr id="15" name="text-350"/>
          <p:cNvSpPr txBox="1"/>
          <p:nvPr/>
        </p:nvSpPr>
        <p:spPr>
          <a:xfrm>
            <a:off x="777240" y="4142232"/>
            <a:ext cx="2148840" cy="384048"/>
          </a:xfrm>
          <a:prstGeom prst="rect">
            <a:avLst/>
          </a:prstGeom>
          <a:noFill/>
          <a:ln/>
        </p:spPr>
        <p:txBody>
          <a:bodyPr wrap="square" lIns="0" tIns="0" rIns="0" bIns="0" rtlCol="0" anchor="t"/>
          <a:lstStyle/>
          <a:p>
            <a:pPr marL="0" indent="0">
              <a:buNone/>
            </a:pPr>
            <a:r>
              <a:rPr lang="en-US" sz="1150" dirty="0">
                <a:solidFill>
                  <a:schemeClr val="tx2"/>
                </a:solidFill>
                <a:latin typeface="Calibri" pitchFamily="34" charset="0"/>
                <a:ea typeface="Calibri" pitchFamily="34" charset="-122"/>
                <a:cs typeface="Calibri" pitchFamily="34" charset="-120"/>
              </a:rPr>
              <a:t>Headless Chrome clicks through the demo</a:t>
            </a:r>
            <a:endParaRPr lang="en-US" sz="1150" dirty="0"/>
          </a:p>
        </p:txBody>
      </p:sp>
      <p:sp>
        <p:nvSpPr>
          <p:cNvPr id="16" name="card-351"/>
          <p:cNvSpPr/>
          <p:nvPr/>
        </p:nvSpPr>
        <p:spPr>
          <a:xfrm>
            <a:off x="3383280" y="3200400"/>
            <a:ext cx="2606040" cy="1371600"/>
          </a:xfrm>
          <a:prstGeom prst="roundRect">
            <a:avLst>
              <a:gd name="adj" fmla="val 5333"/>
            </a:avLst>
          </a:prstGeom>
          <a:solidFill>
            <a:schemeClr val="bg2"/>
          </a:solidFill>
          <a:ln w="12700">
            <a:solidFill>
              <a:schemeClr val="bg2"/>
            </a:solidFill>
            <a:prstDash val="solid"/>
          </a:ln>
        </p:spPr>
      </p:sp>
      <p:sp>
        <p:nvSpPr>
          <p:cNvPr id="17" name="text-352"/>
          <p:cNvSpPr txBox="1"/>
          <p:nvPr/>
        </p:nvSpPr>
        <p:spPr>
          <a:xfrm>
            <a:off x="3611880" y="3337560"/>
            <a:ext cx="2148840" cy="548640"/>
          </a:xfrm>
          <a:prstGeom prst="rect">
            <a:avLst/>
          </a:prstGeom>
          <a:noFill/>
          <a:ln/>
        </p:spPr>
        <p:txBody>
          <a:bodyPr wrap="square" lIns="0" tIns="0" rIns="0" bIns="0" rtlCol="0" anchor="ctr"/>
          <a:lstStyle/>
          <a:p>
            <a:pPr marL="0" indent="0">
              <a:buNone/>
            </a:pPr>
            <a:r>
              <a:rPr lang="en-US" sz="3000" b="1" dirty="0">
                <a:solidFill>
                  <a:schemeClr val="accent6"/>
                </a:solidFill>
                <a:latin typeface="Arial" pitchFamily="34" charset="0"/>
                <a:ea typeface="Arial" pitchFamily="34" charset="-122"/>
                <a:cs typeface="Arial" pitchFamily="34" charset="-120"/>
              </a:rPr>
              <a:t>5/5</a:t>
            </a:r>
            <a:endParaRPr lang="en-US" sz="3000" dirty="0"/>
          </a:p>
        </p:txBody>
      </p:sp>
      <p:sp>
        <p:nvSpPr>
          <p:cNvPr id="18" name="text-353"/>
          <p:cNvSpPr txBox="1"/>
          <p:nvPr/>
        </p:nvSpPr>
        <p:spPr>
          <a:xfrm>
            <a:off x="3611880" y="3886200"/>
            <a:ext cx="2148840" cy="256032"/>
          </a:xfrm>
          <a:prstGeom prst="rect">
            <a:avLst/>
          </a:prstGeom>
          <a:noFill/>
          <a:ln/>
        </p:spPr>
        <p:txBody>
          <a:bodyPr wrap="square" lIns="0" tIns="0" rIns="0" bIns="0" rtlCol="0" anchor="ctr"/>
          <a:lstStyle/>
          <a:p>
            <a:pPr marL="0" indent="0">
              <a:buNone/>
            </a:pPr>
            <a:r>
              <a:rPr lang="en-US" sz="1400" b="1" dirty="0">
                <a:solidFill>
                  <a:schemeClr val="tx1"/>
                </a:solidFill>
                <a:latin typeface="Calibri" pitchFamily="34" charset="0"/>
                <a:ea typeface="Calibri" pitchFamily="34" charset="-122"/>
                <a:cs typeface="Calibri" pitchFamily="34" charset="-120"/>
              </a:rPr>
              <a:t>Camera tracking</a:t>
            </a:r>
            <a:endParaRPr lang="en-US" sz="1400" dirty="0"/>
          </a:p>
        </p:txBody>
      </p:sp>
      <p:sp>
        <p:nvSpPr>
          <p:cNvPr id="19" name="text-354"/>
          <p:cNvSpPr txBox="1"/>
          <p:nvPr/>
        </p:nvSpPr>
        <p:spPr>
          <a:xfrm>
            <a:off x="3611880" y="4142232"/>
            <a:ext cx="2148840" cy="384048"/>
          </a:xfrm>
          <a:prstGeom prst="rect">
            <a:avLst/>
          </a:prstGeom>
          <a:noFill/>
          <a:ln/>
        </p:spPr>
        <p:txBody>
          <a:bodyPr wrap="square" lIns="0" tIns="0" rIns="0" bIns="0" rtlCol="0" anchor="t"/>
          <a:lstStyle/>
          <a:p>
            <a:pPr marL="0" indent="0">
              <a:buNone/>
            </a:pPr>
            <a:r>
              <a:rPr lang="en-US" sz="1150" dirty="0">
                <a:solidFill>
                  <a:schemeClr val="tx2"/>
                </a:solidFill>
                <a:latin typeface="Calibri" pitchFamily="34" charset="0"/>
                <a:ea typeface="Calibri" pitchFamily="34" charset="-122"/>
                <a:cs typeface="Calibri" pitchFamily="34" charset="-120"/>
              </a:rPr>
              <a:t>Fake-camera video, real MindAR engine</a:t>
            </a:r>
            <a:endParaRPr lang="en-US" sz="1150" dirty="0"/>
          </a:p>
        </p:txBody>
      </p:sp>
      <p:sp>
        <p:nvSpPr>
          <p:cNvPr id="20" name="card-355"/>
          <p:cNvSpPr/>
          <p:nvPr/>
        </p:nvSpPr>
        <p:spPr>
          <a:xfrm>
            <a:off x="548640" y="4846320"/>
            <a:ext cx="5440680" cy="1005840"/>
          </a:xfrm>
          <a:prstGeom prst="roundRect">
            <a:avLst>
              <a:gd name="adj" fmla="val 7273"/>
            </a:avLst>
          </a:prstGeom>
          <a:solidFill>
            <a:schemeClr val="tx1"/>
          </a:solidFill>
          <a:ln w="12700">
            <a:solidFill>
              <a:schemeClr val="tx1"/>
            </a:solidFill>
            <a:prstDash val="solid"/>
          </a:ln>
        </p:spPr>
      </p:sp>
      <p:pic>
        <p:nvPicPr>
          <p:cNvPr id="21" name="icon-356" descr="preencoded.png"/>
          <p:cNvPicPr>
            <a:picLocks noChangeAspect="1"/>
          </p:cNvPicPr>
          <p:nvPr/>
        </p:nvPicPr>
        <p:blipFill>
          <a:blip r:embed="rId3"/>
          <a:stretch>
            <a:fillRect/>
          </a:stretch>
        </p:blipFill>
        <p:spPr>
          <a:xfrm>
            <a:off x="777240" y="4956048"/>
            <a:ext cx="320040" cy="320040"/>
          </a:xfrm>
          <a:prstGeom prst="rect">
            <a:avLst/>
          </a:prstGeom>
        </p:spPr>
      </p:pic>
      <p:sp>
        <p:nvSpPr>
          <p:cNvPr id="22" name="text-357"/>
          <p:cNvSpPr txBox="1"/>
          <p:nvPr/>
        </p:nvSpPr>
        <p:spPr>
          <a:xfrm>
            <a:off x="1207008" y="4937760"/>
            <a:ext cx="4572000" cy="365760"/>
          </a:xfrm>
          <a:prstGeom prst="rect">
            <a:avLst/>
          </a:prstGeom>
          <a:noFill/>
          <a:ln/>
        </p:spPr>
        <p:txBody>
          <a:bodyPr wrap="square" lIns="0" tIns="0" rIns="0" bIns="0" rtlCol="0" anchor="ctr"/>
          <a:lstStyle/>
          <a:p>
            <a:pPr marL="0" indent="0">
              <a:buNone/>
            </a:pPr>
            <a:r>
              <a:rPr lang="en-US" sz="1400" b="1" dirty="0">
                <a:solidFill>
                  <a:schemeClr val="bg1"/>
                </a:solidFill>
                <a:latin typeface="Calibri" pitchFamily="34" charset="0"/>
                <a:ea typeface="Calibri" pitchFamily="34" charset="-122"/>
                <a:cs typeface="Calibri" pitchFamily="34" charset="-120"/>
              </a:rPr>
              <a:t>CI on every push (GitHub Actions)</a:t>
            </a:r>
            <a:endParaRPr lang="en-US" sz="1400" dirty="0"/>
          </a:p>
        </p:txBody>
      </p:sp>
      <p:sp>
        <p:nvSpPr>
          <p:cNvPr id="23" name="text-358"/>
          <p:cNvSpPr txBox="1"/>
          <p:nvPr/>
        </p:nvSpPr>
        <p:spPr>
          <a:xfrm>
            <a:off x="777240" y="5330952"/>
            <a:ext cx="5029200" cy="502920"/>
          </a:xfrm>
          <a:prstGeom prst="rect">
            <a:avLst/>
          </a:prstGeom>
          <a:noFill/>
          <a:ln/>
        </p:spPr>
        <p:txBody>
          <a:bodyPr wrap="square" lIns="0" tIns="0" rIns="0" bIns="0" rtlCol="0" anchor="t"/>
          <a:lstStyle/>
          <a:p>
            <a:pPr marL="0" indent="0">
              <a:buNone/>
            </a:pPr>
            <a:r>
              <a:rPr lang="en-US" sz="1200" dirty="0">
                <a:solidFill>
                  <a:schemeClr val="accent5"/>
                </a:solidFill>
                <a:latin typeface="Calibri" pitchFamily="34" charset="0"/>
                <a:ea typeface="Calibri" pitchFamily="34" charset="-122"/>
                <a:cs typeface="Calibri" pitchFamily="34" charset="-120"/>
              </a:rPr>
              <a:t>Contracts → unit tests → E2E on Postgres 15 → E2E in-memory. The 53 API, browser and camera checks also pass on the live URLs.</a:t>
            </a:r>
            <a:endParaRPr lang="en-US" sz="1200" dirty="0"/>
          </a:p>
        </p:txBody>
      </p:sp>
      <p:sp>
        <p:nvSpPr>
          <p:cNvPr id="24" name="text-359"/>
          <p:cNvSpPr txBox="1"/>
          <p:nvPr/>
        </p:nvSpPr>
        <p:spPr>
          <a:xfrm>
            <a:off x="6400800" y="1600200"/>
            <a:ext cx="5239512" cy="320040"/>
          </a:xfrm>
          <a:prstGeom prst="rect">
            <a:avLst/>
          </a:prstGeom>
          <a:noFill/>
          <a:ln/>
        </p:spPr>
        <p:txBody>
          <a:bodyPr wrap="square" lIns="0" tIns="0" rIns="0" bIns="0" rtlCol="0" anchor="ctr"/>
          <a:lstStyle/>
          <a:p>
            <a:pPr marL="0" indent="0">
              <a:buNone/>
            </a:pPr>
            <a:r>
              <a:rPr lang="en-US" sz="1600" b="1" dirty="0">
                <a:solidFill>
                  <a:schemeClr val="tx1"/>
                </a:solidFill>
                <a:latin typeface="Calibri" pitchFamily="34" charset="0"/>
                <a:ea typeface="Calibri" pitchFamily="34" charset="-122"/>
                <a:cs typeface="Calibri" pitchFamily="34" charset="-120"/>
              </a:rPr>
              <a:t>Failure cases fail gracefully</a:t>
            </a:r>
            <a:endParaRPr lang="en-US" sz="1600" dirty="0"/>
          </a:p>
        </p:txBody>
      </p:sp>
      <p:graphicFrame>
        <p:nvGraphicFramePr>
          <p:cNvPr id="26" name="table-failures"/>
          <p:cNvGraphicFramePr>
            <a:graphicFrameLocks noGrp="1"/>
          </p:cNvGraphicFramePr>
          <p:nvPr>
            <p:extLst>
              <p:ext uri="{D42A27DB-BD31-4B8C-83A1-F6EECF244321}">
                <p14:modId xmlns:p14="http://schemas.microsoft.com/office/powerpoint/2010/main" val="1579011935"/>
              </p:ext>
            </p:extLst>
          </p:nvPr>
        </p:nvGraphicFramePr>
        <p:xfrm>
          <a:off x="6400800" y="2011680"/>
          <a:ext cx="5239512" cy="3712464"/>
        </p:xfrm>
        <a:graphic>
          <a:graphicData uri="http://schemas.openxmlformats.org/drawingml/2006/table">
            <a:tbl>
              <a:tblPr/>
              <a:tblGrid>
                <a:gridCol w="1828800">
                  <a:extLst>
                    <a:ext uri="{9D8B030D-6E8A-4147-A177-3AD203B41FA5}">
                      <a16:colId xmlns:a16="http://schemas.microsoft.com/office/drawing/2014/main" val="20000"/>
                    </a:ext>
                  </a:extLst>
                </a:gridCol>
                <a:gridCol w="3410712">
                  <a:extLst>
                    <a:ext uri="{9D8B030D-6E8A-4147-A177-3AD203B41FA5}">
                      <a16:colId xmlns:a16="http://schemas.microsoft.com/office/drawing/2014/main" val="20001"/>
                    </a:ext>
                  </a:extLst>
                </a:gridCol>
              </a:tblGrid>
              <a:tr h="530352">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What goes wrong</a:t>
                      </a:r>
                      <a:endParaRPr lang="en-US" sz="1250" dirty="0">
                        <a:latin typeface="Calibri" charset="0"/>
                        <a:ea typeface="Calibri" charset="0"/>
                        <a:cs typeface="Calibri" charset="0"/>
                      </a:endParaRPr>
                    </a:p>
                  </a:txBody>
                  <a:tcPr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220"/>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What the user sees</a:t>
                      </a:r>
                      <a:endParaRPr lang="en-US" sz="1250" dirty="0">
                        <a:latin typeface="Calibri" charset="0"/>
                        <a:ea typeface="Calibri" charset="0"/>
                        <a:cs typeface="Calibri" charset="0"/>
                      </a:endParaRPr>
                    </a:p>
                  </a:txBody>
                  <a:tcPr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220"/>
                    </a:solidFill>
                  </a:tcPr>
                </a:tc>
                <a:extLst>
                  <a:ext uri="{0D108BD9-81ED-4DB2-BD59-A6C34878D82A}">
                    <a16:rowId xmlns:a16="http://schemas.microsoft.com/office/drawing/2014/main" val="10000"/>
                  </a:ext>
                </a:extLst>
              </a:tr>
              <a:tr h="530352">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API server down</a:t>
                      </a:r>
                      <a:endParaRPr lang="en-US" sz="1250" dirty="0">
                        <a:latin typeface="Calibri" charset="0"/>
                        <a:ea typeface="Calibri" charset="0"/>
                        <a:cs typeface="Calibri" charset="0"/>
                      </a:endParaRPr>
                    </a:p>
                  </a:txBody>
                  <a:tcPr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Offline banner + sample data; edits disabled</a:t>
                      </a:r>
                      <a:endParaRPr lang="en-US" sz="1250" dirty="0">
                        <a:latin typeface="Calibri" charset="0"/>
                        <a:ea typeface="Calibri" charset="0"/>
                        <a:cs typeface="Calibri" charset="0"/>
                      </a:endParaRPr>
                    </a:p>
                  </a:txBody>
                  <a:tcPr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530352">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Database unreachable</a:t>
                      </a:r>
                      <a:endParaRPr lang="en-US" sz="1250" dirty="0">
                        <a:latin typeface="Calibri" charset="0"/>
                        <a:ea typeface="Calibri" charset="0"/>
                        <a:cs typeface="Calibri" charset="0"/>
                      </a:endParaRPr>
                    </a:p>
                  </a:txBody>
                  <a:tcPr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“Database unavailable” 503 within 10 s</a:t>
                      </a:r>
                      <a:endParaRPr lang="en-US" sz="1250" dirty="0">
                        <a:latin typeface="Calibri" charset="0"/>
                        <a:ea typeface="Calibri" charset="0"/>
                        <a:cs typeface="Calibri" charset="0"/>
                      </a:endParaRPr>
                    </a:p>
                  </a:txBody>
                  <a:tcPr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extLst>
                  <a:ext uri="{0D108BD9-81ED-4DB2-BD59-A6C34878D82A}">
                    <a16:rowId xmlns:a16="http://schemas.microsoft.com/office/drawing/2014/main" val="10002"/>
                  </a:ext>
                </a:extLst>
              </a:tr>
              <a:tr h="530352">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Unknown marker</a:t>
                      </a:r>
                      <a:endParaRPr lang="en-US" sz="1250" dirty="0">
                        <a:latin typeface="Calibri" charset="0"/>
                        <a:ea typeface="Calibri" charset="0"/>
                        <a:cs typeface="Calibri" charset="0"/>
                      </a:endParaRPr>
                    </a:p>
                  </a:txBody>
                  <a:tcPr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“Not linked to any asset”, page keeps working</a:t>
                      </a:r>
                      <a:endParaRPr lang="en-US" sz="1250" dirty="0">
                        <a:latin typeface="Calibri" charset="0"/>
                        <a:ea typeface="Calibri" charset="0"/>
                        <a:cs typeface="Calibri" charset="0"/>
                      </a:endParaRPr>
                    </a:p>
                  </a:txBody>
                  <a:tcPr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530352">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Bad issue form</a:t>
                      </a:r>
                      <a:endParaRPr lang="en-US" sz="1250" dirty="0">
                        <a:latin typeface="Calibri" charset="0"/>
                        <a:ea typeface="Calibri" charset="0"/>
                        <a:cs typeface="Calibri" charset="0"/>
                      </a:endParaRPr>
                    </a:p>
                  </a:txBody>
                  <a:tcPr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400 with the exact reason</a:t>
                      </a:r>
                      <a:endParaRPr lang="en-US" sz="1250" dirty="0">
                        <a:latin typeface="Calibri" charset="0"/>
                        <a:ea typeface="Calibri" charset="0"/>
                        <a:cs typeface="Calibri" charset="0"/>
                      </a:endParaRPr>
                    </a:p>
                  </a:txBody>
                  <a:tcPr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extLst>
                  <a:ext uri="{0D108BD9-81ED-4DB2-BD59-A6C34878D82A}">
                    <a16:rowId xmlns:a16="http://schemas.microsoft.com/office/drawing/2014/main" val="10004"/>
                  </a:ext>
                </a:extLst>
              </a:tr>
              <a:tr h="530352">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Empty database</a:t>
                      </a:r>
                      <a:endParaRPr lang="en-US" sz="1250" dirty="0">
                        <a:latin typeface="Calibri" charset="0"/>
                        <a:ea typeface="Calibri" charset="0"/>
                        <a:cs typeface="Calibri" charset="0"/>
                      </a:endParaRPr>
                    </a:p>
                  </a:txBody>
                  <a:tcPr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Empty states, no crash</a:t>
                      </a:r>
                      <a:endParaRPr lang="en-US" sz="1250" dirty="0">
                        <a:latin typeface="Calibri" charset="0"/>
                        <a:ea typeface="Calibri" charset="0"/>
                        <a:cs typeface="Calibri" charset="0"/>
                      </a:endParaRPr>
                    </a:p>
                  </a:txBody>
                  <a:tcPr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r h="530352">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Camera denied</a:t>
                      </a:r>
                      <a:endParaRPr lang="en-US" sz="1250" dirty="0">
                        <a:latin typeface="Calibri" charset="0"/>
                        <a:ea typeface="Calibri" charset="0"/>
                        <a:cs typeface="Calibri" charset="0"/>
                      </a:endParaRPr>
                    </a:p>
                  </a:txBody>
                  <a:tcPr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Explanation + manual marker picker</a:t>
                      </a:r>
                      <a:endParaRPr lang="en-US" sz="1250" dirty="0">
                        <a:latin typeface="Calibri" charset="0"/>
                        <a:ea typeface="Calibri" charset="0"/>
                        <a:cs typeface="Calibri" charset="0"/>
                      </a:endParaRPr>
                    </a:p>
                  </a:txBody>
                  <a:tcPr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47472"/>
            <a:ext cx="8229600" cy="274320"/>
          </a:xfrm>
          <a:prstGeom prst="rect">
            <a:avLst/>
          </a:prstGeom>
          <a:noFill/>
          <a:ln/>
        </p:spPr>
        <p:txBody>
          <a:bodyPr wrap="square" lIns="0" tIns="0" rIns="0" bIns="0" rtlCol="0" anchor="ctr"/>
          <a:lstStyle/>
          <a:p>
            <a:pPr marL="0" indent="0">
              <a:buNone/>
            </a:pPr>
            <a:r>
              <a:rPr lang="en-US" sz="1200" b="1" kern="0" spc="200" dirty="0">
                <a:solidFill>
                  <a:schemeClr val="accent1"/>
                </a:solidFill>
              </a:rPr>
              <a:t>DEPLOYMENT &amp; SECURITY</a:t>
            </a:r>
            <a:endParaRPr lang="en-US" sz="1200" dirty="0"/>
          </a:p>
        </p:txBody>
      </p:sp>
      <p:sp>
        <p:nvSpPr>
          <p:cNvPr id="3" name="Text 0"/>
          <p:cNvSpPr>
            <a:spLocks noGrp="1"/>
          </p:cNvSpPr>
          <p:nvPr>
            <p:ph type="title" idx="101" hasCustomPrompt="1"/>
          </p:nvPr>
        </p:nvSpPr>
        <p:spPr>
          <a:xfrm>
            <a:off x="548640" y="621792"/>
            <a:ext cx="11094415"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Free-tier cloud, HTTPS end to end, no secrets in git</a:t>
            </a:r>
            <a:endParaRPr lang="en-US" sz="3000" dirty="0"/>
          </a:p>
        </p:txBody>
      </p:sp>
      <p:sp>
        <p:nvSpPr>
          <p:cNvPr id="4" name="card-360"/>
          <p:cNvSpPr/>
          <p:nvPr/>
        </p:nvSpPr>
        <p:spPr>
          <a:xfrm>
            <a:off x="548640" y="2514600"/>
            <a:ext cx="2103120" cy="868680"/>
          </a:xfrm>
          <a:prstGeom prst="roundRect">
            <a:avLst>
              <a:gd name="adj" fmla="val 8421"/>
            </a:avLst>
          </a:prstGeom>
          <a:solidFill>
            <a:schemeClr val="bg2"/>
          </a:solidFill>
          <a:ln w="12700">
            <a:solidFill>
              <a:schemeClr val="bg2"/>
            </a:solidFill>
            <a:prstDash val="solid"/>
          </a:ln>
        </p:spPr>
      </p:sp>
      <p:pic>
        <p:nvPicPr>
          <p:cNvPr id="5" name="icon-361" descr="preencoded.png"/>
          <p:cNvPicPr>
            <a:picLocks noChangeAspect="1"/>
          </p:cNvPicPr>
          <p:nvPr/>
        </p:nvPicPr>
        <p:blipFill>
          <a:blip r:embed="rId3"/>
          <a:stretch>
            <a:fillRect/>
          </a:stretch>
        </p:blipFill>
        <p:spPr>
          <a:xfrm>
            <a:off x="713232" y="2761488"/>
            <a:ext cx="365760" cy="365760"/>
          </a:xfrm>
          <a:prstGeom prst="rect">
            <a:avLst/>
          </a:prstGeom>
        </p:spPr>
      </p:pic>
      <p:sp>
        <p:nvSpPr>
          <p:cNvPr id="6" name="text-362"/>
          <p:cNvSpPr txBox="1"/>
          <p:nvPr/>
        </p:nvSpPr>
        <p:spPr>
          <a:xfrm>
            <a:off x="1188720" y="2624328"/>
            <a:ext cx="1371600" cy="347472"/>
          </a:xfrm>
          <a:prstGeom prst="rect">
            <a:avLst/>
          </a:prstGeom>
          <a:noFill/>
          <a:ln/>
        </p:spPr>
        <p:txBody>
          <a:bodyPr wrap="square" lIns="0" tIns="0" rIns="0" bIns="0" rtlCol="0" anchor="ctr"/>
          <a:lstStyle/>
          <a:p>
            <a:pPr marL="0" indent="0">
              <a:buNone/>
            </a:pPr>
            <a:r>
              <a:rPr lang="en-US" sz="1400" b="1" dirty="0">
                <a:solidFill>
                  <a:schemeClr val="tx1"/>
                </a:solidFill>
                <a:latin typeface="Calibri" pitchFamily="34" charset="0"/>
                <a:ea typeface="Calibri" pitchFamily="34" charset="-122"/>
                <a:cs typeface="Calibri" pitchFamily="34" charset="-120"/>
              </a:rPr>
              <a:t>Developer</a:t>
            </a:r>
            <a:endParaRPr lang="en-US" sz="1400" dirty="0"/>
          </a:p>
        </p:txBody>
      </p:sp>
      <p:sp>
        <p:nvSpPr>
          <p:cNvPr id="7" name="text-363"/>
          <p:cNvSpPr txBox="1"/>
          <p:nvPr/>
        </p:nvSpPr>
        <p:spPr>
          <a:xfrm>
            <a:off x="1188720" y="2971800"/>
            <a:ext cx="1371600" cy="274320"/>
          </a:xfrm>
          <a:prstGeom prst="rect">
            <a:avLst/>
          </a:prstGeom>
          <a:noFill/>
          <a:ln/>
        </p:spPr>
        <p:txBody>
          <a:bodyPr wrap="square" lIns="0" tIns="0" rIns="0" bIns="0" rtlCol="0" anchor="ctr"/>
          <a:lstStyle/>
          <a:p>
            <a:pPr marL="0" indent="0">
              <a:buNone/>
            </a:pPr>
            <a:r>
              <a:rPr lang="en-US" sz="1100" dirty="0">
                <a:solidFill>
                  <a:schemeClr val="tx2"/>
                </a:solidFill>
                <a:latin typeface="Courier New" pitchFamily="34" charset="0"/>
                <a:ea typeface="Courier New" pitchFamily="34" charset="-122"/>
                <a:cs typeface="Courier New" pitchFamily="34" charset="-120"/>
              </a:rPr>
              <a:t>git push</a:t>
            </a:r>
            <a:endParaRPr lang="en-US" sz="1100" dirty="0"/>
          </a:p>
        </p:txBody>
      </p:sp>
      <p:sp>
        <p:nvSpPr>
          <p:cNvPr id="8" name="card-364"/>
          <p:cNvSpPr/>
          <p:nvPr/>
        </p:nvSpPr>
        <p:spPr>
          <a:xfrm>
            <a:off x="3063240" y="2514600"/>
            <a:ext cx="2377440" cy="868680"/>
          </a:xfrm>
          <a:prstGeom prst="roundRect">
            <a:avLst>
              <a:gd name="adj" fmla="val 8421"/>
            </a:avLst>
          </a:prstGeom>
          <a:solidFill>
            <a:schemeClr val="tx1"/>
          </a:solidFill>
          <a:ln w="12700">
            <a:solidFill>
              <a:schemeClr val="tx1"/>
            </a:solidFill>
            <a:prstDash val="solid"/>
          </a:ln>
        </p:spPr>
      </p:sp>
      <p:pic>
        <p:nvPicPr>
          <p:cNvPr id="9" name="icon-365" descr="preencoded.png"/>
          <p:cNvPicPr>
            <a:picLocks noChangeAspect="1"/>
          </p:cNvPicPr>
          <p:nvPr/>
        </p:nvPicPr>
        <p:blipFill>
          <a:blip r:embed="rId4"/>
          <a:stretch>
            <a:fillRect/>
          </a:stretch>
        </p:blipFill>
        <p:spPr>
          <a:xfrm>
            <a:off x="3227832" y="2761488"/>
            <a:ext cx="365760" cy="365760"/>
          </a:xfrm>
          <a:prstGeom prst="rect">
            <a:avLst/>
          </a:prstGeom>
        </p:spPr>
      </p:pic>
      <p:sp>
        <p:nvSpPr>
          <p:cNvPr id="10" name="text-366"/>
          <p:cNvSpPr txBox="1"/>
          <p:nvPr/>
        </p:nvSpPr>
        <p:spPr>
          <a:xfrm>
            <a:off x="3703320" y="2624328"/>
            <a:ext cx="1645920" cy="347472"/>
          </a:xfrm>
          <a:prstGeom prst="rect">
            <a:avLst/>
          </a:prstGeom>
          <a:noFill/>
          <a:ln/>
        </p:spPr>
        <p:txBody>
          <a:bodyPr wrap="square" lIns="0" tIns="0" rIns="0" bIns="0" rtlCol="0" anchor="ctr"/>
          <a:lstStyle/>
          <a:p>
            <a:pPr marL="0" indent="0">
              <a:buNone/>
            </a:pPr>
            <a:r>
              <a:rPr lang="en-US" sz="1400" b="1" dirty="0">
                <a:solidFill>
                  <a:schemeClr val="bg1"/>
                </a:solidFill>
                <a:latin typeface="Calibri" pitchFamily="34" charset="0"/>
                <a:ea typeface="Calibri" pitchFamily="34" charset="-122"/>
                <a:cs typeface="Calibri" pitchFamily="34" charset="-120"/>
              </a:rPr>
              <a:t>GitHub + CI</a:t>
            </a:r>
            <a:endParaRPr lang="en-US" sz="1400" dirty="0"/>
          </a:p>
        </p:txBody>
      </p:sp>
      <p:sp>
        <p:nvSpPr>
          <p:cNvPr id="11" name="text-367"/>
          <p:cNvSpPr txBox="1"/>
          <p:nvPr/>
        </p:nvSpPr>
        <p:spPr>
          <a:xfrm>
            <a:off x="3703320" y="2971800"/>
            <a:ext cx="1645920" cy="274320"/>
          </a:xfrm>
          <a:prstGeom prst="rect">
            <a:avLst/>
          </a:prstGeom>
          <a:noFill/>
          <a:ln/>
        </p:spPr>
        <p:txBody>
          <a:bodyPr wrap="square" lIns="0" tIns="0" rIns="0" bIns="0" rtlCol="0" anchor="ctr"/>
          <a:lstStyle/>
          <a:p>
            <a:pPr marL="0" indent="0">
              <a:buNone/>
            </a:pPr>
            <a:r>
              <a:rPr lang="en-US" sz="1100" dirty="0">
                <a:solidFill>
                  <a:schemeClr val="accent5"/>
                </a:solidFill>
                <a:latin typeface="Courier New" pitchFamily="34" charset="0"/>
                <a:ea typeface="Courier New" pitchFamily="34" charset="-122"/>
                <a:cs typeface="Courier New" pitchFamily="34" charset="-120"/>
              </a:rPr>
              <a:t>ARVR_CA3</a:t>
            </a:r>
            <a:endParaRPr lang="en-US" sz="1100" dirty="0"/>
          </a:p>
        </p:txBody>
      </p:sp>
      <p:sp>
        <p:nvSpPr>
          <p:cNvPr id="12" name="card-368"/>
          <p:cNvSpPr/>
          <p:nvPr/>
        </p:nvSpPr>
        <p:spPr>
          <a:xfrm>
            <a:off x="6126480" y="1554480"/>
            <a:ext cx="2606040" cy="868680"/>
          </a:xfrm>
          <a:prstGeom prst="roundRect">
            <a:avLst>
              <a:gd name="adj" fmla="val 8421"/>
            </a:avLst>
          </a:prstGeom>
          <a:solidFill>
            <a:schemeClr val="bg2"/>
          </a:solidFill>
          <a:ln w="12700">
            <a:solidFill>
              <a:schemeClr val="bg2"/>
            </a:solidFill>
            <a:prstDash val="solid"/>
          </a:ln>
        </p:spPr>
      </p:sp>
      <p:pic>
        <p:nvPicPr>
          <p:cNvPr id="13" name="icon-369" descr="preencoded.png"/>
          <p:cNvPicPr>
            <a:picLocks noChangeAspect="1"/>
          </p:cNvPicPr>
          <p:nvPr/>
        </p:nvPicPr>
        <p:blipFill>
          <a:blip r:embed="rId5"/>
          <a:stretch>
            <a:fillRect/>
          </a:stretch>
        </p:blipFill>
        <p:spPr>
          <a:xfrm>
            <a:off x="6291072" y="1801368"/>
            <a:ext cx="365760" cy="365760"/>
          </a:xfrm>
          <a:prstGeom prst="rect">
            <a:avLst/>
          </a:prstGeom>
        </p:spPr>
      </p:pic>
      <p:sp>
        <p:nvSpPr>
          <p:cNvPr id="14" name="text-370"/>
          <p:cNvSpPr txBox="1"/>
          <p:nvPr/>
        </p:nvSpPr>
        <p:spPr>
          <a:xfrm>
            <a:off x="6766560" y="1664208"/>
            <a:ext cx="1874520" cy="347472"/>
          </a:xfrm>
          <a:prstGeom prst="rect">
            <a:avLst/>
          </a:prstGeom>
          <a:noFill/>
          <a:ln/>
        </p:spPr>
        <p:txBody>
          <a:bodyPr wrap="square" lIns="0" tIns="0" rIns="0" bIns="0" rtlCol="0" anchor="ctr"/>
          <a:lstStyle/>
          <a:p>
            <a:pPr marL="0" indent="0">
              <a:buNone/>
            </a:pPr>
            <a:r>
              <a:rPr lang="en-US" sz="1400" b="1" dirty="0">
                <a:solidFill>
                  <a:schemeClr val="tx1"/>
                </a:solidFill>
                <a:latin typeface="Calibri" pitchFamily="34" charset="0"/>
                <a:ea typeface="Calibri" pitchFamily="34" charset="-122"/>
                <a:cs typeface="Calibri" pitchFamily="34" charset="-120"/>
              </a:rPr>
              <a:t>Netlify · Scanner</a:t>
            </a:r>
            <a:endParaRPr lang="en-US" sz="1400" dirty="0"/>
          </a:p>
        </p:txBody>
      </p:sp>
      <p:sp>
        <p:nvSpPr>
          <p:cNvPr id="15" name="text-371"/>
          <p:cNvSpPr txBox="1"/>
          <p:nvPr/>
        </p:nvSpPr>
        <p:spPr>
          <a:xfrm>
            <a:off x="6766560" y="2011680"/>
            <a:ext cx="1874520" cy="274320"/>
          </a:xfrm>
          <a:prstGeom prst="rect">
            <a:avLst/>
          </a:prstGeom>
          <a:noFill/>
          <a:ln/>
        </p:spPr>
        <p:txBody>
          <a:bodyPr wrap="square" lIns="0" tIns="0" rIns="0" bIns="0" rtlCol="0" anchor="ctr"/>
          <a:lstStyle/>
          <a:p>
            <a:pPr marL="0" indent="0">
              <a:buNone/>
            </a:pPr>
            <a:r>
              <a:rPr lang="en-US" sz="1100" dirty="0">
                <a:solidFill>
                  <a:schemeClr val="tx2"/>
                </a:solidFill>
                <a:latin typeface="Courier New" pitchFamily="34" charset="0"/>
                <a:ea typeface="Courier New" pitchFamily="34" charset="-122"/>
                <a:cs typeface="Courier New" pitchFamily="34" charset="-120"/>
              </a:rPr>
              <a:t>arvrca3</a:t>
            </a:r>
            <a:endParaRPr lang="en-US" sz="1100" dirty="0"/>
          </a:p>
        </p:txBody>
      </p:sp>
      <p:sp>
        <p:nvSpPr>
          <p:cNvPr id="16" name="card-372"/>
          <p:cNvSpPr/>
          <p:nvPr/>
        </p:nvSpPr>
        <p:spPr>
          <a:xfrm>
            <a:off x="6126480" y="2514600"/>
            <a:ext cx="2606040" cy="868680"/>
          </a:xfrm>
          <a:prstGeom prst="roundRect">
            <a:avLst>
              <a:gd name="adj" fmla="val 8421"/>
            </a:avLst>
          </a:prstGeom>
          <a:solidFill>
            <a:schemeClr val="bg2"/>
          </a:solidFill>
          <a:ln w="12700">
            <a:solidFill>
              <a:schemeClr val="bg2"/>
            </a:solidFill>
            <a:prstDash val="solid"/>
          </a:ln>
        </p:spPr>
      </p:sp>
      <p:pic>
        <p:nvPicPr>
          <p:cNvPr id="17" name="icon-373" descr="preencoded.png"/>
          <p:cNvPicPr>
            <a:picLocks noChangeAspect="1"/>
          </p:cNvPicPr>
          <p:nvPr/>
        </p:nvPicPr>
        <p:blipFill>
          <a:blip r:embed="rId6"/>
          <a:stretch>
            <a:fillRect/>
          </a:stretch>
        </p:blipFill>
        <p:spPr>
          <a:xfrm>
            <a:off x="6291072" y="2761488"/>
            <a:ext cx="365760" cy="365760"/>
          </a:xfrm>
          <a:prstGeom prst="rect">
            <a:avLst/>
          </a:prstGeom>
        </p:spPr>
      </p:pic>
      <p:sp>
        <p:nvSpPr>
          <p:cNvPr id="18" name="text-374"/>
          <p:cNvSpPr txBox="1"/>
          <p:nvPr/>
        </p:nvSpPr>
        <p:spPr>
          <a:xfrm>
            <a:off x="6766560" y="2624328"/>
            <a:ext cx="1874520" cy="347472"/>
          </a:xfrm>
          <a:prstGeom prst="rect">
            <a:avLst/>
          </a:prstGeom>
          <a:noFill/>
          <a:ln/>
        </p:spPr>
        <p:txBody>
          <a:bodyPr wrap="square" lIns="0" tIns="0" rIns="0" bIns="0" rtlCol="0" anchor="ctr"/>
          <a:lstStyle/>
          <a:p>
            <a:pPr marL="0" indent="0">
              <a:buNone/>
            </a:pPr>
            <a:r>
              <a:rPr lang="en-US" sz="1400" b="1" dirty="0">
                <a:solidFill>
                  <a:schemeClr val="tx1"/>
                </a:solidFill>
                <a:latin typeface="Calibri" pitchFamily="34" charset="0"/>
                <a:ea typeface="Calibri" pitchFamily="34" charset="-122"/>
                <a:cs typeface="Calibri" pitchFamily="34" charset="-120"/>
              </a:rPr>
              <a:t>Netlify · Dashboard</a:t>
            </a:r>
            <a:endParaRPr lang="en-US" sz="1400" dirty="0"/>
          </a:p>
        </p:txBody>
      </p:sp>
      <p:sp>
        <p:nvSpPr>
          <p:cNvPr id="19" name="text-375"/>
          <p:cNvSpPr txBox="1"/>
          <p:nvPr/>
        </p:nvSpPr>
        <p:spPr>
          <a:xfrm>
            <a:off x="6766560" y="2971800"/>
            <a:ext cx="1874520" cy="274320"/>
          </a:xfrm>
          <a:prstGeom prst="rect">
            <a:avLst/>
          </a:prstGeom>
          <a:noFill/>
          <a:ln/>
        </p:spPr>
        <p:txBody>
          <a:bodyPr wrap="square" lIns="0" tIns="0" rIns="0" bIns="0" rtlCol="0" anchor="ctr"/>
          <a:lstStyle/>
          <a:p>
            <a:pPr marL="0" indent="0">
              <a:buNone/>
            </a:pPr>
            <a:r>
              <a:rPr lang="en-US" sz="1100" dirty="0">
                <a:solidFill>
                  <a:schemeClr val="tx2"/>
                </a:solidFill>
                <a:latin typeface="Courier New" pitchFamily="34" charset="0"/>
                <a:ea typeface="Courier New" pitchFamily="34" charset="-122"/>
                <a:cs typeface="Courier New" pitchFamily="34" charset="-120"/>
              </a:rPr>
              <a:t>arvrdashboard</a:t>
            </a:r>
            <a:endParaRPr lang="en-US" sz="1100" dirty="0"/>
          </a:p>
        </p:txBody>
      </p:sp>
      <p:sp>
        <p:nvSpPr>
          <p:cNvPr id="20" name="card-376"/>
          <p:cNvSpPr/>
          <p:nvPr/>
        </p:nvSpPr>
        <p:spPr>
          <a:xfrm>
            <a:off x="6126480" y="3474720"/>
            <a:ext cx="2606040" cy="868680"/>
          </a:xfrm>
          <a:prstGeom prst="roundRect">
            <a:avLst>
              <a:gd name="adj" fmla="val 8421"/>
            </a:avLst>
          </a:prstGeom>
          <a:solidFill>
            <a:schemeClr val="bg2"/>
          </a:solidFill>
          <a:ln w="12700">
            <a:solidFill>
              <a:schemeClr val="bg2"/>
            </a:solidFill>
            <a:prstDash val="solid"/>
          </a:ln>
        </p:spPr>
      </p:sp>
      <p:pic>
        <p:nvPicPr>
          <p:cNvPr id="21" name="icon-377" descr="preencoded.png"/>
          <p:cNvPicPr>
            <a:picLocks noChangeAspect="1"/>
          </p:cNvPicPr>
          <p:nvPr/>
        </p:nvPicPr>
        <p:blipFill>
          <a:blip r:embed="rId7"/>
          <a:stretch>
            <a:fillRect/>
          </a:stretch>
        </p:blipFill>
        <p:spPr>
          <a:xfrm>
            <a:off x="6291072" y="3721608"/>
            <a:ext cx="365760" cy="365760"/>
          </a:xfrm>
          <a:prstGeom prst="rect">
            <a:avLst/>
          </a:prstGeom>
        </p:spPr>
      </p:pic>
      <p:sp>
        <p:nvSpPr>
          <p:cNvPr id="22" name="text-378"/>
          <p:cNvSpPr txBox="1"/>
          <p:nvPr/>
        </p:nvSpPr>
        <p:spPr>
          <a:xfrm>
            <a:off x="6766560" y="3584448"/>
            <a:ext cx="1874520" cy="347472"/>
          </a:xfrm>
          <a:prstGeom prst="rect">
            <a:avLst/>
          </a:prstGeom>
          <a:noFill/>
          <a:ln/>
        </p:spPr>
        <p:txBody>
          <a:bodyPr wrap="square" lIns="0" tIns="0" rIns="0" bIns="0" rtlCol="0" anchor="ctr"/>
          <a:lstStyle/>
          <a:p>
            <a:pPr marL="0" indent="0">
              <a:buNone/>
            </a:pPr>
            <a:r>
              <a:rPr lang="en-US" sz="1400" b="1" dirty="0">
                <a:solidFill>
                  <a:schemeClr val="tx1"/>
                </a:solidFill>
                <a:latin typeface="Calibri" pitchFamily="34" charset="0"/>
                <a:ea typeface="Calibri" pitchFamily="34" charset="-122"/>
                <a:cs typeface="Calibri" pitchFamily="34" charset="-120"/>
              </a:rPr>
              <a:t>Render · API</a:t>
            </a:r>
            <a:endParaRPr lang="en-US" sz="1400" dirty="0"/>
          </a:p>
        </p:txBody>
      </p:sp>
      <p:sp>
        <p:nvSpPr>
          <p:cNvPr id="23" name="text-379"/>
          <p:cNvSpPr txBox="1"/>
          <p:nvPr/>
        </p:nvSpPr>
        <p:spPr>
          <a:xfrm>
            <a:off x="6766560" y="3931920"/>
            <a:ext cx="1874520" cy="274320"/>
          </a:xfrm>
          <a:prstGeom prst="rect">
            <a:avLst/>
          </a:prstGeom>
          <a:noFill/>
          <a:ln/>
        </p:spPr>
        <p:txBody>
          <a:bodyPr wrap="square" lIns="0" tIns="0" rIns="0" bIns="0" rtlCol="0" anchor="ctr"/>
          <a:lstStyle/>
          <a:p>
            <a:pPr marL="0" indent="0">
              <a:buNone/>
            </a:pPr>
            <a:r>
              <a:rPr lang="en-US" sz="1100" dirty="0">
                <a:solidFill>
                  <a:schemeClr val="tx2"/>
                </a:solidFill>
                <a:latin typeface="Courier New" pitchFamily="34" charset="0"/>
                <a:ea typeface="Courier New" pitchFamily="34" charset="-122"/>
                <a:cs typeface="Courier New" pitchFamily="34" charset="-120"/>
              </a:rPr>
              <a:t>render.yaml</a:t>
            </a:r>
            <a:endParaRPr lang="en-US" sz="1100" dirty="0"/>
          </a:p>
        </p:txBody>
      </p:sp>
      <p:sp>
        <p:nvSpPr>
          <p:cNvPr id="24" name="card-380"/>
          <p:cNvSpPr/>
          <p:nvPr/>
        </p:nvSpPr>
        <p:spPr>
          <a:xfrm>
            <a:off x="9262872" y="3474720"/>
            <a:ext cx="2377440" cy="868680"/>
          </a:xfrm>
          <a:prstGeom prst="roundRect">
            <a:avLst>
              <a:gd name="adj" fmla="val 8421"/>
            </a:avLst>
          </a:prstGeom>
          <a:solidFill>
            <a:schemeClr val="bg2"/>
          </a:solidFill>
          <a:ln w="12700">
            <a:solidFill>
              <a:schemeClr val="bg2"/>
            </a:solidFill>
            <a:prstDash val="solid"/>
          </a:ln>
        </p:spPr>
      </p:sp>
      <p:pic>
        <p:nvPicPr>
          <p:cNvPr id="25" name="icon-381" descr="preencoded.png"/>
          <p:cNvPicPr>
            <a:picLocks noChangeAspect="1"/>
          </p:cNvPicPr>
          <p:nvPr/>
        </p:nvPicPr>
        <p:blipFill>
          <a:blip r:embed="rId8"/>
          <a:stretch>
            <a:fillRect/>
          </a:stretch>
        </p:blipFill>
        <p:spPr>
          <a:xfrm>
            <a:off x="9427464" y="3721608"/>
            <a:ext cx="365760" cy="365760"/>
          </a:xfrm>
          <a:prstGeom prst="rect">
            <a:avLst/>
          </a:prstGeom>
        </p:spPr>
      </p:pic>
      <p:sp>
        <p:nvSpPr>
          <p:cNvPr id="26" name="text-382"/>
          <p:cNvSpPr txBox="1"/>
          <p:nvPr/>
        </p:nvSpPr>
        <p:spPr>
          <a:xfrm>
            <a:off x="9902952" y="3584448"/>
            <a:ext cx="1645920" cy="347472"/>
          </a:xfrm>
          <a:prstGeom prst="rect">
            <a:avLst/>
          </a:prstGeom>
          <a:noFill/>
          <a:ln/>
        </p:spPr>
        <p:txBody>
          <a:bodyPr wrap="square" lIns="0" tIns="0" rIns="0" bIns="0" rtlCol="0" anchor="ctr"/>
          <a:lstStyle/>
          <a:p>
            <a:pPr marL="0" indent="0">
              <a:buNone/>
            </a:pPr>
            <a:r>
              <a:rPr lang="en-US" sz="1400" b="1" dirty="0">
                <a:solidFill>
                  <a:schemeClr val="tx1"/>
                </a:solidFill>
                <a:latin typeface="Calibri" pitchFamily="34" charset="0"/>
                <a:ea typeface="Calibri" pitchFamily="34" charset="-122"/>
                <a:cs typeface="Calibri" pitchFamily="34" charset="-120"/>
              </a:rPr>
              <a:t>Supabase · DB</a:t>
            </a:r>
            <a:endParaRPr lang="en-US" sz="1400" dirty="0"/>
          </a:p>
        </p:txBody>
      </p:sp>
      <p:sp>
        <p:nvSpPr>
          <p:cNvPr id="27" name="text-383"/>
          <p:cNvSpPr txBox="1"/>
          <p:nvPr/>
        </p:nvSpPr>
        <p:spPr>
          <a:xfrm>
            <a:off x="9902952" y="3931920"/>
            <a:ext cx="1645920" cy="274320"/>
          </a:xfrm>
          <a:prstGeom prst="rect">
            <a:avLst/>
          </a:prstGeom>
          <a:noFill/>
          <a:ln/>
        </p:spPr>
        <p:txBody>
          <a:bodyPr wrap="square" lIns="0" tIns="0" rIns="0" bIns="0" rtlCol="0" anchor="ctr"/>
          <a:lstStyle/>
          <a:p>
            <a:pPr marL="0" indent="0">
              <a:buNone/>
            </a:pPr>
            <a:r>
              <a:rPr lang="en-US" sz="1100" dirty="0">
                <a:solidFill>
                  <a:schemeClr val="tx2"/>
                </a:solidFill>
                <a:latin typeface="Courier New" pitchFamily="34" charset="0"/>
                <a:ea typeface="Courier New" pitchFamily="34" charset="-122"/>
                <a:cs typeface="Courier New" pitchFamily="34" charset="-120"/>
              </a:rPr>
              <a:t>PostgreSQL</a:t>
            </a:r>
            <a:endParaRPr lang="en-US" sz="1100" dirty="0"/>
          </a:p>
        </p:txBody>
      </p:sp>
      <p:sp>
        <p:nvSpPr>
          <p:cNvPr id="28" name="line-384"/>
          <p:cNvSpPr/>
          <p:nvPr/>
        </p:nvSpPr>
        <p:spPr>
          <a:xfrm>
            <a:off x="2651760" y="2948940"/>
            <a:ext cx="411480" cy="0"/>
          </a:xfrm>
          <a:prstGeom prst="line">
            <a:avLst/>
          </a:prstGeom>
          <a:noFill/>
          <a:ln w="19050">
            <a:solidFill>
              <a:schemeClr val="tx2"/>
            </a:solidFill>
            <a:prstDash val="solid"/>
            <a:tailEnd type="triangle"/>
          </a:ln>
        </p:spPr>
      </p:sp>
      <p:sp>
        <p:nvSpPr>
          <p:cNvPr id="29" name="line-385"/>
          <p:cNvSpPr/>
          <p:nvPr/>
        </p:nvSpPr>
        <p:spPr>
          <a:xfrm flipV="1">
            <a:off x="5440680" y="1993392"/>
            <a:ext cx="685800" cy="795528"/>
          </a:xfrm>
          <a:prstGeom prst="line">
            <a:avLst/>
          </a:prstGeom>
          <a:noFill/>
          <a:ln w="19050">
            <a:solidFill>
              <a:schemeClr val="tx2"/>
            </a:solidFill>
            <a:prstDash val="solid"/>
            <a:tailEnd type="triangle"/>
          </a:ln>
        </p:spPr>
      </p:sp>
      <p:sp>
        <p:nvSpPr>
          <p:cNvPr id="30" name="line-386"/>
          <p:cNvSpPr/>
          <p:nvPr/>
        </p:nvSpPr>
        <p:spPr>
          <a:xfrm>
            <a:off x="5440680" y="2948940"/>
            <a:ext cx="685800" cy="0"/>
          </a:xfrm>
          <a:prstGeom prst="line">
            <a:avLst/>
          </a:prstGeom>
          <a:noFill/>
          <a:ln w="19050">
            <a:solidFill>
              <a:schemeClr val="tx2"/>
            </a:solidFill>
            <a:prstDash val="solid"/>
            <a:tailEnd type="triangle"/>
          </a:ln>
        </p:spPr>
      </p:sp>
      <p:sp>
        <p:nvSpPr>
          <p:cNvPr id="31" name="line-387"/>
          <p:cNvSpPr/>
          <p:nvPr/>
        </p:nvSpPr>
        <p:spPr>
          <a:xfrm>
            <a:off x="5440680" y="3108960"/>
            <a:ext cx="685800" cy="795528"/>
          </a:xfrm>
          <a:prstGeom prst="line">
            <a:avLst/>
          </a:prstGeom>
          <a:noFill/>
          <a:ln w="19050">
            <a:solidFill>
              <a:schemeClr val="tx2"/>
            </a:solidFill>
            <a:prstDash val="solid"/>
            <a:tailEnd type="triangle"/>
          </a:ln>
        </p:spPr>
      </p:sp>
      <p:sp>
        <p:nvSpPr>
          <p:cNvPr id="32" name="line-388"/>
          <p:cNvSpPr/>
          <p:nvPr/>
        </p:nvSpPr>
        <p:spPr>
          <a:xfrm>
            <a:off x="8732520" y="3909060"/>
            <a:ext cx="530352" cy="0"/>
          </a:xfrm>
          <a:prstGeom prst="line">
            <a:avLst/>
          </a:prstGeom>
          <a:noFill/>
          <a:ln w="19050">
            <a:solidFill>
              <a:schemeClr val="tx2"/>
            </a:solidFill>
            <a:prstDash val="solid"/>
            <a:tailEnd type="triangle"/>
          </a:ln>
        </p:spPr>
      </p:sp>
      <p:sp>
        <p:nvSpPr>
          <p:cNvPr id="33" name="text-389"/>
          <p:cNvSpPr txBox="1"/>
          <p:nvPr/>
        </p:nvSpPr>
        <p:spPr>
          <a:xfrm>
            <a:off x="3063240" y="3474720"/>
            <a:ext cx="2377440" cy="256032"/>
          </a:xfrm>
          <a:prstGeom prst="rect">
            <a:avLst/>
          </a:prstGeom>
          <a:noFill/>
          <a:ln/>
        </p:spPr>
        <p:txBody>
          <a:bodyPr wrap="square" lIns="0" tIns="0" rIns="0" bIns="0" rtlCol="0" anchor="ctr"/>
          <a:lstStyle/>
          <a:p>
            <a:pPr marL="0" indent="0" algn="ctr">
              <a:buNone/>
            </a:pPr>
            <a:r>
              <a:rPr lang="en-US" sz="1100" i="1" dirty="0">
                <a:solidFill>
                  <a:schemeClr val="tx2"/>
                </a:solidFill>
                <a:latin typeface="Calibri" pitchFamily="34" charset="0"/>
                <a:ea typeface="Calibri" pitchFamily="34" charset="-122"/>
                <a:cs typeface="Calibri" pitchFamily="34" charset="-120"/>
              </a:rPr>
              <a:t>auto-deploy on push</a:t>
            </a:r>
            <a:endParaRPr lang="en-US" sz="1100" dirty="0"/>
          </a:p>
        </p:txBody>
      </p:sp>
      <p:sp>
        <p:nvSpPr>
          <p:cNvPr id="34" name="text-390"/>
          <p:cNvSpPr txBox="1"/>
          <p:nvPr/>
        </p:nvSpPr>
        <p:spPr>
          <a:xfrm>
            <a:off x="9262872" y="2606040"/>
            <a:ext cx="2377440" cy="548640"/>
          </a:xfrm>
          <a:prstGeom prst="rect">
            <a:avLst/>
          </a:prstGeom>
          <a:noFill/>
          <a:ln/>
        </p:spPr>
        <p:txBody>
          <a:bodyPr wrap="square" lIns="0" tIns="0" rIns="0" bIns="0" rtlCol="0" anchor="t"/>
          <a:lstStyle/>
          <a:p>
            <a:pPr marL="0" indent="0">
              <a:buNone/>
            </a:pPr>
            <a:r>
              <a:rPr lang="en-US" sz="1100" i="1" dirty="0">
                <a:solidFill>
                  <a:schemeClr val="tx2"/>
                </a:solidFill>
                <a:latin typeface="Calibri" pitchFamily="34" charset="0"/>
                <a:ea typeface="Calibri" pitchFamily="34" charset="-122"/>
                <a:cs typeface="Calibri" pitchFamily="34" charset="-120"/>
              </a:rPr>
              <a:t>API URL injected into env.js at build</a:t>
            </a:r>
            <a:endParaRPr lang="en-US" sz="1100" dirty="0"/>
          </a:p>
        </p:txBody>
      </p:sp>
      <p:sp>
        <p:nvSpPr>
          <p:cNvPr id="35" name="card-391"/>
          <p:cNvSpPr/>
          <p:nvPr/>
        </p:nvSpPr>
        <p:spPr>
          <a:xfrm>
            <a:off x="548640" y="4572000"/>
            <a:ext cx="2567864" cy="1280160"/>
          </a:xfrm>
          <a:prstGeom prst="roundRect">
            <a:avLst>
              <a:gd name="adj" fmla="val 5714"/>
            </a:avLst>
          </a:prstGeom>
          <a:solidFill>
            <a:schemeClr val="bg2"/>
          </a:solidFill>
          <a:ln w="12700">
            <a:solidFill>
              <a:schemeClr val="bg2"/>
            </a:solidFill>
            <a:prstDash val="solid"/>
          </a:ln>
        </p:spPr>
      </p:sp>
      <p:pic>
        <p:nvPicPr>
          <p:cNvPr id="36" name="icon-392" descr="preencoded.png"/>
          <p:cNvPicPr>
            <a:picLocks noChangeAspect="1"/>
          </p:cNvPicPr>
          <p:nvPr/>
        </p:nvPicPr>
        <p:blipFill>
          <a:blip r:embed="rId9"/>
          <a:stretch>
            <a:fillRect/>
          </a:stretch>
        </p:blipFill>
        <p:spPr>
          <a:xfrm>
            <a:off x="749808" y="4709160"/>
            <a:ext cx="292608" cy="292608"/>
          </a:xfrm>
          <a:prstGeom prst="rect">
            <a:avLst/>
          </a:prstGeom>
        </p:spPr>
      </p:pic>
      <p:sp>
        <p:nvSpPr>
          <p:cNvPr id="37" name="text-393"/>
          <p:cNvSpPr txBox="1"/>
          <p:nvPr/>
        </p:nvSpPr>
        <p:spPr>
          <a:xfrm>
            <a:off x="1143000" y="4690872"/>
            <a:ext cx="1836344" cy="329184"/>
          </a:xfrm>
          <a:prstGeom prst="rect">
            <a:avLst/>
          </a:prstGeom>
          <a:noFill/>
          <a:ln/>
        </p:spPr>
        <p:txBody>
          <a:bodyPr wrap="square" lIns="0" tIns="0" rIns="0" bIns="0" rtlCol="0" anchor="ctr"/>
          <a:lstStyle/>
          <a:p>
            <a:pPr marL="0" indent="0">
              <a:buNone/>
            </a:pPr>
            <a:r>
              <a:rPr lang="en-US" sz="1400" b="1" dirty="0">
                <a:solidFill>
                  <a:schemeClr val="tx1"/>
                </a:solidFill>
                <a:latin typeface="Calibri" pitchFamily="34" charset="0"/>
                <a:ea typeface="Calibri" pitchFamily="34" charset="-122"/>
                <a:cs typeface="Calibri" pitchFamily="34" charset="-120"/>
              </a:rPr>
              <a:t>HTTPS everywhere</a:t>
            </a:r>
            <a:endParaRPr lang="en-US" sz="1400" dirty="0"/>
          </a:p>
        </p:txBody>
      </p:sp>
      <p:sp>
        <p:nvSpPr>
          <p:cNvPr id="38" name="text-394"/>
          <p:cNvSpPr txBox="1"/>
          <p:nvPr/>
        </p:nvSpPr>
        <p:spPr>
          <a:xfrm>
            <a:off x="749808" y="5074920"/>
            <a:ext cx="2202104" cy="731520"/>
          </a:xfrm>
          <a:prstGeom prst="rect">
            <a:avLst/>
          </a:prstGeom>
          <a:noFill/>
          <a:ln/>
        </p:spPr>
        <p:txBody>
          <a:bodyPr wrap="square" lIns="0" tIns="0" rIns="0" bIns="0" rtlCol="0" anchor="t"/>
          <a:lstStyle/>
          <a:p>
            <a:pPr marL="0" indent="0">
              <a:buNone/>
            </a:pPr>
            <a:r>
              <a:rPr lang="en-US" sz="1150" dirty="0">
                <a:solidFill>
                  <a:schemeClr val="tx2"/>
                </a:solidFill>
                <a:latin typeface="Calibri" pitchFamily="34" charset="0"/>
                <a:ea typeface="Calibri" pitchFamily="34" charset="-122"/>
                <a:cs typeface="Calibri" pitchFamily="34" charset="-120"/>
              </a:rPr>
              <a:t>Phones only open the camera on secure pages, and a secure page may only call a secure API.</a:t>
            </a:r>
            <a:endParaRPr lang="en-US" sz="1150" dirty="0"/>
          </a:p>
        </p:txBody>
      </p:sp>
      <p:sp>
        <p:nvSpPr>
          <p:cNvPr id="39" name="card-395"/>
          <p:cNvSpPr/>
          <p:nvPr/>
        </p:nvSpPr>
        <p:spPr>
          <a:xfrm>
            <a:off x="3390824" y="4572000"/>
            <a:ext cx="2567864" cy="1280160"/>
          </a:xfrm>
          <a:prstGeom prst="roundRect">
            <a:avLst>
              <a:gd name="adj" fmla="val 5714"/>
            </a:avLst>
          </a:prstGeom>
          <a:solidFill>
            <a:schemeClr val="bg2"/>
          </a:solidFill>
          <a:ln w="12700">
            <a:solidFill>
              <a:schemeClr val="bg2"/>
            </a:solidFill>
            <a:prstDash val="solid"/>
          </a:ln>
        </p:spPr>
      </p:sp>
      <p:pic>
        <p:nvPicPr>
          <p:cNvPr id="40" name="icon-396" descr="preencoded.png"/>
          <p:cNvPicPr>
            <a:picLocks noChangeAspect="1"/>
          </p:cNvPicPr>
          <p:nvPr/>
        </p:nvPicPr>
        <p:blipFill>
          <a:blip r:embed="rId10"/>
          <a:stretch>
            <a:fillRect/>
          </a:stretch>
        </p:blipFill>
        <p:spPr>
          <a:xfrm>
            <a:off x="3591992" y="4709160"/>
            <a:ext cx="292608" cy="292608"/>
          </a:xfrm>
          <a:prstGeom prst="rect">
            <a:avLst/>
          </a:prstGeom>
        </p:spPr>
      </p:pic>
      <p:sp>
        <p:nvSpPr>
          <p:cNvPr id="41" name="text-397"/>
          <p:cNvSpPr txBox="1"/>
          <p:nvPr/>
        </p:nvSpPr>
        <p:spPr>
          <a:xfrm>
            <a:off x="3985184" y="4690872"/>
            <a:ext cx="1836344" cy="329184"/>
          </a:xfrm>
          <a:prstGeom prst="rect">
            <a:avLst/>
          </a:prstGeom>
          <a:noFill/>
          <a:ln/>
        </p:spPr>
        <p:txBody>
          <a:bodyPr wrap="square" lIns="0" tIns="0" rIns="0" bIns="0" rtlCol="0" anchor="ctr"/>
          <a:lstStyle/>
          <a:p>
            <a:pPr marL="0" indent="0">
              <a:buNone/>
            </a:pPr>
            <a:r>
              <a:rPr lang="en-US" sz="1400" b="1" dirty="0">
                <a:solidFill>
                  <a:schemeClr val="tx1"/>
                </a:solidFill>
                <a:latin typeface="Calibri" pitchFamily="34" charset="0"/>
                <a:ea typeface="Calibri" pitchFamily="34" charset="-122"/>
                <a:cs typeface="Calibri" pitchFamily="34" charset="-120"/>
              </a:rPr>
              <a:t>CORS allow-list</a:t>
            </a:r>
            <a:endParaRPr lang="en-US" sz="1400" dirty="0"/>
          </a:p>
        </p:txBody>
      </p:sp>
      <p:sp>
        <p:nvSpPr>
          <p:cNvPr id="42" name="text-398"/>
          <p:cNvSpPr txBox="1"/>
          <p:nvPr/>
        </p:nvSpPr>
        <p:spPr>
          <a:xfrm>
            <a:off x="3591992" y="5074920"/>
            <a:ext cx="2202104" cy="731520"/>
          </a:xfrm>
          <a:prstGeom prst="rect">
            <a:avLst/>
          </a:prstGeom>
          <a:noFill/>
          <a:ln/>
        </p:spPr>
        <p:txBody>
          <a:bodyPr wrap="square" lIns="0" tIns="0" rIns="0" bIns="0" rtlCol="0" anchor="t"/>
          <a:lstStyle/>
          <a:p>
            <a:pPr marL="0" indent="0">
              <a:buNone/>
            </a:pPr>
            <a:r>
              <a:rPr lang="en-US" sz="1150" dirty="0">
                <a:solidFill>
                  <a:schemeClr val="tx2"/>
                </a:solidFill>
                <a:latin typeface="Calibri" pitchFamily="34" charset="0"/>
                <a:ea typeface="Calibri" pitchFamily="34" charset="-122"/>
                <a:cs typeface="Calibri" pitchFamily="34" charset="-120"/>
              </a:rPr>
              <a:t>The API accepts browser calls from our two Netlify sites only. A fake origin was tested and blocked.</a:t>
            </a:r>
            <a:endParaRPr lang="en-US" sz="1150" dirty="0"/>
          </a:p>
        </p:txBody>
      </p:sp>
      <p:sp>
        <p:nvSpPr>
          <p:cNvPr id="43" name="card-399"/>
          <p:cNvSpPr/>
          <p:nvPr/>
        </p:nvSpPr>
        <p:spPr>
          <a:xfrm>
            <a:off x="6233008" y="4572000"/>
            <a:ext cx="2567864" cy="1280160"/>
          </a:xfrm>
          <a:prstGeom prst="roundRect">
            <a:avLst>
              <a:gd name="adj" fmla="val 5714"/>
            </a:avLst>
          </a:prstGeom>
          <a:solidFill>
            <a:schemeClr val="bg2"/>
          </a:solidFill>
          <a:ln w="12700">
            <a:solidFill>
              <a:schemeClr val="bg2"/>
            </a:solidFill>
            <a:prstDash val="solid"/>
          </a:ln>
        </p:spPr>
      </p:sp>
      <p:pic>
        <p:nvPicPr>
          <p:cNvPr id="44" name="icon-400" descr="preencoded.png"/>
          <p:cNvPicPr>
            <a:picLocks noChangeAspect="1"/>
          </p:cNvPicPr>
          <p:nvPr/>
        </p:nvPicPr>
        <p:blipFill>
          <a:blip r:embed="rId11"/>
          <a:stretch>
            <a:fillRect/>
          </a:stretch>
        </p:blipFill>
        <p:spPr>
          <a:xfrm>
            <a:off x="6434176" y="4709160"/>
            <a:ext cx="292608" cy="292608"/>
          </a:xfrm>
          <a:prstGeom prst="rect">
            <a:avLst/>
          </a:prstGeom>
        </p:spPr>
      </p:pic>
      <p:sp>
        <p:nvSpPr>
          <p:cNvPr id="45" name="text-401"/>
          <p:cNvSpPr txBox="1"/>
          <p:nvPr/>
        </p:nvSpPr>
        <p:spPr>
          <a:xfrm>
            <a:off x="6827368" y="4690872"/>
            <a:ext cx="1836344" cy="329184"/>
          </a:xfrm>
          <a:prstGeom prst="rect">
            <a:avLst/>
          </a:prstGeom>
          <a:noFill/>
          <a:ln/>
        </p:spPr>
        <p:txBody>
          <a:bodyPr wrap="square" lIns="0" tIns="0" rIns="0" bIns="0" rtlCol="0" anchor="ctr"/>
          <a:lstStyle/>
          <a:p>
            <a:pPr marL="0" indent="0">
              <a:buNone/>
            </a:pPr>
            <a:r>
              <a:rPr lang="en-US" sz="1400" b="1" dirty="0">
                <a:solidFill>
                  <a:schemeClr val="tx1"/>
                </a:solidFill>
                <a:latin typeface="Calibri" pitchFamily="34" charset="0"/>
                <a:ea typeface="Calibri" pitchFamily="34" charset="-122"/>
                <a:cs typeface="Calibri" pitchFamily="34" charset="-120"/>
              </a:rPr>
              <a:t>Secrets out of git</a:t>
            </a:r>
            <a:endParaRPr lang="en-US" sz="1400" dirty="0"/>
          </a:p>
        </p:txBody>
      </p:sp>
      <p:sp>
        <p:nvSpPr>
          <p:cNvPr id="46" name="text-402"/>
          <p:cNvSpPr txBox="1"/>
          <p:nvPr/>
        </p:nvSpPr>
        <p:spPr>
          <a:xfrm>
            <a:off x="6434176" y="5074920"/>
            <a:ext cx="2202104" cy="731520"/>
          </a:xfrm>
          <a:prstGeom prst="rect">
            <a:avLst/>
          </a:prstGeom>
          <a:noFill/>
          <a:ln/>
        </p:spPr>
        <p:txBody>
          <a:bodyPr wrap="square" lIns="0" tIns="0" rIns="0" bIns="0" rtlCol="0" anchor="t"/>
          <a:lstStyle/>
          <a:p>
            <a:pPr marL="0" indent="0">
              <a:buNone/>
            </a:pPr>
            <a:r>
              <a:rPr lang="en-US" sz="1150" dirty="0">
                <a:solidFill>
                  <a:schemeClr val="tx2"/>
                </a:solidFill>
                <a:latin typeface="Calibri" pitchFamily="34" charset="0"/>
                <a:ea typeface="Calibri" pitchFamily="34" charset="-122"/>
                <a:cs typeface="Calibri" pitchFamily="34" charset="-120"/>
              </a:rPr>
              <a:t>The DB password lives only in Render settings. Env files are git-ignored.</a:t>
            </a:r>
            <a:endParaRPr lang="en-US" sz="1150" dirty="0"/>
          </a:p>
        </p:txBody>
      </p:sp>
      <p:sp>
        <p:nvSpPr>
          <p:cNvPr id="47" name="card-403"/>
          <p:cNvSpPr/>
          <p:nvPr/>
        </p:nvSpPr>
        <p:spPr>
          <a:xfrm>
            <a:off x="9075191" y="4572000"/>
            <a:ext cx="2567864" cy="1280160"/>
          </a:xfrm>
          <a:prstGeom prst="roundRect">
            <a:avLst>
              <a:gd name="adj" fmla="val 5714"/>
            </a:avLst>
          </a:prstGeom>
          <a:solidFill>
            <a:schemeClr val="bg2"/>
          </a:solidFill>
          <a:ln w="12700">
            <a:solidFill>
              <a:schemeClr val="bg2"/>
            </a:solidFill>
            <a:prstDash val="solid"/>
          </a:ln>
        </p:spPr>
      </p:sp>
      <p:pic>
        <p:nvPicPr>
          <p:cNvPr id="48" name="icon-404" descr="preencoded.png"/>
          <p:cNvPicPr>
            <a:picLocks noChangeAspect="1"/>
          </p:cNvPicPr>
          <p:nvPr/>
        </p:nvPicPr>
        <p:blipFill>
          <a:blip r:embed="rId12"/>
          <a:stretch>
            <a:fillRect/>
          </a:stretch>
        </p:blipFill>
        <p:spPr>
          <a:xfrm>
            <a:off x="9276359" y="4709160"/>
            <a:ext cx="292608" cy="292608"/>
          </a:xfrm>
          <a:prstGeom prst="rect">
            <a:avLst/>
          </a:prstGeom>
        </p:spPr>
      </p:pic>
      <p:sp>
        <p:nvSpPr>
          <p:cNvPr id="49" name="text-405"/>
          <p:cNvSpPr txBox="1"/>
          <p:nvPr/>
        </p:nvSpPr>
        <p:spPr>
          <a:xfrm>
            <a:off x="9669551" y="4690872"/>
            <a:ext cx="1836344" cy="329184"/>
          </a:xfrm>
          <a:prstGeom prst="rect">
            <a:avLst/>
          </a:prstGeom>
          <a:noFill/>
          <a:ln/>
        </p:spPr>
        <p:txBody>
          <a:bodyPr wrap="square" lIns="0" tIns="0" rIns="0" bIns="0" rtlCol="0" anchor="ctr"/>
          <a:lstStyle/>
          <a:p>
            <a:pPr marL="0" indent="0">
              <a:buNone/>
            </a:pPr>
            <a:r>
              <a:rPr lang="en-US" sz="1400" b="1" dirty="0">
                <a:solidFill>
                  <a:schemeClr val="tx1"/>
                </a:solidFill>
                <a:latin typeface="Calibri" pitchFamily="34" charset="0"/>
                <a:ea typeface="Calibri" pitchFamily="34" charset="-122"/>
                <a:cs typeface="Calibri" pitchFamily="34" charset="-120"/>
              </a:rPr>
              <a:t>Defence in depth</a:t>
            </a:r>
            <a:endParaRPr lang="en-US" sz="1400" dirty="0"/>
          </a:p>
        </p:txBody>
      </p:sp>
      <p:sp>
        <p:nvSpPr>
          <p:cNvPr id="50" name="text-406"/>
          <p:cNvSpPr txBox="1"/>
          <p:nvPr/>
        </p:nvSpPr>
        <p:spPr>
          <a:xfrm>
            <a:off x="9276359" y="5074920"/>
            <a:ext cx="2202104" cy="731520"/>
          </a:xfrm>
          <a:prstGeom prst="rect">
            <a:avLst/>
          </a:prstGeom>
          <a:noFill/>
          <a:ln/>
        </p:spPr>
        <p:txBody>
          <a:bodyPr wrap="square" lIns="0" tIns="0" rIns="0" bIns="0" rtlCol="0" anchor="t"/>
          <a:lstStyle/>
          <a:p>
            <a:pPr marL="0" indent="0">
              <a:buNone/>
            </a:pPr>
            <a:r>
              <a:rPr lang="en-US" sz="1150" dirty="0">
                <a:solidFill>
                  <a:schemeClr val="tx2"/>
                </a:solidFill>
                <a:latin typeface="Calibri" pitchFamily="34" charset="0"/>
                <a:ea typeface="Calibri" pitchFamily="34" charset="-122"/>
                <a:cs typeface="Calibri" pitchFamily="34" charset="-120"/>
              </a:rPr>
              <a:t>API validation first, then database constraints, so bad data cannot slip through a server bug.</a:t>
            </a:r>
            <a:endParaRPr lang="en-US" sz="1150" dirty="0"/>
          </a:p>
        </p:txBody>
      </p:sp>
      <p:sp>
        <p:nvSpPr>
          <p:cNvPr id="51"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47472"/>
            <a:ext cx="8229600" cy="274320"/>
          </a:xfrm>
          <a:prstGeom prst="rect">
            <a:avLst/>
          </a:prstGeom>
          <a:noFill/>
          <a:ln/>
        </p:spPr>
        <p:txBody>
          <a:bodyPr wrap="square" lIns="0" tIns="0" rIns="0" bIns="0" rtlCol="0" anchor="ctr"/>
          <a:lstStyle/>
          <a:p>
            <a:pPr marL="0" indent="0">
              <a:buNone/>
            </a:pPr>
            <a:r>
              <a:rPr lang="en-US" sz="1200" b="1" kern="0" spc="200" dirty="0">
                <a:solidFill>
                  <a:schemeClr val="accent1"/>
                </a:solidFill>
              </a:rPr>
              <a:t>WHAT'S NEXT</a:t>
            </a:r>
            <a:endParaRPr lang="en-US" sz="1200" dirty="0"/>
          </a:p>
        </p:txBody>
      </p:sp>
      <p:sp>
        <p:nvSpPr>
          <p:cNvPr id="3" name="Text 0"/>
          <p:cNvSpPr>
            <a:spLocks noGrp="1"/>
          </p:cNvSpPr>
          <p:nvPr>
            <p:ph type="title" idx="101" hasCustomPrompt="1"/>
          </p:nvPr>
        </p:nvSpPr>
        <p:spPr>
          <a:xfrm>
            <a:off x="548640" y="621792"/>
            <a:ext cx="11094415"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Clear about the gaps, clear on the roadmap</a:t>
            </a:r>
            <a:endParaRPr lang="en-US" sz="3000" dirty="0"/>
          </a:p>
        </p:txBody>
      </p:sp>
      <p:sp>
        <p:nvSpPr>
          <p:cNvPr id="4" name="icon-bg-407"/>
          <p:cNvSpPr/>
          <p:nvPr/>
        </p:nvSpPr>
        <p:spPr>
          <a:xfrm>
            <a:off x="548640" y="1600200"/>
            <a:ext cx="502920" cy="502920"/>
          </a:xfrm>
          <a:prstGeom prst="ellipse">
            <a:avLst/>
          </a:prstGeom>
          <a:solidFill>
            <a:schemeClr val="accent2"/>
          </a:solidFill>
          <a:ln w="12700">
            <a:solidFill>
              <a:schemeClr val="accent2"/>
            </a:solidFill>
            <a:prstDash val="solid"/>
          </a:ln>
        </p:spPr>
      </p:sp>
      <p:pic>
        <p:nvPicPr>
          <p:cNvPr id="5" name="icon-408" descr="preencoded.png"/>
          <p:cNvPicPr>
            <a:picLocks noChangeAspect="1"/>
          </p:cNvPicPr>
          <p:nvPr/>
        </p:nvPicPr>
        <p:blipFill>
          <a:blip r:embed="rId3"/>
          <a:stretch>
            <a:fillRect/>
          </a:stretch>
        </p:blipFill>
        <p:spPr>
          <a:xfrm>
            <a:off x="669341" y="1720901"/>
            <a:ext cx="261518" cy="261518"/>
          </a:xfrm>
          <a:prstGeom prst="rect">
            <a:avLst/>
          </a:prstGeom>
        </p:spPr>
      </p:pic>
      <p:sp>
        <p:nvSpPr>
          <p:cNvPr id="6" name="text-409"/>
          <p:cNvSpPr txBox="1"/>
          <p:nvPr/>
        </p:nvSpPr>
        <p:spPr>
          <a:xfrm>
            <a:off x="1234440" y="1600200"/>
            <a:ext cx="4572000" cy="502920"/>
          </a:xfrm>
          <a:prstGeom prst="rect">
            <a:avLst/>
          </a:prstGeom>
          <a:noFill/>
          <a:ln/>
        </p:spPr>
        <p:txBody>
          <a:bodyPr wrap="square" lIns="0" tIns="0" rIns="0" bIns="0" rtlCol="0" anchor="ctr"/>
          <a:lstStyle/>
          <a:p>
            <a:pPr marL="0" indent="0">
              <a:buNone/>
            </a:pPr>
            <a:r>
              <a:rPr lang="en-US" sz="1800" b="1" dirty="0">
                <a:solidFill>
                  <a:schemeClr val="tx1"/>
                </a:solidFill>
                <a:latin typeface="Calibri" pitchFamily="34" charset="0"/>
                <a:ea typeface="Calibri" pitchFamily="34" charset="-122"/>
                <a:cs typeface="Calibri" pitchFamily="34" charset="-120"/>
              </a:rPr>
              <a:t>Known limitations</a:t>
            </a:r>
            <a:endParaRPr lang="en-US" sz="1800" dirty="0"/>
          </a:p>
        </p:txBody>
      </p:sp>
      <p:sp>
        <p:nvSpPr>
          <p:cNvPr id="7" name="card-410"/>
          <p:cNvSpPr/>
          <p:nvPr/>
        </p:nvSpPr>
        <p:spPr>
          <a:xfrm>
            <a:off x="548640" y="2331720"/>
            <a:ext cx="5349240" cy="804672"/>
          </a:xfrm>
          <a:prstGeom prst="roundRect">
            <a:avLst>
              <a:gd name="adj" fmla="val 9091"/>
            </a:avLst>
          </a:prstGeom>
          <a:solidFill>
            <a:schemeClr val="bg2"/>
          </a:solidFill>
          <a:ln w="12700">
            <a:solidFill>
              <a:schemeClr val="bg2"/>
            </a:solidFill>
            <a:prstDash val="solid"/>
          </a:ln>
        </p:spPr>
      </p:sp>
      <p:sp>
        <p:nvSpPr>
          <p:cNvPr id="8" name="text-411"/>
          <p:cNvSpPr txBox="1"/>
          <p:nvPr/>
        </p:nvSpPr>
        <p:spPr>
          <a:xfrm>
            <a:off x="777240" y="2404872"/>
            <a:ext cx="4937760" cy="310896"/>
          </a:xfrm>
          <a:prstGeom prst="rect">
            <a:avLst/>
          </a:prstGeom>
          <a:noFill/>
          <a:ln/>
        </p:spPr>
        <p:txBody>
          <a:bodyPr wrap="square" lIns="0" tIns="0" rIns="0" bIns="0" rtlCol="0" anchor="ctr"/>
          <a:lstStyle/>
          <a:p>
            <a:pPr marL="0" indent="0">
              <a:buNone/>
            </a:pPr>
            <a:r>
              <a:rPr lang="en-US" sz="1500" b="1" dirty="0">
                <a:solidFill>
                  <a:schemeClr val="tx1"/>
                </a:solidFill>
                <a:latin typeface="Calibri" pitchFamily="34" charset="0"/>
                <a:ea typeface="Calibri" pitchFamily="34" charset="-122"/>
                <a:cs typeface="Calibri" pitchFamily="34" charset="-120"/>
              </a:rPr>
              <a:t>No login yet</a:t>
            </a:r>
            <a:endParaRPr lang="en-US" sz="1500" dirty="0"/>
          </a:p>
        </p:txBody>
      </p:sp>
      <p:sp>
        <p:nvSpPr>
          <p:cNvPr id="9" name="text-412"/>
          <p:cNvSpPr txBox="1"/>
          <p:nvPr/>
        </p:nvSpPr>
        <p:spPr>
          <a:xfrm>
            <a:off x="777240" y="2715768"/>
            <a:ext cx="4937760" cy="365760"/>
          </a:xfrm>
          <a:prstGeom prst="rect">
            <a:avLst/>
          </a:prstGeom>
          <a:noFill/>
          <a:ln/>
        </p:spPr>
        <p:txBody>
          <a:bodyPr wrap="square" lIns="0" tIns="0" rIns="0" bIns="0" rtlCol="0" anchor="t"/>
          <a:lstStyle/>
          <a:p>
            <a:pPr marL="0" indent="0">
              <a:buNone/>
            </a:pPr>
            <a:r>
              <a:rPr lang="en-US" sz="1250" dirty="0">
                <a:solidFill>
                  <a:schemeClr val="tx2"/>
                </a:solidFill>
                <a:latin typeface="Calibri" pitchFamily="34" charset="0"/>
                <a:ea typeface="Calibri" pitchFamily="34" charset="-122"/>
                <a:cs typeface="Calibri" pitchFamily="34" charset="-120"/>
              </a:rPr>
              <a:t>Anyone with the dashboard link can edit. The admins table is ready.</a:t>
            </a:r>
            <a:endParaRPr lang="en-US" sz="1250" dirty="0"/>
          </a:p>
        </p:txBody>
      </p:sp>
      <p:sp>
        <p:nvSpPr>
          <p:cNvPr id="10" name="card-413"/>
          <p:cNvSpPr/>
          <p:nvPr/>
        </p:nvSpPr>
        <p:spPr>
          <a:xfrm>
            <a:off x="548640" y="3227832"/>
            <a:ext cx="5349240" cy="804672"/>
          </a:xfrm>
          <a:prstGeom prst="roundRect">
            <a:avLst>
              <a:gd name="adj" fmla="val 9091"/>
            </a:avLst>
          </a:prstGeom>
          <a:solidFill>
            <a:schemeClr val="bg2"/>
          </a:solidFill>
          <a:ln w="12700">
            <a:solidFill>
              <a:schemeClr val="bg2"/>
            </a:solidFill>
            <a:prstDash val="solid"/>
          </a:ln>
        </p:spPr>
      </p:sp>
      <p:sp>
        <p:nvSpPr>
          <p:cNvPr id="11" name="text-414"/>
          <p:cNvSpPr txBox="1"/>
          <p:nvPr/>
        </p:nvSpPr>
        <p:spPr>
          <a:xfrm>
            <a:off x="777240" y="3300984"/>
            <a:ext cx="4937760" cy="310896"/>
          </a:xfrm>
          <a:prstGeom prst="rect">
            <a:avLst/>
          </a:prstGeom>
          <a:noFill/>
          <a:ln/>
        </p:spPr>
        <p:txBody>
          <a:bodyPr wrap="square" lIns="0" tIns="0" rIns="0" bIns="0" rtlCol="0" anchor="ctr"/>
          <a:lstStyle/>
          <a:p>
            <a:pPr marL="0" indent="0">
              <a:buNone/>
            </a:pPr>
            <a:r>
              <a:rPr lang="en-US" sz="1500" b="1" dirty="0">
                <a:solidFill>
                  <a:schemeClr val="tx1"/>
                </a:solidFill>
                <a:latin typeface="Calibri" pitchFamily="34" charset="0"/>
                <a:ea typeface="Calibri" pitchFamily="34" charset="-122"/>
                <a:cs typeface="Calibri" pitchFamily="34" charset="-120"/>
              </a:rPr>
              <a:t>Placeholder photos</a:t>
            </a:r>
            <a:endParaRPr lang="en-US" sz="1500" dirty="0"/>
          </a:p>
        </p:txBody>
      </p:sp>
      <p:sp>
        <p:nvSpPr>
          <p:cNvPr id="12" name="text-415"/>
          <p:cNvSpPr txBox="1"/>
          <p:nvPr/>
        </p:nvSpPr>
        <p:spPr>
          <a:xfrm>
            <a:off x="777240" y="3611880"/>
            <a:ext cx="4937760" cy="365760"/>
          </a:xfrm>
          <a:prstGeom prst="rect">
            <a:avLst/>
          </a:prstGeom>
          <a:noFill/>
          <a:ln/>
        </p:spPr>
        <p:txBody>
          <a:bodyPr wrap="square" lIns="0" tIns="0" rIns="0" bIns="0" rtlCol="0" anchor="t"/>
          <a:lstStyle/>
          <a:p>
            <a:pPr marL="0" indent="0">
              <a:buNone/>
            </a:pPr>
            <a:r>
              <a:rPr lang="en-US" sz="1250" dirty="0">
                <a:solidFill>
                  <a:schemeClr val="tx2"/>
                </a:solidFill>
                <a:latin typeface="Calibri" pitchFamily="34" charset="0"/>
                <a:ea typeface="Calibri" pitchFamily="34" charset="-122"/>
                <a:cs typeface="Calibri" pitchFamily="34" charset="-120"/>
              </a:rPr>
              <a:t>Asset images point to examples; real uploads didn't make this cut.</a:t>
            </a:r>
            <a:endParaRPr lang="en-US" sz="1250" dirty="0"/>
          </a:p>
        </p:txBody>
      </p:sp>
      <p:sp>
        <p:nvSpPr>
          <p:cNvPr id="13" name="card-416"/>
          <p:cNvSpPr/>
          <p:nvPr/>
        </p:nvSpPr>
        <p:spPr>
          <a:xfrm>
            <a:off x="548640" y="4123944"/>
            <a:ext cx="5349240" cy="804672"/>
          </a:xfrm>
          <a:prstGeom prst="roundRect">
            <a:avLst>
              <a:gd name="adj" fmla="val 9091"/>
            </a:avLst>
          </a:prstGeom>
          <a:solidFill>
            <a:schemeClr val="bg2"/>
          </a:solidFill>
          <a:ln w="12700">
            <a:solidFill>
              <a:schemeClr val="bg2"/>
            </a:solidFill>
            <a:prstDash val="solid"/>
          </a:ln>
        </p:spPr>
      </p:sp>
      <p:sp>
        <p:nvSpPr>
          <p:cNvPr id="14" name="text-417"/>
          <p:cNvSpPr txBox="1"/>
          <p:nvPr/>
        </p:nvSpPr>
        <p:spPr>
          <a:xfrm>
            <a:off x="777240" y="4197096"/>
            <a:ext cx="4937760" cy="310896"/>
          </a:xfrm>
          <a:prstGeom prst="rect">
            <a:avLst/>
          </a:prstGeom>
          <a:noFill/>
          <a:ln/>
        </p:spPr>
        <p:txBody>
          <a:bodyPr wrap="square" lIns="0" tIns="0" rIns="0" bIns="0" rtlCol="0" anchor="ctr"/>
          <a:lstStyle/>
          <a:p>
            <a:pPr marL="0" indent="0">
              <a:buNone/>
            </a:pPr>
            <a:r>
              <a:rPr lang="en-US" sz="1500" b="1" dirty="0">
                <a:solidFill>
                  <a:schemeClr val="tx1"/>
                </a:solidFill>
                <a:latin typeface="Calibri" pitchFamily="34" charset="0"/>
                <a:ea typeface="Calibri" pitchFamily="34" charset="-122"/>
                <a:cs typeface="Calibri" pitchFamily="34" charset="-120"/>
              </a:rPr>
              <a:t>Real-phone pass pending</a:t>
            </a:r>
            <a:endParaRPr lang="en-US" sz="1500" dirty="0"/>
          </a:p>
        </p:txBody>
      </p:sp>
      <p:sp>
        <p:nvSpPr>
          <p:cNvPr id="15" name="text-418"/>
          <p:cNvSpPr txBox="1"/>
          <p:nvPr/>
        </p:nvSpPr>
        <p:spPr>
          <a:xfrm>
            <a:off x="777240" y="4507992"/>
            <a:ext cx="4937760" cy="365760"/>
          </a:xfrm>
          <a:prstGeom prst="rect">
            <a:avLst/>
          </a:prstGeom>
          <a:noFill/>
          <a:ln/>
        </p:spPr>
        <p:txBody>
          <a:bodyPr wrap="square" lIns="0" tIns="0" rIns="0" bIns="0" rtlCol="0" anchor="t"/>
          <a:lstStyle/>
          <a:p>
            <a:pPr marL="0" indent="0">
              <a:buNone/>
            </a:pPr>
            <a:r>
              <a:rPr lang="en-US" sz="1250" dirty="0">
                <a:solidFill>
                  <a:schemeClr val="tx2"/>
                </a:solidFill>
                <a:latin typeface="Calibri" pitchFamily="34" charset="0"/>
                <a:ea typeface="Calibri" pitchFamily="34" charset="-122"/>
                <a:cs typeface="Calibri" pitchFamily="34" charset="-120"/>
              </a:rPr>
              <a:t>Tracking is proven on a fake camera; printed 15 cm markers next.</a:t>
            </a:r>
            <a:endParaRPr lang="en-US" sz="1250" dirty="0"/>
          </a:p>
        </p:txBody>
      </p:sp>
      <p:sp>
        <p:nvSpPr>
          <p:cNvPr id="16" name="card-419"/>
          <p:cNvSpPr/>
          <p:nvPr/>
        </p:nvSpPr>
        <p:spPr>
          <a:xfrm>
            <a:off x="548640" y="5020056"/>
            <a:ext cx="5349240" cy="804672"/>
          </a:xfrm>
          <a:prstGeom prst="roundRect">
            <a:avLst>
              <a:gd name="adj" fmla="val 9091"/>
            </a:avLst>
          </a:prstGeom>
          <a:solidFill>
            <a:schemeClr val="bg2"/>
          </a:solidFill>
          <a:ln w="12700">
            <a:solidFill>
              <a:schemeClr val="bg2"/>
            </a:solidFill>
            <a:prstDash val="solid"/>
          </a:ln>
        </p:spPr>
      </p:sp>
      <p:sp>
        <p:nvSpPr>
          <p:cNvPr id="17" name="text-420"/>
          <p:cNvSpPr txBox="1"/>
          <p:nvPr/>
        </p:nvSpPr>
        <p:spPr>
          <a:xfrm>
            <a:off x="777240" y="5093208"/>
            <a:ext cx="4937760" cy="310896"/>
          </a:xfrm>
          <a:prstGeom prst="rect">
            <a:avLst/>
          </a:prstGeom>
          <a:noFill/>
          <a:ln/>
        </p:spPr>
        <p:txBody>
          <a:bodyPr wrap="square" lIns="0" tIns="0" rIns="0" bIns="0" rtlCol="0" anchor="ctr"/>
          <a:lstStyle/>
          <a:p>
            <a:pPr marL="0" indent="0">
              <a:buNone/>
            </a:pPr>
            <a:r>
              <a:rPr lang="en-US" sz="1500" b="1" dirty="0">
                <a:solidFill>
                  <a:schemeClr val="tx1"/>
                </a:solidFill>
                <a:latin typeface="Calibri" pitchFamily="34" charset="0"/>
                <a:ea typeface="Calibri" pitchFamily="34" charset="-122"/>
                <a:cs typeface="Calibri" pitchFamily="34" charset="-120"/>
              </a:rPr>
              <a:t>Free-tier cold start</a:t>
            </a:r>
            <a:endParaRPr lang="en-US" sz="1500" dirty="0"/>
          </a:p>
        </p:txBody>
      </p:sp>
      <p:sp>
        <p:nvSpPr>
          <p:cNvPr id="18" name="text-421"/>
          <p:cNvSpPr txBox="1"/>
          <p:nvPr/>
        </p:nvSpPr>
        <p:spPr>
          <a:xfrm>
            <a:off x="777240" y="5404104"/>
            <a:ext cx="4937760" cy="365760"/>
          </a:xfrm>
          <a:prstGeom prst="rect">
            <a:avLst/>
          </a:prstGeom>
          <a:noFill/>
          <a:ln/>
        </p:spPr>
        <p:txBody>
          <a:bodyPr wrap="square" lIns="0" tIns="0" rIns="0" bIns="0" rtlCol="0" anchor="t"/>
          <a:lstStyle/>
          <a:p>
            <a:pPr marL="0" indent="0">
              <a:buNone/>
            </a:pPr>
            <a:r>
              <a:rPr lang="en-US" sz="1250" dirty="0">
                <a:solidFill>
                  <a:schemeClr val="tx2"/>
                </a:solidFill>
                <a:latin typeface="Calibri" pitchFamily="34" charset="0"/>
                <a:ea typeface="Calibri" pitchFamily="34" charset="-122"/>
                <a:cs typeface="Calibri" pitchFamily="34" charset="-120"/>
              </a:rPr>
              <a:t>The first request after idle takes 30–60 s.</a:t>
            </a:r>
            <a:endParaRPr lang="en-US" sz="1250" dirty="0"/>
          </a:p>
        </p:txBody>
      </p:sp>
      <p:sp>
        <p:nvSpPr>
          <p:cNvPr id="19" name="icon-bg-422"/>
          <p:cNvSpPr/>
          <p:nvPr/>
        </p:nvSpPr>
        <p:spPr>
          <a:xfrm>
            <a:off x="6291072" y="1600200"/>
            <a:ext cx="502920" cy="502920"/>
          </a:xfrm>
          <a:prstGeom prst="ellipse">
            <a:avLst/>
          </a:prstGeom>
          <a:solidFill>
            <a:schemeClr val="accent1"/>
          </a:solidFill>
          <a:ln w="12700">
            <a:solidFill>
              <a:schemeClr val="accent1"/>
            </a:solidFill>
            <a:prstDash val="solid"/>
          </a:ln>
        </p:spPr>
      </p:sp>
      <p:pic>
        <p:nvPicPr>
          <p:cNvPr id="20" name="icon-423" descr="preencoded.png"/>
          <p:cNvPicPr>
            <a:picLocks noChangeAspect="1"/>
          </p:cNvPicPr>
          <p:nvPr/>
        </p:nvPicPr>
        <p:blipFill>
          <a:blip r:embed="rId4"/>
          <a:stretch>
            <a:fillRect/>
          </a:stretch>
        </p:blipFill>
        <p:spPr>
          <a:xfrm>
            <a:off x="6411773" y="1720901"/>
            <a:ext cx="261518" cy="261518"/>
          </a:xfrm>
          <a:prstGeom prst="rect">
            <a:avLst/>
          </a:prstGeom>
        </p:spPr>
      </p:pic>
      <p:sp>
        <p:nvSpPr>
          <p:cNvPr id="21" name="text-424"/>
          <p:cNvSpPr txBox="1"/>
          <p:nvPr/>
        </p:nvSpPr>
        <p:spPr>
          <a:xfrm>
            <a:off x="6976872" y="1600200"/>
            <a:ext cx="4572000" cy="502920"/>
          </a:xfrm>
          <a:prstGeom prst="rect">
            <a:avLst/>
          </a:prstGeom>
          <a:noFill/>
          <a:ln/>
        </p:spPr>
        <p:txBody>
          <a:bodyPr wrap="square" lIns="0" tIns="0" rIns="0" bIns="0" rtlCol="0" anchor="ctr"/>
          <a:lstStyle/>
          <a:p>
            <a:pPr marL="0" indent="0">
              <a:buNone/>
            </a:pPr>
            <a:r>
              <a:rPr lang="en-US" sz="1800" b="1" dirty="0">
                <a:solidFill>
                  <a:schemeClr val="tx1"/>
                </a:solidFill>
                <a:latin typeface="Calibri" pitchFamily="34" charset="0"/>
                <a:ea typeface="Calibri" pitchFamily="34" charset="-122"/>
                <a:cs typeface="Calibri" pitchFamily="34" charset="-120"/>
              </a:rPr>
              <a:t>Roadmap</a:t>
            </a:r>
            <a:endParaRPr lang="en-US" sz="1800" dirty="0"/>
          </a:p>
        </p:txBody>
      </p:sp>
      <p:sp>
        <p:nvSpPr>
          <p:cNvPr id="22" name="card-425"/>
          <p:cNvSpPr/>
          <p:nvPr/>
        </p:nvSpPr>
        <p:spPr>
          <a:xfrm>
            <a:off x="6291072" y="2331720"/>
            <a:ext cx="5349240" cy="804672"/>
          </a:xfrm>
          <a:prstGeom prst="roundRect">
            <a:avLst>
              <a:gd name="adj" fmla="val 9091"/>
            </a:avLst>
          </a:prstGeom>
          <a:solidFill>
            <a:schemeClr val="bg2"/>
          </a:solidFill>
          <a:ln w="12700">
            <a:solidFill>
              <a:schemeClr val="bg2"/>
            </a:solidFill>
            <a:prstDash val="solid"/>
          </a:ln>
        </p:spPr>
      </p:sp>
      <p:sp>
        <p:nvSpPr>
          <p:cNvPr id="23" name="text-426"/>
          <p:cNvSpPr txBox="1"/>
          <p:nvPr/>
        </p:nvSpPr>
        <p:spPr>
          <a:xfrm>
            <a:off x="6519672" y="2404872"/>
            <a:ext cx="4937760" cy="310896"/>
          </a:xfrm>
          <a:prstGeom prst="rect">
            <a:avLst/>
          </a:prstGeom>
          <a:noFill/>
          <a:ln/>
        </p:spPr>
        <p:txBody>
          <a:bodyPr wrap="square" lIns="0" tIns="0" rIns="0" bIns="0" rtlCol="0" anchor="ctr"/>
          <a:lstStyle/>
          <a:p>
            <a:pPr marL="0" indent="0">
              <a:buNone/>
            </a:pPr>
            <a:r>
              <a:rPr lang="en-US" sz="1500" b="1" dirty="0">
                <a:solidFill>
                  <a:schemeClr val="tx1"/>
                </a:solidFill>
                <a:latin typeface="Calibri" pitchFamily="34" charset="0"/>
                <a:ea typeface="Calibri" pitchFamily="34" charset="-122"/>
                <a:cs typeface="Calibri" pitchFamily="34" charset="-120"/>
              </a:rPr>
              <a:t>Role-based access + audit log</a:t>
            </a:r>
            <a:endParaRPr lang="en-US" sz="1500" dirty="0"/>
          </a:p>
        </p:txBody>
      </p:sp>
      <p:sp>
        <p:nvSpPr>
          <p:cNvPr id="24" name="text-427"/>
          <p:cNvSpPr txBox="1"/>
          <p:nvPr/>
        </p:nvSpPr>
        <p:spPr>
          <a:xfrm>
            <a:off x="6519672" y="2715768"/>
            <a:ext cx="4937760" cy="365760"/>
          </a:xfrm>
          <a:prstGeom prst="rect">
            <a:avLst/>
          </a:prstGeom>
          <a:noFill/>
          <a:ln/>
        </p:spPr>
        <p:txBody>
          <a:bodyPr wrap="square" lIns="0" tIns="0" rIns="0" bIns="0" rtlCol="0" anchor="t"/>
          <a:lstStyle/>
          <a:p>
            <a:pPr marL="0" indent="0">
              <a:buNone/>
            </a:pPr>
            <a:r>
              <a:rPr lang="en-US" sz="1250" dirty="0">
                <a:solidFill>
                  <a:schemeClr val="tx2"/>
                </a:solidFill>
                <a:latin typeface="Calibri" pitchFamily="34" charset="0"/>
                <a:ea typeface="Calibri" pitchFamily="34" charset="-122"/>
                <a:cs typeface="Calibri" pitchFamily="34" charset="-120"/>
              </a:rPr>
              <a:t>Staff vs student, and who moved each complaint.</a:t>
            </a:r>
            <a:endParaRPr lang="en-US" sz="1250" dirty="0"/>
          </a:p>
        </p:txBody>
      </p:sp>
      <p:sp>
        <p:nvSpPr>
          <p:cNvPr id="25" name="card-428"/>
          <p:cNvSpPr/>
          <p:nvPr/>
        </p:nvSpPr>
        <p:spPr>
          <a:xfrm>
            <a:off x="6291072" y="3227832"/>
            <a:ext cx="5349240" cy="804672"/>
          </a:xfrm>
          <a:prstGeom prst="roundRect">
            <a:avLst>
              <a:gd name="adj" fmla="val 9091"/>
            </a:avLst>
          </a:prstGeom>
          <a:solidFill>
            <a:schemeClr val="bg2"/>
          </a:solidFill>
          <a:ln w="12700">
            <a:solidFill>
              <a:schemeClr val="bg2"/>
            </a:solidFill>
            <a:prstDash val="solid"/>
          </a:ln>
        </p:spPr>
      </p:sp>
      <p:sp>
        <p:nvSpPr>
          <p:cNvPr id="26" name="text-429"/>
          <p:cNvSpPr txBox="1"/>
          <p:nvPr/>
        </p:nvSpPr>
        <p:spPr>
          <a:xfrm>
            <a:off x="6519672" y="3300984"/>
            <a:ext cx="4937760" cy="310896"/>
          </a:xfrm>
          <a:prstGeom prst="rect">
            <a:avLst/>
          </a:prstGeom>
          <a:noFill/>
          <a:ln/>
        </p:spPr>
        <p:txBody>
          <a:bodyPr wrap="square" lIns="0" tIns="0" rIns="0" bIns="0" rtlCol="0" anchor="ctr"/>
          <a:lstStyle/>
          <a:p>
            <a:pPr marL="0" indent="0">
              <a:buNone/>
            </a:pPr>
            <a:r>
              <a:rPr lang="en-US" sz="1500" b="1" dirty="0">
                <a:solidFill>
                  <a:schemeClr val="tx1"/>
                </a:solidFill>
                <a:latin typeface="Calibri" pitchFamily="34" charset="0"/>
                <a:ea typeface="Calibri" pitchFamily="34" charset="-122"/>
                <a:cs typeface="Calibri" pitchFamily="34" charset="-120"/>
              </a:rPr>
              <a:t>QR fallback + 3D hotspots</a:t>
            </a:r>
            <a:endParaRPr lang="en-US" sz="1500" dirty="0"/>
          </a:p>
        </p:txBody>
      </p:sp>
      <p:sp>
        <p:nvSpPr>
          <p:cNvPr id="27" name="text-430"/>
          <p:cNvSpPr txBox="1"/>
          <p:nvPr/>
        </p:nvSpPr>
        <p:spPr>
          <a:xfrm>
            <a:off x="6519672" y="3611880"/>
            <a:ext cx="4937760" cy="365760"/>
          </a:xfrm>
          <a:prstGeom prst="rect">
            <a:avLst/>
          </a:prstGeom>
          <a:noFill/>
          <a:ln/>
        </p:spPr>
        <p:txBody>
          <a:bodyPr wrap="square" lIns="0" tIns="0" rIns="0" bIns="0" rtlCol="0" anchor="t"/>
          <a:lstStyle/>
          <a:p>
            <a:pPr marL="0" indent="0">
              <a:buNone/>
            </a:pPr>
            <a:r>
              <a:rPr lang="en-US" sz="1250" dirty="0">
                <a:solidFill>
                  <a:schemeClr val="tx2"/>
                </a:solidFill>
                <a:latin typeface="Calibri" pitchFamily="34" charset="0"/>
                <a:ea typeface="Calibri" pitchFamily="34" charset="-122"/>
                <a:cs typeface="Calibri" pitchFamily="34" charset="-120"/>
              </a:rPr>
              <a:t>QR when lighting is too poor for image tracking.</a:t>
            </a:r>
            <a:endParaRPr lang="en-US" sz="1250" dirty="0"/>
          </a:p>
        </p:txBody>
      </p:sp>
      <p:sp>
        <p:nvSpPr>
          <p:cNvPr id="28" name="card-431"/>
          <p:cNvSpPr/>
          <p:nvPr/>
        </p:nvSpPr>
        <p:spPr>
          <a:xfrm>
            <a:off x="6291072" y="4123944"/>
            <a:ext cx="5349240" cy="804672"/>
          </a:xfrm>
          <a:prstGeom prst="roundRect">
            <a:avLst>
              <a:gd name="adj" fmla="val 9091"/>
            </a:avLst>
          </a:prstGeom>
          <a:solidFill>
            <a:schemeClr val="bg2"/>
          </a:solidFill>
          <a:ln w="12700">
            <a:solidFill>
              <a:schemeClr val="bg2"/>
            </a:solidFill>
            <a:prstDash val="solid"/>
          </a:ln>
        </p:spPr>
      </p:sp>
      <p:sp>
        <p:nvSpPr>
          <p:cNvPr id="29" name="text-432"/>
          <p:cNvSpPr txBox="1"/>
          <p:nvPr/>
        </p:nvSpPr>
        <p:spPr>
          <a:xfrm>
            <a:off x="6519672" y="4197096"/>
            <a:ext cx="4937760" cy="310896"/>
          </a:xfrm>
          <a:prstGeom prst="rect">
            <a:avLst/>
          </a:prstGeom>
          <a:noFill/>
          <a:ln/>
        </p:spPr>
        <p:txBody>
          <a:bodyPr wrap="square" lIns="0" tIns="0" rIns="0" bIns="0" rtlCol="0" anchor="ctr"/>
          <a:lstStyle/>
          <a:p>
            <a:pPr marL="0" indent="0">
              <a:buNone/>
            </a:pPr>
            <a:r>
              <a:rPr lang="en-US" sz="1500" b="1" dirty="0">
                <a:solidFill>
                  <a:schemeClr val="tx1"/>
                </a:solidFill>
                <a:latin typeface="Calibri" pitchFamily="34" charset="0"/>
                <a:ea typeface="Calibri" pitchFamily="34" charset="-122"/>
                <a:cs typeface="Calibri" pitchFamily="34" charset="-120"/>
              </a:rPr>
              <a:t>Reminders and reports</a:t>
            </a:r>
            <a:endParaRPr lang="en-US" sz="1500" dirty="0"/>
          </a:p>
        </p:txBody>
      </p:sp>
      <p:sp>
        <p:nvSpPr>
          <p:cNvPr id="30" name="text-433"/>
          <p:cNvSpPr txBox="1"/>
          <p:nvPr/>
        </p:nvSpPr>
        <p:spPr>
          <a:xfrm>
            <a:off x="6519672" y="4507992"/>
            <a:ext cx="4937760" cy="365760"/>
          </a:xfrm>
          <a:prstGeom prst="rect">
            <a:avLst/>
          </a:prstGeom>
          <a:noFill/>
          <a:ln/>
        </p:spPr>
        <p:txBody>
          <a:bodyPr wrap="square" lIns="0" tIns="0" rIns="0" bIns="0" rtlCol="0" anchor="t"/>
          <a:lstStyle/>
          <a:p>
            <a:pPr marL="0" indent="0">
              <a:buNone/>
            </a:pPr>
            <a:r>
              <a:rPr lang="en-US" sz="1250" dirty="0">
                <a:solidFill>
                  <a:schemeClr val="tx2"/>
                </a:solidFill>
                <a:latin typeface="Calibri" pitchFamily="34" charset="0"/>
                <a:ea typeface="Calibri" pitchFamily="34" charset="-122"/>
                <a:cs typeface="Calibri" pitchFamily="34" charset="-120"/>
              </a:rPr>
              <a:t>Service due alerts, new-fault alerts, mean time to repair.</a:t>
            </a:r>
            <a:endParaRPr lang="en-US" sz="1250" dirty="0"/>
          </a:p>
        </p:txBody>
      </p:sp>
      <p:sp>
        <p:nvSpPr>
          <p:cNvPr id="31" name="card-434"/>
          <p:cNvSpPr/>
          <p:nvPr/>
        </p:nvSpPr>
        <p:spPr>
          <a:xfrm>
            <a:off x="6291072" y="5020056"/>
            <a:ext cx="5349240" cy="804672"/>
          </a:xfrm>
          <a:prstGeom prst="roundRect">
            <a:avLst>
              <a:gd name="adj" fmla="val 9091"/>
            </a:avLst>
          </a:prstGeom>
          <a:solidFill>
            <a:schemeClr val="bg2"/>
          </a:solidFill>
          <a:ln w="12700">
            <a:solidFill>
              <a:schemeClr val="bg2"/>
            </a:solidFill>
            <a:prstDash val="solid"/>
          </a:ln>
        </p:spPr>
      </p:sp>
      <p:sp>
        <p:nvSpPr>
          <p:cNvPr id="32" name="text-435"/>
          <p:cNvSpPr txBox="1"/>
          <p:nvPr/>
        </p:nvSpPr>
        <p:spPr>
          <a:xfrm>
            <a:off x="6519672" y="5093208"/>
            <a:ext cx="4937760" cy="310896"/>
          </a:xfrm>
          <a:prstGeom prst="rect">
            <a:avLst/>
          </a:prstGeom>
          <a:noFill/>
          <a:ln/>
        </p:spPr>
        <p:txBody>
          <a:bodyPr wrap="square" lIns="0" tIns="0" rIns="0" bIns="0" rtlCol="0" anchor="ctr"/>
          <a:lstStyle/>
          <a:p>
            <a:pPr marL="0" indent="0">
              <a:buNone/>
            </a:pPr>
            <a:r>
              <a:rPr lang="en-US" sz="1500" b="1" dirty="0">
                <a:solidFill>
                  <a:schemeClr val="tx1"/>
                </a:solidFill>
                <a:latin typeface="Calibri" pitchFamily="34" charset="0"/>
                <a:ea typeface="Calibri" pitchFamily="34" charset="-122"/>
                <a:cs typeface="Calibri" pitchFamily="34" charset="-120"/>
              </a:rPr>
              <a:t>Production hardening</a:t>
            </a:r>
            <a:endParaRPr lang="en-US" sz="1500" dirty="0"/>
          </a:p>
        </p:txBody>
      </p:sp>
      <p:sp>
        <p:nvSpPr>
          <p:cNvPr id="33" name="text-436"/>
          <p:cNvSpPr txBox="1"/>
          <p:nvPr/>
        </p:nvSpPr>
        <p:spPr>
          <a:xfrm>
            <a:off x="6519672" y="5404104"/>
            <a:ext cx="4937760" cy="365760"/>
          </a:xfrm>
          <a:prstGeom prst="rect">
            <a:avLst/>
          </a:prstGeom>
          <a:noFill/>
          <a:ln/>
        </p:spPr>
        <p:txBody>
          <a:bodyPr wrap="square" lIns="0" tIns="0" rIns="0" bIns="0" rtlCol="0" anchor="t"/>
          <a:lstStyle/>
          <a:p>
            <a:pPr marL="0" indent="0">
              <a:buNone/>
            </a:pPr>
            <a:r>
              <a:rPr lang="en-US" sz="1250" dirty="0">
                <a:solidFill>
                  <a:schemeClr val="tx2"/>
                </a:solidFill>
                <a:latin typeface="Calibri" pitchFamily="34" charset="0"/>
                <a:ea typeface="Calibri" pitchFamily="34" charset="-122"/>
                <a:cs typeface="Calibri" pitchFamily="34" charset="-120"/>
              </a:rPr>
              <a:t>Photo upload, bulk import, rate limits, uptime checks.</a:t>
            </a:r>
            <a:endParaRPr lang="en-US" sz="1250" dirty="0"/>
          </a:p>
        </p:txBody>
      </p:sp>
      <p:sp>
        <p:nvSpPr>
          <p:cNvPr id="34"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437"/>
          <p:cNvSpPr txBox="1"/>
          <p:nvPr/>
        </p:nvSpPr>
        <p:spPr>
          <a:xfrm>
            <a:off x="548640" y="822960"/>
            <a:ext cx="5486400" cy="274320"/>
          </a:xfrm>
          <a:prstGeom prst="rect">
            <a:avLst/>
          </a:prstGeom>
          <a:noFill/>
          <a:ln/>
        </p:spPr>
        <p:txBody>
          <a:bodyPr wrap="square" lIns="0" tIns="0" rIns="0" bIns="0" rtlCol="0" anchor="ctr"/>
          <a:lstStyle/>
          <a:p>
            <a:pPr marL="0" indent="0">
              <a:buNone/>
            </a:pPr>
            <a:r>
              <a:rPr lang="en-US" sz="1200" b="1" kern="0" spc="200" dirty="0">
                <a:solidFill>
                  <a:schemeClr val="accent1"/>
                </a:solidFill>
                <a:latin typeface="Calibri" pitchFamily="34" charset="0"/>
                <a:ea typeface="Calibri" pitchFamily="34" charset="-122"/>
                <a:cs typeface="Calibri" pitchFamily="34" charset="-120"/>
              </a:rPr>
              <a:t>IN ONE LINE</a:t>
            </a:r>
            <a:endParaRPr lang="en-US" sz="1200" dirty="0"/>
          </a:p>
        </p:txBody>
      </p:sp>
      <p:sp>
        <p:nvSpPr>
          <p:cNvPr id="3" name="text-438"/>
          <p:cNvSpPr txBox="1"/>
          <p:nvPr/>
        </p:nvSpPr>
        <p:spPr>
          <a:xfrm>
            <a:off x="548640" y="1234440"/>
            <a:ext cx="6217920" cy="1828800"/>
          </a:xfrm>
          <a:prstGeom prst="rect">
            <a:avLst/>
          </a:prstGeom>
          <a:noFill/>
          <a:ln/>
        </p:spPr>
        <p:txBody>
          <a:bodyPr wrap="square" lIns="0" tIns="0" rIns="0" bIns="0" rtlCol="0" anchor="t"/>
          <a:lstStyle/>
          <a:p>
            <a:pPr marL="0" indent="0">
              <a:buNone/>
            </a:pPr>
            <a:r>
              <a:rPr lang="en-US" sz="2800" b="1" dirty="0">
                <a:solidFill>
                  <a:schemeClr val="bg1"/>
                </a:solidFill>
                <a:latin typeface="Arial" pitchFamily="34" charset="0"/>
                <a:ea typeface="Arial" pitchFamily="34" charset="-122"/>
                <a:cs typeface="Arial" pitchFamily="34" charset="-120"/>
              </a:rPr>
              <a:t>One scan tells the machine's story.</a:t>
            </a:r>
            <a:endParaRPr lang="en-US" sz="2800" dirty="0"/>
          </a:p>
          <a:p>
            <a:pPr marL="0" indent="0">
              <a:buNone/>
            </a:pPr>
            <a:r>
              <a:rPr lang="en-US" sz="2800" b="1" dirty="0">
                <a:solidFill>
                  <a:schemeClr val="accent1"/>
                </a:solidFill>
                <a:latin typeface="Arial" pitchFamily="34" charset="0"/>
                <a:ea typeface="Arial" pitchFamily="34" charset="-122"/>
                <a:cs typeface="Arial" pitchFamily="34" charset="-120"/>
              </a:rPr>
              <a:t>One dashboard lets staff act on it.</a:t>
            </a:r>
            <a:endParaRPr lang="en-US" sz="2800" dirty="0"/>
          </a:p>
        </p:txBody>
      </p:sp>
      <p:sp>
        <p:nvSpPr>
          <p:cNvPr id="4" name="text-439"/>
          <p:cNvSpPr txBox="1"/>
          <p:nvPr/>
        </p:nvSpPr>
        <p:spPr>
          <a:xfrm>
            <a:off x="548640" y="3291840"/>
            <a:ext cx="5486400" cy="914400"/>
          </a:xfrm>
          <a:prstGeom prst="rect">
            <a:avLst/>
          </a:prstGeom>
          <a:noFill/>
          <a:ln/>
        </p:spPr>
        <p:txBody>
          <a:bodyPr wrap="square" lIns="0" tIns="0" rIns="0" bIns="0" rtlCol="0" anchor="t"/>
          <a:lstStyle/>
          <a:p>
            <a:pPr marL="0" indent="0">
              <a:buNone/>
            </a:pPr>
            <a:r>
              <a:rPr lang="en-US" sz="1600" dirty="0">
                <a:solidFill>
                  <a:schemeClr val="accent5"/>
                </a:solidFill>
                <a:latin typeface="Calibri" pitchFamily="34" charset="0"/>
                <a:ea typeface="Calibri" pitchFamily="34" charset="-122"/>
                <a:cs typeface="Calibri" pitchFamily="34" charset="-120"/>
              </a:rPr>
              <a:t>Same data, same contract, no app in between. Tested end to end, live on the web, and honest about what comes next.</a:t>
            </a:r>
            <a:endParaRPr lang="en-US" sz="1600" dirty="0"/>
          </a:p>
        </p:txBody>
      </p:sp>
      <p:sp>
        <p:nvSpPr>
          <p:cNvPr id="5" name="text-440"/>
          <p:cNvSpPr txBox="1"/>
          <p:nvPr/>
        </p:nvSpPr>
        <p:spPr>
          <a:xfrm>
            <a:off x="548640" y="4480560"/>
            <a:ext cx="5486400" cy="548640"/>
          </a:xfrm>
          <a:prstGeom prst="rect">
            <a:avLst/>
          </a:prstGeom>
          <a:noFill/>
          <a:ln/>
        </p:spPr>
        <p:txBody>
          <a:bodyPr wrap="square" lIns="0" tIns="0" rIns="0" bIns="0" rtlCol="0" anchor="ctr"/>
          <a:lstStyle/>
          <a:p>
            <a:pPr marL="0" indent="0">
              <a:buNone/>
            </a:pPr>
            <a:r>
              <a:rPr lang="en-US" sz="2600" b="1" dirty="0">
                <a:solidFill>
                  <a:schemeClr val="bg1"/>
                </a:solidFill>
                <a:latin typeface="Arial" pitchFamily="34" charset="0"/>
                <a:ea typeface="Arial" pitchFamily="34" charset="-122"/>
                <a:cs typeface="Arial" pitchFamily="34" charset="-120"/>
              </a:rPr>
              <a:t>Thank you. Questions?</a:t>
            </a:r>
            <a:endParaRPr lang="en-US" sz="2600" dirty="0"/>
          </a:p>
        </p:txBody>
      </p:sp>
      <p:sp>
        <p:nvSpPr>
          <p:cNvPr id="6" name="card-441"/>
          <p:cNvSpPr/>
          <p:nvPr/>
        </p:nvSpPr>
        <p:spPr>
          <a:xfrm>
            <a:off x="7086600" y="914400"/>
            <a:ext cx="4553712" cy="5029200"/>
          </a:xfrm>
          <a:prstGeom prst="roundRect">
            <a:avLst>
              <a:gd name="adj" fmla="val 1606"/>
            </a:avLst>
          </a:prstGeom>
          <a:solidFill>
            <a:srgbClr val="162033"/>
          </a:solidFill>
          <a:ln w="12700">
            <a:solidFill>
              <a:srgbClr val="162033"/>
            </a:solidFill>
            <a:prstDash val="solid"/>
          </a:ln>
        </p:spPr>
      </p:sp>
      <p:sp>
        <p:nvSpPr>
          <p:cNvPr id="7" name="line-442"/>
          <p:cNvSpPr/>
          <p:nvPr/>
        </p:nvSpPr>
        <p:spPr>
          <a:xfrm>
            <a:off x="6949440" y="777240"/>
            <a:ext cx="365760" cy="0"/>
          </a:xfrm>
          <a:prstGeom prst="line">
            <a:avLst/>
          </a:prstGeom>
          <a:noFill/>
          <a:ln w="38100">
            <a:solidFill>
              <a:schemeClr val="accent1"/>
            </a:solidFill>
            <a:prstDash val="solid"/>
          </a:ln>
        </p:spPr>
      </p:sp>
      <p:sp>
        <p:nvSpPr>
          <p:cNvPr id="8" name="line-443"/>
          <p:cNvSpPr/>
          <p:nvPr/>
        </p:nvSpPr>
        <p:spPr>
          <a:xfrm>
            <a:off x="6949440" y="777240"/>
            <a:ext cx="0" cy="365760"/>
          </a:xfrm>
          <a:prstGeom prst="line">
            <a:avLst/>
          </a:prstGeom>
          <a:noFill/>
          <a:ln w="38100">
            <a:solidFill>
              <a:schemeClr val="accent1"/>
            </a:solidFill>
            <a:prstDash val="solid"/>
          </a:ln>
        </p:spPr>
      </p:sp>
      <p:sp>
        <p:nvSpPr>
          <p:cNvPr id="9" name="line-444"/>
          <p:cNvSpPr/>
          <p:nvPr/>
        </p:nvSpPr>
        <p:spPr>
          <a:xfrm>
            <a:off x="11411712" y="777240"/>
            <a:ext cx="365760" cy="0"/>
          </a:xfrm>
          <a:prstGeom prst="line">
            <a:avLst/>
          </a:prstGeom>
          <a:noFill/>
          <a:ln w="38100">
            <a:solidFill>
              <a:schemeClr val="accent1"/>
            </a:solidFill>
            <a:prstDash val="solid"/>
          </a:ln>
        </p:spPr>
      </p:sp>
      <p:sp>
        <p:nvSpPr>
          <p:cNvPr id="10" name="line-445"/>
          <p:cNvSpPr/>
          <p:nvPr/>
        </p:nvSpPr>
        <p:spPr>
          <a:xfrm>
            <a:off x="11777472" y="777240"/>
            <a:ext cx="0" cy="365760"/>
          </a:xfrm>
          <a:prstGeom prst="line">
            <a:avLst/>
          </a:prstGeom>
          <a:noFill/>
          <a:ln w="38100">
            <a:solidFill>
              <a:schemeClr val="accent1"/>
            </a:solidFill>
            <a:prstDash val="solid"/>
          </a:ln>
        </p:spPr>
      </p:sp>
      <p:sp>
        <p:nvSpPr>
          <p:cNvPr id="11" name="line-446"/>
          <p:cNvSpPr/>
          <p:nvPr/>
        </p:nvSpPr>
        <p:spPr>
          <a:xfrm>
            <a:off x="6949440" y="6080760"/>
            <a:ext cx="365760" cy="0"/>
          </a:xfrm>
          <a:prstGeom prst="line">
            <a:avLst/>
          </a:prstGeom>
          <a:noFill/>
          <a:ln w="38100">
            <a:solidFill>
              <a:schemeClr val="accent1"/>
            </a:solidFill>
            <a:prstDash val="solid"/>
          </a:ln>
        </p:spPr>
      </p:sp>
      <p:sp>
        <p:nvSpPr>
          <p:cNvPr id="12" name="line-447"/>
          <p:cNvSpPr/>
          <p:nvPr/>
        </p:nvSpPr>
        <p:spPr>
          <a:xfrm>
            <a:off x="6949440" y="5715000"/>
            <a:ext cx="0" cy="365760"/>
          </a:xfrm>
          <a:prstGeom prst="line">
            <a:avLst/>
          </a:prstGeom>
          <a:noFill/>
          <a:ln w="38100">
            <a:solidFill>
              <a:schemeClr val="accent1"/>
            </a:solidFill>
            <a:prstDash val="solid"/>
          </a:ln>
        </p:spPr>
      </p:sp>
      <p:sp>
        <p:nvSpPr>
          <p:cNvPr id="13" name="line-448"/>
          <p:cNvSpPr/>
          <p:nvPr/>
        </p:nvSpPr>
        <p:spPr>
          <a:xfrm>
            <a:off x="11411712" y="6080760"/>
            <a:ext cx="365760" cy="0"/>
          </a:xfrm>
          <a:prstGeom prst="line">
            <a:avLst/>
          </a:prstGeom>
          <a:noFill/>
          <a:ln w="38100">
            <a:solidFill>
              <a:schemeClr val="accent1"/>
            </a:solidFill>
            <a:prstDash val="solid"/>
          </a:ln>
        </p:spPr>
      </p:sp>
      <p:sp>
        <p:nvSpPr>
          <p:cNvPr id="14" name="line-449"/>
          <p:cNvSpPr/>
          <p:nvPr/>
        </p:nvSpPr>
        <p:spPr>
          <a:xfrm>
            <a:off x="11777472" y="5715000"/>
            <a:ext cx="0" cy="365760"/>
          </a:xfrm>
          <a:prstGeom prst="line">
            <a:avLst/>
          </a:prstGeom>
          <a:noFill/>
          <a:ln w="38100">
            <a:solidFill>
              <a:schemeClr val="accent1"/>
            </a:solidFill>
            <a:prstDash val="solid"/>
          </a:ln>
        </p:spPr>
      </p:sp>
      <p:sp>
        <p:nvSpPr>
          <p:cNvPr id="15" name="text-450"/>
          <p:cNvSpPr txBox="1"/>
          <p:nvPr/>
        </p:nvSpPr>
        <p:spPr>
          <a:xfrm>
            <a:off x="7452360" y="1234440"/>
            <a:ext cx="3840480" cy="274320"/>
          </a:xfrm>
          <a:prstGeom prst="rect">
            <a:avLst/>
          </a:prstGeom>
          <a:noFill/>
          <a:ln/>
        </p:spPr>
        <p:txBody>
          <a:bodyPr wrap="square" lIns="0" tIns="0" rIns="0" bIns="0" rtlCol="0" anchor="ctr"/>
          <a:lstStyle/>
          <a:p>
            <a:pPr marL="0" indent="0">
              <a:buNone/>
            </a:pPr>
            <a:r>
              <a:rPr lang="en-US" sz="1200" b="1" kern="0" spc="200" dirty="0">
                <a:solidFill>
                  <a:schemeClr val="accent2"/>
                </a:solidFill>
                <a:latin typeface="Calibri" pitchFamily="34" charset="0"/>
                <a:ea typeface="Calibri" pitchFamily="34" charset="-122"/>
                <a:cs typeface="Calibri" pitchFamily="34" charset="-120"/>
              </a:rPr>
              <a:t>TRY IT LIVE</a:t>
            </a:r>
            <a:endParaRPr lang="en-US" sz="1200" dirty="0"/>
          </a:p>
        </p:txBody>
      </p:sp>
      <p:pic>
        <p:nvPicPr>
          <p:cNvPr id="16" name="icon-451" descr="preencoded.png"/>
          <p:cNvPicPr>
            <a:picLocks noChangeAspect="1"/>
          </p:cNvPicPr>
          <p:nvPr/>
        </p:nvPicPr>
        <p:blipFill>
          <a:blip r:embed="rId3"/>
          <a:stretch>
            <a:fillRect/>
          </a:stretch>
        </p:blipFill>
        <p:spPr>
          <a:xfrm>
            <a:off x="7452360" y="1783080"/>
            <a:ext cx="365760" cy="365760"/>
          </a:xfrm>
          <a:prstGeom prst="rect">
            <a:avLst/>
          </a:prstGeom>
        </p:spPr>
      </p:pic>
      <p:sp>
        <p:nvSpPr>
          <p:cNvPr id="17" name="text-452"/>
          <p:cNvSpPr txBox="1"/>
          <p:nvPr/>
        </p:nvSpPr>
        <p:spPr>
          <a:xfrm>
            <a:off x="8001000" y="1737360"/>
            <a:ext cx="3474720" cy="274320"/>
          </a:xfrm>
          <a:prstGeom prst="rect">
            <a:avLst/>
          </a:prstGeom>
          <a:noFill/>
          <a:ln/>
        </p:spPr>
        <p:txBody>
          <a:bodyPr wrap="square" lIns="0" tIns="0" rIns="0" bIns="0" rtlCol="0" anchor="ctr"/>
          <a:lstStyle/>
          <a:p>
            <a:pPr marL="0" indent="0">
              <a:buNone/>
            </a:pPr>
            <a:r>
              <a:rPr lang="en-US" sz="1400" b="1" dirty="0">
                <a:solidFill>
                  <a:schemeClr val="bg1"/>
                </a:solidFill>
                <a:latin typeface="Calibri" pitchFamily="34" charset="0"/>
                <a:ea typeface="Calibri" pitchFamily="34" charset="-122"/>
                <a:cs typeface="Calibri" pitchFamily="34" charset="-120"/>
              </a:rPr>
              <a:t>AR scanner</a:t>
            </a:r>
            <a:endParaRPr lang="en-US" sz="1400" dirty="0"/>
          </a:p>
        </p:txBody>
      </p:sp>
      <p:sp>
        <p:nvSpPr>
          <p:cNvPr id="18" name="text-453"/>
          <p:cNvSpPr txBox="1"/>
          <p:nvPr/>
        </p:nvSpPr>
        <p:spPr>
          <a:xfrm>
            <a:off x="8001000" y="2039112"/>
            <a:ext cx="3520440" cy="457200"/>
          </a:xfrm>
          <a:prstGeom prst="rect">
            <a:avLst/>
          </a:prstGeom>
          <a:noFill/>
          <a:ln/>
        </p:spPr>
        <p:txBody>
          <a:bodyPr wrap="square" lIns="0" tIns="0" rIns="0" bIns="0" rtlCol="0" anchor="t"/>
          <a:lstStyle/>
          <a:p>
            <a:pPr marL="0" indent="0">
              <a:buNone/>
            </a:pPr>
            <a:r>
              <a:rPr lang="en-US" sz="1150" dirty="0">
                <a:solidFill>
                  <a:schemeClr val="accent5"/>
                </a:solidFill>
                <a:latin typeface="Courier New" pitchFamily="34" charset="0"/>
                <a:ea typeface="Courier New" pitchFamily="34" charset="-122"/>
                <a:cs typeface="Courier New" pitchFamily="34" charset="-120"/>
              </a:rPr>
              <a:t>arvrca3.netlify.app</a:t>
            </a:r>
            <a:endParaRPr lang="en-US" sz="1150" dirty="0"/>
          </a:p>
        </p:txBody>
      </p:sp>
      <p:pic>
        <p:nvPicPr>
          <p:cNvPr id="19" name="icon-454" descr="preencoded.png"/>
          <p:cNvPicPr>
            <a:picLocks noChangeAspect="1"/>
          </p:cNvPicPr>
          <p:nvPr/>
        </p:nvPicPr>
        <p:blipFill>
          <a:blip r:embed="rId4"/>
          <a:stretch>
            <a:fillRect/>
          </a:stretch>
        </p:blipFill>
        <p:spPr>
          <a:xfrm>
            <a:off x="7452360" y="2788920"/>
            <a:ext cx="365760" cy="365760"/>
          </a:xfrm>
          <a:prstGeom prst="rect">
            <a:avLst/>
          </a:prstGeom>
        </p:spPr>
      </p:pic>
      <p:sp>
        <p:nvSpPr>
          <p:cNvPr id="20" name="text-455"/>
          <p:cNvSpPr txBox="1"/>
          <p:nvPr/>
        </p:nvSpPr>
        <p:spPr>
          <a:xfrm>
            <a:off x="8001000" y="2743200"/>
            <a:ext cx="3474720" cy="274320"/>
          </a:xfrm>
          <a:prstGeom prst="rect">
            <a:avLst/>
          </a:prstGeom>
          <a:noFill/>
          <a:ln/>
        </p:spPr>
        <p:txBody>
          <a:bodyPr wrap="square" lIns="0" tIns="0" rIns="0" bIns="0" rtlCol="0" anchor="ctr"/>
          <a:lstStyle/>
          <a:p>
            <a:pPr marL="0" indent="0">
              <a:buNone/>
            </a:pPr>
            <a:r>
              <a:rPr lang="en-US" sz="1400" b="1" dirty="0">
                <a:solidFill>
                  <a:schemeClr val="bg1"/>
                </a:solidFill>
                <a:latin typeface="Calibri" pitchFamily="34" charset="0"/>
                <a:ea typeface="Calibri" pitchFamily="34" charset="-122"/>
                <a:cs typeface="Calibri" pitchFamily="34" charset="-120"/>
              </a:rPr>
              <a:t>Dashboard</a:t>
            </a:r>
            <a:endParaRPr lang="en-US" sz="1400" dirty="0"/>
          </a:p>
        </p:txBody>
      </p:sp>
      <p:sp>
        <p:nvSpPr>
          <p:cNvPr id="21" name="text-456"/>
          <p:cNvSpPr txBox="1"/>
          <p:nvPr/>
        </p:nvSpPr>
        <p:spPr>
          <a:xfrm>
            <a:off x="8001000" y="3044952"/>
            <a:ext cx="3520440" cy="457200"/>
          </a:xfrm>
          <a:prstGeom prst="rect">
            <a:avLst/>
          </a:prstGeom>
          <a:noFill/>
          <a:ln/>
        </p:spPr>
        <p:txBody>
          <a:bodyPr wrap="square" lIns="0" tIns="0" rIns="0" bIns="0" rtlCol="0" anchor="t"/>
          <a:lstStyle/>
          <a:p>
            <a:pPr marL="0" indent="0">
              <a:buNone/>
            </a:pPr>
            <a:r>
              <a:rPr lang="en-US" sz="1150" dirty="0">
                <a:solidFill>
                  <a:schemeClr val="accent5"/>
                </a:solidFill>
                <a:latin typeface="Courier New" pitchFamily="34" charset="0"/>
                <a:ea typeface="Courier New" pitchFamily="34" charset="-122"/>
                <a:cs typeface="Courier New" pitchFamily="34" charset="-120"/>
              </a:rPr>
              <a:t>arvrdashboard.netlify.app</a:t>
            </a:r>
            <a:endParaRPr lang="en-US" sz="1150" dirty="0"/>
          </a:p>
        </p:txBody>
      </p:sp>
      <p:pic>
        <p:nvPicPr>
          <p:cNvPr id="22" name="icon-457" descr="preencoded.png"/>
          <p:cNvPicPr>
            <a:picLocks noChangeAspect="1"/>
          </p:cNvPicPr>
          <p:nvPr/>
        </p:nvPicPr>
        <p:blipFill>
          <a:blip r:embed="rId5"/>
          <a:stretch>
            <a:fillRect/>
          </a:stretch>
        </p:blipFill>
        <p:spPr>
          <a:xfrm>
            <a:off x="7452360" y="3794760"/>
            <a:ext cx="365760" cy="365760"/>
          </a:xfrm>
          <a:prstGeom prst="rect">
            <a:avLst/>
          </a:prstGeom>
        </p:spPr>
      </p:pic>
      <p:sp>
        <p:nvSpPr>
          <p:cNvPr id="23" name="text-458"/>
          <p:cNvSpPr txBox="1"/>
          <p:nvPr/>
        </p:nvSpPr>
        <p:spPr>
          <a:xfrm>
            <a:off x="8001000" y="3749040"/>
            <a:ext cx="3474720" cy="274320"/>
          </a:xfrm>
          <a:prstGeom prst="rect">
            <a:avLst/>
          </a:prstGeom>
          <a:noFill/>
          <a:ln/>
        </p:spPr>
        <p:txBody>
          <a:bodyPr wrap="square" lIns="0" tIns="0" rIns="0" bIns="0" rtlCol="0" anchor="ctr"/>
          <a:lstStyle/>
          <a:p>
            <a:pPr marL="0" indent="0">
              <a:buNone/>
            </a:pPr>
            <a:r>
              <a:rPr lang="en-US" sz="1400" b="1" dirty="0">
                <a:solidFill>
                  <a:schemeClr val="bg1"/>
                </a:solidFill>
                <a:latin typeface="Calibri" pitchFamily="34" charset="0"/>
                <a:ea typeface="Calibri" pitchFamily="34" charset="-122"/>
                <a:cs typeface="Calibri" pitchFamily="34" charset="-120"/>
              </a:rPr>
              <a:t>No camera? Open</a:t>
            </a:r>
            <a:endParaRPr lang="en-US" sz="1400" dirty="0"/>
          </a:p>
        </p:txBody>
      </p:sp>
      <p:sp>
        <p:nvSpPr>
          <p:cNvPr id="24" name="text-459"/>
          <p:cNvSpPr txBox="1"/>
          <p:nvPr/>
        </p:nvSpPr>
        <p:spPr>
          <a:xfrm>
            <a:off x="8001000" y="4050792"/>
            <a:ext cx="3520440" cy="457200"/>
          </a:xfrm>
          <a:prstGeom prst="rect">
            <a:avLst/>
          </a:prstGeom>
          <a:noFill/>
          <a:ln/>
        </p:spPr>
        <p:txBody>
          <a:bodyPr wrap="square" lIns="0" tIns="0" rIns="0" bIns="0" rtlCol="0" anchor="t"/>
          <a:lstStyle/>
          <a:p>
            <a:pPr marL="0" indent="0">
              <a:buNone/>
            </a:pPr>
            <a:r>
              <a:rPr lang="en-US" sz="1150" dirty="0">
                <a:solidFill>
                  <a:schemeClr val="accent5"/>
                </a:solidFill>
                <a:latin typeface="Courier New" pitchFamily="34" charset="0"/>
                <a:ea typeface="Courier New" pitchFamily="34" charset="-122"/>
                <a:cs typeface="Courier New" pitchFamily="34" charset="-120"/>
              </a:rPr>
              <a:t>arvrca3.netlify.app/?marker=MARK-001</a:t>
            </a:r>
            <a:endParaRPr lang="en-US" sz="1150" dirty="0"/>
          </a:p>
        </p:txBody>
      </p:sp>
      <p:pic>
        <p:nvPicPr>
          <p:cNvPr id="25" name="icon-460" descr="preencoded.png"/>
          <p:cNvPicPr>
            <a:picLocks noChangeAspect="1"/>
          </p:cNvPicPr>
          <p:nvPr/>
        </p:nvPicPr>
        <p:blipFill>
          <a:blip r:embed="rId6"/>
          <a:stretch>
            <a:fillRect/>
          </a:stretch>
        </p:blipFill>
        <p:spPr>
          <a:xfrm>
            <a:off x="7452360" y="4800600"/>
            <a:ext cx="365760" cy="365760"/>
          </a:xfrm>
          <a:prstGeom prst="rect">
            <a:avLst/>
          </a:prstGeom>
        </p:spPr>
      </p:pic>
      <p:sp>
        <p:nvSpPr>
          <p:cNvPr id="26" name="text-461"/>
          <p:cNvSpPr txBox="1"/>
          <p:nvPr/>
        </p:nvSpPr>
        <p:spPr>
          <a:xfrm>
            <a:off x="8001000" y="4754880"/>
            <a:ext cx="3474720" cy="274320"/>
          </a:xfrm>
          <a:prstGeom prst="rect">
            <a:avLst/>
          </a:prstGeom>
          <a:noFill/>
          <a:ln/>
        </p:spPr>
        <p:txBody>
          <a:bodyPr wrap="square" lIns="0" tIns="0" rIns="0" bIns="0" rtlCol="0" anchor="ctr"/>
          <a:lstStyle/>
          <a:p>
            <a:pPr marL="0" indent="0">
              <a:buNone/>
            </a:pPr>
            <a:r>
              <a:rPr lang="en-US" sz="1400" b="1" dirty="0">
                <a:solidFill>
                  <a:schemeClr val="bg1"/>
                </a:solidFill>
                <a:latin typeface="Calibri" pitchFamily="34" charset="0"/>
                <a:ea typeface="Calibri" pitchFamily="34" charset="-122"/>
                <a:cs typeface="Calibri" pitchFamily="34" charset="-120"/>
              </a:rPr>
              <a:t>Source</a:t>
            </a:r>
            <a:endParaRPr lang="en-US" sz="1400" dirty="0"/>
          </a:p>
        </p:txBody>
      </p:sp>
      <p:sp>
        <p:nvSpPr>
          <p:cNvPr id="27" name="text-462"/>
          <p:cNvSpPr txBox="1"/>
          <p:nvPr/>
        </p:nvSpPr>
        <p:spPr>
          <a:xfrm>
            <a:off x="8001000" y="5056632"/>
            <a:ext cx="3520440" cy="457200"/>
          </a:xfrm>
          <a:prstGeom prst="rect">
            <a:avLst/>
          </a:prstGeom>
          <a:noFill/>
          <a:ln/>
        </p:spPr>
        <p:txBody>
          <a:bodyPr wrap="square" lIns="0" tIns="0" rIns="0" bIns="0" rtlCol="0" anchor="t"/>
          <a:lstStyle/>
          <a:p>
            <a:pPr marL="0" indent="0">
              <a:buNone/>
            </a:pPr>
            <a:r>
              <a:rPr lang="en-US" sz="1150" dirty="0">
                <a:solidFill>
                  <a:schemeClr val="accent5"/>
                </a:solidFill>
                <a:latin typeface="Courier New" pitchFamily="34" charset="0"/>
                <a:ea typeface="Courier New" pitchFamily="34" charset="-122"/>
                <a:cs typeface="Courier New" pitchFamily="34" charset="-120"/>
              </a:rPr>
              <a:t>github.com/adroitathena2/ARVR_CA3</a:t>
            </a:r>
            <a:endParaRPr lang="en-US" sz="1150" dirty="0"/>
          </a:p>
        </p:txBody>
      </p:sp>
    </p:spTree>
  </p:cSld>
  <p:clrMapOvr>
    <a:masterClrMapping/>
  </p:clrMapOvr>
</p:sld>
</file>

<file path=ppt/theme/theme1.xml><?xml version="1.0" encoding="utf-8"?>
<a:theme xmlns:a="http://schemas.openxmlformats.org/drawingml/2006/main" name="AR Passport">
  <a:themeElements>
    <a:clrScheme name="AR Passport">
      <a:dk1>
        <a:srgbClr val="0B1220"/>
      </a:dk1>
      <a:lt1>
        <a:srgbClr val="FFFFFF"/>
      </a:lt1>
      <a:dk2>
        <a:srgbClr val="334155"/>
      </a:dk2>
      <a:lt2>
        <a:srgbClr val="F1F5F9"/>
      </a:lt2>
      <a:accent1>
        <a:srgbClr val="0D9488"/>
      </a:accent1>
      <a:accent2>
        <a:srgbClr val="F59E0B"/>
      </a:accent2>
      <a:accent3>
        <a:srgbClr val="4F46E5"/>
      </a:accent3>
      <a:accent4>
        <a:srgbClr val="DC2626"/>
      </a:accent4>
      <a:accent5>
        <a:srgbClr val="94A3B8"/>
      </a:accent5>
      <a:accent6>
        <a:srgbClr val="16A34A"/>
      </a:accent6>
      <a:hlink>
        <a:srgbClr val="0D9488"/>
      </a:hlink>
      <a:folHlink>
        <a:srgbClr val="4F46E5"/>
      </a:folHlink>
    </a:clrScheme>
    <a:fontScheme name="AR Passpor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2947</Words>
  <Application>Microsoft Office PowerPoint</Application>
  <PresentationFormat>Widescreen</PresentationFormat>
  <Paragraphs>449</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Courier New</vt:lpstr>
      <vt:lpstr>AR Passport</vt:lpstr>
      <vt:lpstr>PowerPoint Presentation</vt:lpstr>
      <vt:lpstr>Lab equipment has no single, scannable record</vt:lpstr>
      <vt:lpstr>Every machine gets a passport you can scan</vt:lpstr>
      <vt:lpstr>Built, deployed and tested end to end</vt:lpstr>
      <vt:lpstr>Two clients, one API, one source of truth</vt:lpstr>
      <vt:lpstr>How the phone knows which machine it is looking at</vt:lpstr>
      <vt:lpstr>One journey touches every layer of the system</vt:lpstr>
      <vt:lpstr>The scanner runs in any phone browser, no install</vt:lpstr>
      <vt:lpstr>Staff triage every asset and issue from one screen</vt:lpstr>
      <vt:lpstr>A strict API contract with predictable errors</vt:lpstr>
      <vt:lpstr>Five normalised tables, with integrity enforced by Postgres</vt:lpstr>
      <vt:lpstr>Running the parts together exposed 7 bugs unit tests missed</vt:lpstr>
      <vt:lpstr>Every layer is tested, and the suite re-runs on production</vt:lpstr>
      <vt:lpstr>Free-tier cloud, HTTPS end to end, no secrets in git</vt:lpstr>
      <vt:lpstr>Clear about the gaps, clear on the roadmap</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 Digital Passport for Physical Assets</dc:title>
  <dc:subject>PptxGenJS Presentation</dc:subject>
  <dc:creator>Team ARVR CA3, SIT Pune</dc:creator>
  <cp:lastModifiedBy>Archisha Yadav</cp:lastModifiedBy>
  <cp:revision>2</cp:revision>
  <dcterms:created xsi:type="dcterms:W3CDTF">2026-10-14T09:56:58Z</dcterms:created>
  <dcterms:modified xsi:type="dcterms:W3CDTF">2026-10-14T10:08:56Z</dcterms:modified>
</cp:coreProperties>
</file>